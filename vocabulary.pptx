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elts.net/74ae36a292f0f66c697d6c27d541e904b96935be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5F5D">
                  <a:alpha val="95000"/>
                </a:srgbClr>
              </a:gs>
              <a:gs pos="50000">
                <a:srgbClr val="2C5F5D">
                  <a:alpha val="85000"/>
                </a:srgbClr>
              </a:gs>
              <a:gs pos="100000">
                <a:srgbClr val="8AA3A1">
                  <a:alpha val="7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1000" y="1366838"/>
            <a:ext cx="3000375" cy="381000"/>
          </a:xfrm>
          <a:custGeom>
            <a:avLst/>
            <a:gdLst/>
            <a:ahLst/>
            <a:cxnLst/>
            <a:rect l="l" t="t" r="r" b="b"/>
            <a:pathLst>
              <a:path w="3000375" h="381000">
                <a:moveTo>
                  <a:pt x="0" y="0"/>
                </a:moveTo>
                <a:lnTo>
                  <a:pt x="3000375" y="0"/>
                </a:lnTo>
                <a:lnTo>
                  <a:pt x="300037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4A87D"/>
          </a:solidFill>
        </p:spPr>
      </p:sp>
      <p:sp>
        <p:nvSpPr>
          <p:cNvPr id="5" name="Text 2"/>
          <p:cNvSpPr/>
          <p:nvPr/>
        </p:nvSpPr>
        <p:spPr>
          <a:xfrm>
            <a:off x="381000" y="1366838"/>
            <a:ext cx="3076575" cy="381000"/>
          </a:xfrm>
          <a:prstGeom prst="rect">
            <a:avLst/>
          </a:prstGeom>
          <a:noFill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7FAF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IELTS SPEAKING TEACHING PPT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05038"/>
            <a:ext cx="30861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雅思口语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教学计划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147820"/>
            <a:ext cx="3500755" cy="617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AFC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2026.1-4</a:t>
            </a:r>
            <a:r>
              <a:rPr lang="zh-CN" altLang="en-US" sz="1800" dirty="0">
                <a:solidFill>
                  <a:srgbClr val="F7FAFC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月题库</a:t>
            </a:r>
            <a:r>
              <a:rPr lang="en-US" altLang="zh-CN" sz="1800" dirty="0">
                <a:solidFill>
                  <a:srgbClr val="F7FAFC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-</a:t>
            </a:r>
            <a:r>
              <a:rPr lang="en-US" sz="1800" dirty="0">
                <a:solidFill>
                  <a:srgbClr val="F7FAFC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日常生活类话题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5763" y="4981575"/>
            <a:ext cx="1524000" cy="504825"/>
          </a:xfrm>
          <a:custGeom>
            <a:avLst/>
            <a:gdLst/>
            <a:ahLst/>
            <a:cxnLst/>
            <a:rect l="l" t="t" r="r" b="b"/>
            <a:pathLst>
              <a:path w="1524000" h="504825">
                <a:moveTo>
                  <a:pt x="0" y="0"/>
                </a:moveTo>
                <a:lnTo>
                  <a:pt x="1524000" y="0"/>
                </a:lnTo>
                <a:lnTo>
                  <a:pt x="1524000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F7FAFC">
              <a:alpha val="10196"/>
            </a:srgbClr>
          </a:solidFill>
          <a:ln w="12700">
            <a:solidFill>
              <a:srgbClr val="F7FAFC">
                <a:alpha val="30196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1000" y="4976813"/>
            <a:ext cx="1600200" cy="495300"/>
          </a:xfrm>
          <a:prstGeom prst="rect">
            <a:avLst/>
          </a:prstGeom>
          <a:noFill/>
        </p:spPr>
        <p:txBody>
          <a:bodyPr wrap="square" lIns="190500" tIns="114300" rIns="190500" bIns="11430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7FAF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Day off 休息日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073771" y="4981575"/>
            <a:ext cx="2181225" cy="504825"/>
          </a:xfrm>
          <a:custGeom>
            <a:avLst/>
            <a:gdLst/>
            <a:ahLst/>
            <a:cxnLst/>
            <a:rect l="l" t="t" r="r" b="b"/>
            <a:pathLst>
              <a:path w="2181225" h="504825">
                <a:moveTo>
                  <a:pt x="0" y="0"/>
                </a:moveTo>
                <a:lnTo>
                  <a:pt x="2181225" y="0"/>
                </a:lnTo>
                <a:lnTo>
                  <a:pt x="21812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F7FAFC">
              <a:alpha val="10196"/>
            </a:srgbClr>
          </a:solidFill>
          <a:ln w="12700">
            <a:solidFill>
              <a:srgbClr val="F7FAFC">
                <a:alpha val="3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69009" y="4976813"/>
            <a:ext cx="2257425" cy="495300"/>
          </a:xfrm>
          <a:prstGeom prst="rect">
            <a:avLst/>
          </a:prstGeom>
          <a:noFill/>
        </p:spPr>
        <p:txBody>
          <a:bodyPr wrap="square" lIns="190500" tIns="114300" rIns="190500" bIns="11430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7FAF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Morning time 早晨时光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12754" y="4981575"/>
            <a:ext cx="1409700" cy="504825"/>
          </a:xfrm>
          <a:custGeom>
            <a:avLst/>
            <a:gdLst/>
            <a:ahLst/>
            <a:cxnLst/>
            <a:rect l="l" t="t" r="r" b="b"/>
            <a:pathLst>
              <a:path w="1409700" h="504825">
                <a:moveTo>
                  <a:pt x="0" y="0"/>
                </a:moveTo>
                <a:lnTo>
                  <a:pt x="1409700" y="0"/>
                </a:lnTo>
                <a:lnTo>
                  <a:pt x="1409700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F7FAFC">
              <a:alpha val="10196"/>
            </a:srgbClr>
          </a:solidFill>
          <a:ln w="12700">
            <a:solidFill>
              <a:srgbClr val="F7FAFC">
                <a:alpha val="30196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07991" y="4976813"/>
            <a:ext cx="1485900" cy="495300"/>
          </a:xfrm>
          <a:prstGeom prst="rect">
            <a:avLst/>
          </a:prstGeom>
          <a:noFill/>
        </p:spPr>
        <p:txBody>
          <a:bodyPr wrap="square" lIns="190500" tIns="114300" rIns="190500" bIns="11430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7FAF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Walking 散步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82891" y="4981575"/>
            <a:ext cx="1914525" cy="504825"/>
          </a:xfrm>
          <a:custGeom>
            <a:avLst/>
            <a:gdLst/>
            <a:ahLst/>
            <a:cxnLst/>
            <a:rect l="l" t="t" r="r" b="b"/>
            <a:pathLst>
              <a:path w="1914525" h="504825">
                <a:moveTo>
                  <a:pt x="0" y="0"/>
                </a:moveTo>
                <a:lnTo>
                  <a:pt x="1914525" y="0"/>
                </a:lnTo>
                <a:lnTo>
                  <a:pt x="19145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F7FAFC">
              <a:alpha val="10196"/>
            </a:srgbClr>
          </a:solidFill>
          <a:ln w="12700">
            <a:solidFill>
              <a:srgbClr val="F7FAFC">
                <a:alpha val="30196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78128" y="4976813"/>
            <a:ext cx="1990725" cy="495300"/>
          </a:xfrm>
          <a:prstGeom prst="rect">
            <a:avLst/>
          </a:prstGeom>
          <a:noFill/>
        </p:spPr>
        <p:txBody>
          <a:bodyPr wrap="square" lIns="190500" tIns="114300" rIns="190500" bIns="11430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7FAF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Sports team 运动队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275" y="374275"/>
            <a:ext cx="11508949" cy="1871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kern="0" spc="103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4275" y="636267"/>
            <a:ext cx="11668015" cy="449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3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2988" y="1384817"/>
            <a:ext cx="5595408" cy="2011727"/>
          </a:xfrm>
          <a:custGeom>
            <a:avLst/>
            <a:gdLst/>
            <a:ahLst/>
            <a:cxnLst/>
            <a:rect l="l" t="t" r="r" b="b"/>
            <a:pathLst>
              <a:path w="5595408" h="2011727">
                <a:moveTo>
                  <a:pt x="37427" y="0"/>
                </a:moveTo>
                <a:lnTo>
                  <a:pt x="5520551" y="0"/>
                </a:lnTo>
                <a:cubicBezTo>
                  <a:pt x="5561893" y="0"/>
                  <a:pt x="5595408" y="33514"/>
                  <a:pt x="5595408" y="74856"/>
                </a:cubicBezTo>
                <a:lnTo>
                  <a:pt x="5595408" y="1936870"/>
                </a:lnTo>
                <a:cubicBezTo>
                  <a:pt x="5595408" y="1978212"/>
                  <a:pt x="5561893" y="2011727"/>
                  <a:pt x="5520551" y="2011727"/>
                </a:cubicBezTo>
                <a:lnTo>
                  <a:pt x="37427" y="2011727"/>
                </a:lnTo>
                <a:cubicBezTo>
                  <a:pt x="16757" y="2011727"/>
                  <a:pt x="0" y="1994970"/>
                  <a:pt x="0" y="1974299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071" dist="935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2988" y="1384817"/>
            <a:ext cx="37427" cy="2011727"/>
          </a:xfrm>
          <a:custGeom>
            <a:avLst/>
            <a:gdLst/>
            <a:ahLst/>
            <a:cxnLst/>
            <a:rect l="l" t="t" r="r" b="b"/>
            <a:pathLst>
              <a:path w="37427" h="2011727">
                <a:moveTo>
                  <a:pt x="37427" y="0"/>
                </a:moveTo>
                <a:lnTo>
                  <a:pt x="37427" y="0"/>
                </a:lnTo>
                <a:lnTo>
                  <a:pt x="37427" y="2011727"/>
                </a:lnTo>
                <a:lnTo>
                  <a:pt x="37427" y="2011727"/>
                </a:lnTo>
                <a:cubicBezTo>
                  <a:pt x="16757" y="2011727"/>
                  <a:pt x="0" y="1994970"/>
                  <a:pt x="0" y="1974299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6" name="Shape 4"/>
          <p:cNvSpPr/>
          <p:nvPr/>
        </p:nvSpPr>
        <p:spPr>
          <a:xfrm>
            <a:off x="711122" y="1684236"/>
            <a:ext cx="598840" cy="598840"/>
          </a:xfrm>
          <a:custGeom>
            <a:avLst/>
            <a:gdLst/>
            <a:ahLst/>
            <a:cxnLst/>
            <a:rect l="l" t="t" r="r" b="b"/>
            <a:pathLst>
              <a:path w="598840" h="598840">
                <a:moveTo>
                  <a:pt x="299420" y="0"/>
                </a:moveTo>
                <a:lnTo>
                  <a:pt x="299420" y="0"/>
                </a:lnTo>
                <a:cubicBezTo>
                  <a:pt x="464674" y="0"/>
                  <a:pt x="598840" y="134166"/>
                  <a:pt x="598840" y="299420"/>
                </a:cubicBezTo>
                <a:lnTo>
                  <a:pt x="598840" y="299420"/>
                </a:lnTo>
                <a:cubicBezTo>
                  <a:pt x="598840" y="464674"/>
                  <a:pt x="464674" y="598840"/>
                  <a:pt x="299420" y="598840"/>
                </a:cubicBezTo>
                <a:lnTo>
                  <a:pt x="299420" y="598840"/>
                </a:lnTo>
                <a:cubicBezTo>
                  <a:pt x="134166" y="598840"/>
                  <a:pt x="0" y="464674"/>
                  <a:pt x="0" y="299420"/>
                </a:cubicBezTo>
                <a:lnTo>
                  <a:pt x="0" y="299420"/>
                </a:lnTo>
                <a:cubicBezTo>
                  <a:pt x="0" y="134166"/>
                  <a:pt x="134166" y="0"/>
                  <a:pt x="299420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7" name="Text 5"/>
          <p:cNvSpPr/>
          <p:nvPr/>
        </p:nvSpPr>
        <p:spPr>
          <a:xfrm>
            <a:off x="640946" y="1684236"/>
            <a:ext cx="739193" cy="59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1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7099" y="1684236"/>
            <a:ext cx="4332230" cy="3368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Day off 休息日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97099" y="2133366"/>
            <a:ext cx="4276089" cy="552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4个高频小题：休息时间、日常活动、社交选择、理想计划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97099" y="2830453"/>
            <a:ext cx="748550" cy="261992"/>
          </a:xfrm>
          <a:custGeom>
            <a:avLst/>
            <a:gdLst/>
            <a:ahLst/>
            <a:cxnLst/>
            <a:rect l="l" t="t" r="r" b="b"/>
            <a:pathLst>
              <a:path w="748550" h="261992">
                <a:moveTo>
                  <a:pt x="130996" y="0"/>
                </a:moveTo>
                <a:lnTo>
                  <a:pt x="617553" y="0"/>
                </a:lnTo>
                <a:cubicBezTo>
                  <a:pt x="689852" y="0"/>
                  <a:pt x="748550" y="58697"/>
                  <a:pt x="748550" y="130996"/>
                </a:cubicBezTo>
                <a:lnTo>
                  <a:pt x="748550" y="130996"/>
                </a:lnTo>
                <a:cubicBezTo>
                  <a:pt x="748550" y="203295"/>
                  <a:pt x="689852" y="261992"/>
                  <a:pt x="617553" y="261992"/>
                </a:cubicBezTo>
                <a:lnTo>
                  <a:pt x="130996" y="261992"/>
                </a:lnTo>
                <a:cubicBezTo>
                  <a:pt x="58697" y="261992"/>
                  <a:pt x="0" y="203295"/>
                  <a:pt x="0" y="130996"/>
                </a:cubicBezTo>
                <a:lnTo>
                  <a:pt x="0" y="130996"/>
                </a:lnTo>
                <a:cubicBezTo>
                  <a:pt x="0" y="58697"/>
                  <a:pt x="58697" y="0"/>
                  <a:pt x="130996" y="0"/>
                </a:cubicBezTo>
                <a:close/>
              </a:path>
            </a:pathLst>
          </a:custGeom>
          <a:solidFill>
            <a:srgbClr val="2C5F5D">
              <a:alpha val="10196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1497099" y="2830453"/>
            <a:ext cx="814048" cy="261992"/>
          </a:xfrm>
          <a:prstGeom prst="rect">
            <a:avLst/>
          </a:prstGeom>
          <a:noFill/>
        </p:spPr>
        <p:txBody>
          <a:bodyPr wrap="square" lIns="112282" tIns="37427" rIns="112282" bIns="37427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过去时态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320503" y="2830453"/>
            <a:ext cx="748550" cy="261992"/>
          </a:xfrm>
          <a:custGeom>
            <a:avLst/>
            <a:gdLst/>
            <a:ahLst/>
            <a:cxnLst/>
            <a:rect l="l" t="t" r="r" b="b"/>
            <a:pathLst>
              <a:path w="748550" h="261992">
                <a:moveTo>
                  <a:pt x="130996" y="0"/>
                </a:moveTo>
                <a:lnTo>
                  <a:pt x="617553" y="0"/>
                </a:lnTo>
                <a:cubicBezTo>
                  <a:pt x="689852" y="0"/>
                  <a:pt x="748550" y="58697"/>
                  <a:pt x="748550" y="130996"/>
                </a:cubicBezTo>
                <a:lnTo>
                  <a:pt x="748550" y="130996"/>
                </a:lnTo>
                <a:cubicBezTo>
                  <a:pt x="748550" y="203295"/>
                  <a:pt x="689852" y="261992"/>
                  <a:pt x="617553" y="261992"/>
                </a:cubicBezTo>
                <a:lnTo>
                  <a:pt x="130996" y="261992"/>
                </a:lnTo>
                <a:cubicBezTo>
                  <a:pt x="58697" y="261992"/>
                  <a:pt x="0" y="203295"/>
                  <a:pt x="0" y="130996"/>
                </a:cubicBezTo>
                <a:lnTo>
                  <a:pt x="0" y="130996"/>
                </a:lnTo>
                <a:cubicBezTo>
                  <a:pt x="0" y="58697"/>
                  <a:pt x="58697" y="0"/>
                  <a:pt x="130996" y="0"/>
                </a:cubicBezTo>
                <a:close/>
              </a:path>
            </a:pathLst>
          </a:custGeom>
          <a:solidFill>
            <a:srgbClr val="2C5F5D">
              <a:alpha val="1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2320503" y="2830453"/>
            <a:ext cx="814048" cy="261992"/>
          </a:xfrm>
          <a:prstGeom prst="rect">
            <a:avLst/>
          </a:prstGeom>
          <a:noFill/>
        </p:spPr>
        <p:txBody>
          <a:bodyPr wrap="square" lIns="112282" tIns="37427" rIns="112282" bIns="37427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虚拟语气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43908" y="2830453"/>
            <a:ext cx="748550" cy="261992"/>
          </a:xfrm>
          <a:custGeom>
            <a:avLst/>
            <a:gdLst/>
            <a:ahLst/>
            <a:cxnLst/>
            <a:rect l="l" t="t" r="r" b="b"/>
            <a:pathLst>
              <a:path w="748550" h="261992">
                <a:moveTo>
                  <a:pt x="130996" y="0"/>
                </a:moveTo>
                <a:lnTo>
                  <a:pt x="617553" y="0"/>
                </a:lnTo>
                <a:cubicBezTo>
                  <a:pt x="689852" y="0"/>
                  <a:pt x="748550" y="58697"/>
                  <a:pt x="748550" y="130996"/>
                </a:cubicBezTo>
                <a:lnTo>
                  <a:pt x="748550" y="130996"/>
                </a:lnTo>
                <a:cubicBezTo>
                  <a:pt x="748550" y="203295"/>
                  <a:pt x="689852" y="261992"/>
                  <a:pt x="617553" y="261992"/>
                </a:cubicBezTo>
                <a:lnTo>
                  <a:pt x="130996" y="261992"/>
                </a:lnTo>
                <a:cubicBezTo>
                  <a:pt x="58697" y="261992"/>
                  <a:pt x="0" y="203295"/>
                  <a:pt x="0" y="130996"/>
                </a:cubicBezTo>
                <a:lnTo>
                  <a:pt x="0" y="130996"/>
                </a:lnTo>
                <a:cubicBezTo>
                  <a:pt x="0" y="58697"/>
                  <a:pt x="58697" y="0"/>
                  <a:pt x="130996" y="0"/>
                </a:cubicBezTo>
                <a:close/>
              </a:path>
            </a:pathLst>
          </a:custGeom>
          <a:solidFill>
            <a:srgbClr val="2C5F5D">
              <a:alpha val="10196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3143908" y="2830453"/>
            <a:ext cx="814048" cy="261992"/>
          </a:xfrm>
          <a:prstGeom prst="rect">
            <a:avLst/>
          </a:prstGeom>
          <a:noFill/>
        </p:spPr>
        <p:txBody>
          <a:bodyPr wrap="square" lIns="112282" tIns="37427" rIns="112282" bIns="37427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灵活表达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27435" y="1384817"/>
            <a:ext cx="5595408" cy="2011727"/>
          </a:xfrm>
          <a:custGeom>
            <a:avLst/>
            <a:gdLst/>
            <a:ahLst/>
            <a:cxnLst/>
            <a:rect l="l" t="t" r="r" b="b"/>
            <a:pathLst>
              <a:path w="5595408" h="2011727">
                <a:moveTo>
                  <a:pt x="37427" y="0"/>
                </a:moveTo>
                <a:lnTo>
                  <a:pt x="5520551" y="0"/>
                </a:lnTo>
                <a:cubicBezTo>
                  <a:pt x="5561893" y="0"/>
                  <a:pt x="5595408" y="33514"/>
                  <a:pt x="5595408" y="74856"/>
                </a:cubicBezTo>
                <a:lnTo>
                  <a:pt x="5595408" y="1936870"/>
                </a:lnTo>
                <a:cubicBezTo>
                  <a:pt x="5595408" y="1978212"/>
                  <a:pt x="5561893" y="2011727"/>
                  <a:pt x="5520551" y="2011727"/>
                </a:cubicBezTo>
                <a:lnTo>
                  <a:pt x="37427" y="2011727"/>
                </a:lnTo>
                <a:cubicBezTo>
                  <a:pt x="16757" y="2011727"/>
                  <a:pt x="0" y="1994970"/>
                  <a:pt x="0" y="1974299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071" dist="935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27435" y="1384817"/>
            <a:ext cx="37427" cy="2011727"/>
          </a:xfrm>
          <a:custGeom>
            <a:avLst/>
            <a:gdLst/>
            <a:ahLst/>
            <a:cxnLst/>
            <a:rect l="l" t="t" r="r" b="b"/>
            <a:pathLst>
              <a:path w="37427" h="2011727">
                <a:moveTo>
                  <a:pt x="37427" y="0"/>
                </a:moveTo>
                <a:lnTo>
                  <a:pt x="37427" y="0"/>
                </a:lnTo>
                <a:lnTo>
                  <a:pt x="37427" y="2011727"/>
                </a:lnTo>
                <a:lnTo>
                  <a:pt x="37427" y="2011727"/>
                </a:lnTo>
                <a:cubicBezTo>
                  <a:pt x="16757" y="2011727"/>
                  <a:pt x="0" y="1994970"/>
                  <a:pt x="0" y="1974299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18" name="Shape 16"/>
          <p:cNvSpPr/>
          <p:nvPr/>
        </p:nvSpPr>
        <p:spPr>
          <a:xfrm>
            <a:off x="6545568" y="1684236"/>
            <a:ext cx="598840" cy="598840"/>
          </a:xfrm>
          <a:custGeom>
            <a:avLst/>
            <a:gdLst/>
            <a:ahLst/>
            <a:cxnLst/>
            <a:rect l="l" t="t" r="r" b="b"/>
            <a:pathLst>
              <a:path w="598840" h="598840">
                <a:moveTo>
                  <a:pt x="299420" y="0"/>
                </a:moveTo>
                <a:lnTo>
                  <a:pt x="299420" y="0"/>
                </a:lnTo>
                <a:cubicBezTo>
                  <a:pt x="464674" y="0"/>
                  <a:pt x="598840" y="134166"/>
                  <a:pt x="598840" y="299420"/>
                </a:cubicBezTo>
                <a:lnTo>
                  <a:pt x="598840" y="299420"/>
                </a:lnTo>
                <a:cubicBezTo>
                  <a:pt x="598840" y="464674"/>
                  <a:pt x="464674" y="598840"/>
                  <a:pt x="299420" y="598840"/>
                </a:cubicBezTo>
                <a:lnTo>
                  <a:pt x="299420" y="598840"/>
                </a:lnTo>
                <a:cubicBezTo>
                  <a:pt x="134166" y="598840"/>
                  <a:pt x="0" y="464674"/>
                  <a:pt x="0" y="299420"/>
                </a:cubicBezTo>
                <a:lnTo>
                  <a:pt x="0" y="299420"/>
                </a:lnTo>
                <a:cubicBezTo>
                  <a:pt x="0" y="134166"/>
                  <a:pt x="134166" y="0"/>
                  <a:pt x="299420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19" name="Text 17"/>
          <p:cNvSpPr/>
          <p:nvPr/>
        </p:nvSpPr>
        <p:spPr>
          <a:xfrm>
            <a:off x="6475392" y="1684236"/>
            <a:ext cx="739193" cy="59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1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31545" y="1684236"/>
            <a:ext cx="4332230" cy="3368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Morning time 早晨时光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31545" y="2133366"/>
            <a:ext cx="4276089" cy="552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5个高频小题：早起偏好、日常流程、童年回忆、今昔对比、周末差异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31545" y="2830453"/>
            <a:ext cx="748550" cy="261992"/>
          </a:xfrm>
          <a:custGeom>
            <a:avLst/>
            <a:gdLst/>
            <a:ahLst/>
            <a:cxnLst/>
            <a:rect l="l" t="t" r="r" b="b"/>
            <a:pathLst>
              <a:path w="748550" h="261992">
                <a:moveTo>
                  <a:pt x="130996" y="0"/>
                </a:moveTo>
                <a:lnTo>
                  <a:pt x="617553" y="0"/>
                </a:lnTo>
                <a:cubicBezTo>
                  <a:pt x="689852" y="0"/>
                  <a:pt x="748550" y="58697"/>
                  <a:pt x="748550" y="130996"/>
                </a:cubicBezTo>
                <a:lnTo>
                  <a:pt x="748550" y="130996"/>
                </a:lnTo>
                <a:cubicBezTo>
                  <a:pt x="748550" y="203295"/>
                  <a:pt x="689852" y="261992"/>
                  <a:pt x="617553" y="261992"/>
                </a:cubicBezTo>
                <a:lnTo>
                  <a:pt x="130996" y="261992"/>
                </a:lnTo>
                <a:cubicBezTo>
                  <a:pt x="58697" y="261992"/>
                  <a:pt x="0" y="203295"/>
                  <a:pt x="0" y="130996"/>
                </a:cubicBezTo>
                <a:lnTo>
                  <a:pt x="0" y="130996"/>
                </a:lnTo>
                <a:cubicBezTo>
                  <a:pt x="0" y="58697"/>
                  <a:pt x="58697" y="0"/>
                  <a:pt x="130996" y="0"/>
                </a:cubicBezTo>
                <a:close/>
              </a:path>
            </a:pathLst>
          </a:custGeom>
          <a:solidFill>
            <a:srgbClr val="8AA3A1">
              <a:alpha val="10196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7331545" y="2830453"/>
            <a:ext cx="814048" cy="261992"/>
          </a:xfrm>
          <a:prstGeom prst="rect">
            <a:avLst/>
          </a:prstGeom>
          <a:noFill/>
        </p:spPr>
        <p:txBody>
          <a:bodyPr wrap="square" lIns="112282" tIns="37427" rIns="112282" bIns="37427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对比结构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54950" y="2830453"/>
            <a:ext cx="748550" cy="261992"/>
          </a:xfrm>
          <a:custGeom>
            <a:avLst/>
            <a:gdLst/>
            <a:ahLst/>
            <a:cxnLst/>
            <a:rect l="l" t="t" r="r" b="b"/>
            <a:pathLst>
              <a:path w="748550" h="261992">
                <a:moveTo>
                  <a:pt x="130996" y="0"/>
                </a:moveTo>
                <a:lnTo>
                  <a:pt x="617553" y="0"/>
                </a:lnTo>
                <a:cubicBezTo>
                  <a:pt x="689852" y="0"/>
                  <a:pt x="748550" y="58697"/>
                  <a:pt x="748550" y="130996"/>
                </a:cubicBezTo>
                <a:lnTo>
                  <a:pt x="748550" y="130996"/>
                </a:lnTo>
                <a:cubicBezTo>
                  <a:pt x="748550" y="203295"/>
                  <a:pt x="689852" y="261992"/>
                  <a:pt x="617553" y="261992"/>
                </a:cubicBezTo>
                <a:lnTo>
                  <a:pt x="130996" y="261992"/>
                </a:lnTo>
                <a:cubicBezTo>
                  <a:pt x="58697" y="261992"/>
                  <a:pt x="0" y="203295"/>
                  <a:pt x="0" y="130996"/>
                </a:cubicBezTo>
                <a:lnTo>
                  <a:pt x="0" y="130996"/>
                </a:lnTo>
                <a:cubicBezTo>
                  <a:pt x="0" y="58697"/>
                  <a:pt x="58697" y="0"/>
                  <a:pt x="130996" y="0"/>
                </a:cubicBezTo>
                <a:close/>
              </a:path>
            </a:pathLst>
          </a:custGeom>
          <a:solidFill>
            <a:srgbClr val="8AA3A1">
              <a:alpha val="1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8154950" y="2830453"/>
            <a:ext cx="814048" cy="261992"/>
          </a:xfrm>
          <a:prstGeom prst="rect">
            <a:avLst/>
          </a:prstGeom>
          <a:noFill/>
        </p:spPr>
        <p:txBody>
          <a:bodyPr wrap="square" lIns="112282" tIns="37427" rIns="112282" bIns="37427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具体流程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978354" y="2830453"/>
            <a:ext cx="748550" cy="261992"/>
          </a:xfrm>
          <a:custGeom>
            <a:avLst/>
            <a:gdLst/>
            <a:ahLst/>
            <a:cxnLst/>
            <a:rect l="l" t="t" r="r" b="b"/>
            <a:pathLst>
              <a:path w="748550" h="261992">
                <a:moveTo>
                  <a:pt x="130996" y="0"/>
                </a:moveTo>
                <a:lnTo>
                  <a:pt x="617553" y="0"/>
                </a:lnTo>
                <a:cubicBezTo>
                  <a:pt x="689852" y="0"/>
                  <a:pt x="748550" y="58697"/>
                  <a:pt x="748550" y="130996"/>
                </a:cubicBezTo>
                <a:lnTo>
                  <a:pt x="748550" y="130996"/>
                </a:lnTo>
                <a:cubicBezTo>
                  <a:pt x="748550" y="203295"/>
                  <a:pt x="689852" y="261992"/>
                  <a:pt x="617553" y="261992"/>
                </a:cubicBezTo>
                <a:lnTo>
                  <a:pt x="130996" y="261992"/>
                </a:lnTo>
                <a:cubicBezTo>
                  <a:pt x="58697" y="261992"/>
                  <a:pt x="0" y="203295"/>
                  <a:pt x="0" y="130996"/>
                </a:cubicBezTo>
                <a:lnTo>
                  <a:pt x="0" y="130996"/>
                </a:lnTo>
                <a:cubicBezTo>
                  <a:pt x="0" y="58697"/>
                  <a:pt x="58697" y="0"/>
                  <a:pt x="130996" y="0"/>
                </a:cubicBezTo>
                <a:close/>
              </a:path>
            </a:pathLst>
          </a:custGeom>
          <a:solidFill>
            <a:srgbClr val="8AA3A1">
              <a:alpha val="10196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8978354" y="2830453"/>
            <a:ext cx="814048" cy="261992"/>
          </a:xfrm>
          <a:prstGeom prst="rect">
            <a:avLst/>
          </a:prstGeom>
          <a:noFill/>
        </p:spPr>
        <p:txBody>
          <a:bodyPr wrap="square" lIns="112282" tIns="37427" rIns="112282" bIns="37427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时态转换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2988" y="3616430"/>
            <a:ext cx="5595408" cy="2011727"/>
          </a:xfrm>
          <a:custGeom>
            <a:avLst/>
            <a:gdLst/>
            <a:ahLst/>
            <a:cxnLst/>
            <a:rect l="l" t="t" r="r" b="b"/>
            <a:pathLst>
              <a:path w="5595408" h="2011727">
                <a:moveTo>
                  <a:pt x="37427" y="0"/>
                </a:moveTo>
                <a:lnTo>
                  <a:pt x="5520551" y="0"/>
                </a:lnTo>
                <a:cubicBezTo>
                  <a:pt x="5561893" y="0"/>
                  <a:pt x="5595408" y="33514"/>
                  <a:pt x="5595408" y="74856"/>
                </a:cubicBezTo>
                <a:lnTo>
                  <a:pt x="5595408" y="1936870"/>
                </a:lnTo>
                <a:cubicBezTo>
                  <a:pt x="5595408" y="1978212"/>
                  <a:pt x="5561893" y="2011727"/>
                  <a:pt x="5520551" y="2011727"/>
                </a:cubicBezTo>
                <a:lnTo>
                  <a:pt x="37427" y="2011727"/>
                </a:lnTo>
                <a:cubicBezTo>
                  <a:pt x="16757" y="2011727"/>
                  <a:pt x="0" y="1994970"/>
                  <a:pt x="0" y="1974299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071" dist="935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92988" y="3616430"/>
            <a:ext cx="37427" cy="2011727"/>
          </a:xfrm>
          <a:custGeom>
            <a:avLst/>
            <a:gdLst/>
            <a:ahLst/>
            <a:cxnLst/>
            <a:rect l="l" t="t" r="r" b="b"/>
            <a:pathLst>
              <a:path w="37427" h="2011727">
                <a:moveTo>
                  <a:pt x="37427" y="0"/>
                </a:moveTo>
                <a:lnTo>
                  <a:pt x="37427" y="0"/>
                </a:lnTo>
                <a:lnTo>
                  <a:pt x="37427" y="2011727"/>
                </a:lnTo>
                <a:lnTo>
                  <a:pt x="37427" y="2011727"/>
                </a:lnTo>
                <a:cubicBezTo>
                  <a:pt x="16757" y="2011727"/>
                  <a:pt x="0" y="1994970"/>
                  <a:pt x="0" y="1974299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30" name="Shape 28"/>
          <p:cNvSpPr/>
          <p:nvPr/>
        </p:nvSpPr>
        <p:spPr>
          <a:xfrm>
            <a:off x="711122" y="3915850"/>
            <a:ext cx="598840" cy="598840"/>
          </a:xfrm>
          <a:custGeom>
            <a:avLst/>
            <a:gdLst/>
            <a:ahLst/>
            <a:cxnLst/>
            <a:rect l="l" t="t" r="r" b="b"/>
            <a:pathLst>
              <a:path w="598840" h="598840">
                <a:moveTo>
                  <a:pt x="299420" y="0"/>
                </a:moveTo>
                <a:lnTo>
                  <a:pt x="299420" y="0"/>
                </a:lnTo>
                <a:cubicBezTo>
                  <a:pt x="464674" y="0"/>
                  <a:pt x="598840" y="134166"/>
                  <a:pt x="598840" y="299420"/>
                </a:cubicBezTo>
                <a:lnTo>
                  <a:pt x="598840" y="299420"/>
                </a:lnTo>
                <a:cubicBezTo>
                  <a:pt x="598840" y="464674"/>
                  <a:pt x="464674" y="598840"/>
                  <a:pt x="299420" y="598840"/>
                </a:cubicBezTo>
                <a:lnTo>
                  <a:pt x="299420" y="598840"/>
                </a:lnTo>
                <a:cubicBezTo>
                  <a:pt x="134166" y="598840"/>
                  <a:pt x="0" y="464674"/>
                  <a:pt x="0" y="299420"/>
                </a:cubicBezTo>
                <a:lnTo>
                  <a:pt x="0" y="299420"/>
                </a:lnTo>
                <a:cubicBezTo>
                  <a:pt x="0" y="134166"/>
                  <a:pt x="134166" y="0"/>
                  <a:pt x="29942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31" name="Text 29"/>
          <p:cNvSpPr/>
          <p:nvPr/>
        </p:nvSpPr>
        <p:spPr>
          <a:xfrm>
            <a:off x="640946" y="3915850"/>
            <a:ext cx="739193" cy="59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1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97099" y="3915850"/>
            <a:ext cx="4332230" cy="3368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Walking 散步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97099" y="4364979"/>
            <a:ext cx="4276089" cy="552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5个高频小题：步行习惯、童年回忆、公园偏好、理想地点、近期经历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497099" y="5062066"/>
            <a:ext cx="748550" cy="261992"/>
          </a:xfrm>
          <a:custGeom>
            <a:avLst/>
            <a:gdLst/>
            <a:ahLst/>
            <a:cxnLst/>
            <a:rect l="l" t="t" r="r" b="b"/>
            <a:pathLst>
              <a:path w="748550" h="261992">
                <a:moveTo>
                  <a:pt x="130996" y="0"/>
                </a:moveTo>
                <a:lnTo>
                  <a:pt x="617553" y="0"/>
                </a:lnTo>
                <a:cubicBezTo>
                  <a:pt x="689852" y="0"/>
                  <a:pt x="748550" y="58697"/>
                  <a:pt x="748550" y="130996"/>
                </a:cubicBezTo>
                <a:lnTo>
                  <a:pt x="748550" y="130996"/>
                </a:lnTo>
                <a:cubicBezTo>
                  <a:pt x="748550" y="203295"/>
                  <a:pt x="689852" y="261992"/>
                  <a:pt x="617553" y="261992"/>
                </a:cubicBezTo>
                <a:lnTo>
                  <a:pt x="130996" y="261992"/>
                </a:lnTo>
                <a:cubicBezTo>
                  <a:pt x="58697" y="261992"/>
                  <a:pt x="0" y="203295"/>
                  <a:pt x="0" y="130996"/>
                </a:cubicBezTo>
                <a:lnTo>
                  <a:pt x="0" y="130996"/>
                </a:lnTo>
                <a:cubicBezTo>
                  <a:pt x="0" y="58697"/>
                  <a:pt x="58697" y="0"/>
                  <a:pt x="130996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1497099" y="5062066"/>
            <a:ext cx="814048" cy="261992"/>
          </a:xfrm>
          <a:prstGeom prst="rect">
            <a:avLst/>
          </a:prstGeom>
          <a:noFill/>
        </p:spPr>
        <p:txBody>
          <a:bodyPr wrap="square" lIns="112282" tIns="37427" rIns="112282" bIns="37427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量化描述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320503" y="5062066"/>
            <a:ext cx="748550" cy="261992"/>
          </a:xfrm>
          <a:custGeom>
            <a:avLst/>
            <a:gdLst/>
            <a:ahLst/>
            <a:cxnLst/>
            <a:rect l="l" t="t" r="r" b="b"/>
            <a:pathLst>
              <a:path w="748550" h="261992">
                <a:moveTo>
                  <a:pt x="130996" y="0"/>
                </a:moveTo>
                <a:lnTo>
                  <a:pt x="617553" y="0"/>
                </a:lnTo>
                <a:cubicBezTo>
                  <a:pt x="689852" y="0"/>
                  <a:pt x="748550" y="58697"/>
                  <a:pt x="748550" y="130996"/>
                </a:cubicBezTo>
                <a:lnTo>
                  <a:pt x="748550" y="130996"/>
                </a:lnTo>
                <a:cubicBezTo>
                  <a:pt x="748550" y="203295"/>
                  <a:pt x="689852" y="261992"/>
                  <a:pt x="617553" y="261992"/>
                </a:cubicBezTo>
                <a:lnTo>
                  <a:pt x="130996" y="261992"/>
                </a:lnTo>
                <a:cubicBezTo>
                  <a:pt x="58697" y="261992"/>
                  <a:pt x="0" y="203295"/>
                  <a:pt x="0" y="130996"/>
                </a:cubicBezTo>
                <a:lnTo>
                  <a:pt x="0" y="130996"/>
                </a:lnTo>
                <a:cubicBezTo>
                  <a:pt x="0" y="58697"/>
                  <a:pt x="58697" y="0"/>
                  <a:pt x="130996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2320503" y="5062066"/>
            <a:ext cx="814048" cy="261992"/>
          </a:xfrm>
          <a:prstGeom prst="rect">
            <a:avLst/>
          </a:prstGeom>
          <a:noFill/>
        </p:spPr>
        <p:txBody>
          <a:bodyPr wrap="square" lIns="112282" tIns="37427" rIns="112282" bIns="37427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感官分析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143908" y="5062066"/>
            <a:ext cx="748550" cy="261992"/>
          </a:xfrm>
          <a:custGeom>
            <a:avLst/>
            <a:gdLst/>
            <a:ahLst/>
            <a:cxnLst/>
            <a:rect l="l" t="t" r="r" b="b"/>
            <a:pathLst>
              <a:path w="748550" h="261992">
                <a:moveTo>
                  <a:pt x="130996" y="0"/>
                </a:moveTo>
                <a:lnTo>
                  <a:pt x="617553" y="0"/>
                </a:lnTo>
                <a:cubicBezTo>
                  <a:pt x="689852" y="0"/>
                  <a:pt x="748550" y="58697"/>
                  <a:pt x="748550" y="130996"/>
                </a:cubicBezTo>
                <a:lnTo>
                  <a:pt x="748550" y="130996"/>
                </a:lnTo>
                <a:cubicBezTo>
                  <a:pt x="748550" y="203295"/>
                  <a:pt x="689852" y="261992"/>
                  <a:pt x="617553" y="261992"/>
                </a:cubicBezTo>
                <a:lnTo>
                  <a:pt x="130996" y="261992"/>
                </a:lnTo>
                <a:cubicBezTo>
                  <a:pt x="58697" y="261992"/>
                  <a:pt x="0" y="203295"/>
                  <a:pt x="0" y="130996"/>
                </a:cubicBezTo>
                <a:lnTo>
                  <a:pt x="0" y="130996"/>
                </a:lnTo>
                <a:cubicBezTo>
                  <a:pt x="0" y="58697"/>
                  <a:pt x="58697" y="0"/>
                  <a:pt x="130996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3143908" y="5062066"/>
            <a:ext cx="814048" cy="261992"/>
          </a:xfrm>
          <a:prstGeom prst="rect">
            <a:avLst/>
          </a:prstGeom>
          <a:noFill/>
        </p:spPr>
        <p:txBody>
          <a:bodyPr wrap="square" lIns="112282" tIns="37427" rIns="112282" bIns="37427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画面构建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27435" y="3616430"/>
            <a:ext cx="5595408" cy="2011727"/>
          </a:xfrm>
          <a:custGeom>
            <a:avLst/>
            <a:gdLst/>
            <a:ahLst/>
            <a:cxnLst/>
            <a:rect l="l" t="t" r="r" b="b"/>
            <a:pathLst>
              <a:path w="5595408" h="2011727">
                <a:moveTo>
                  <a:pt x="37427" y="0"/>
                </a:moveTo>
                <a:lnTo>
                  <a:pt x="5520551" y="0"/>
                </a:lnTo>
                <a:cubicBezTo>
                  <a:pt x="5561893" y="0"/>
                  <a:pt x="5595408" y="33514"/>
                  <a:pt x="5595408" y="74856"/>
                </a:cubicBezTo>
                <a:lnTo>
                  <a:pt x="5595408" y="1936870"/>
                </a:lnTo>
                <a:cubicBezTo>
                  <a:pt x="5595408" y="1978212"/>
                  <a:pt x="5561893" y="2011727"/>
                  <a:pt x="5520551" y="2011727"/>
                </a:cubicBezTo>
                <a:lnTo>
                  <a:pt x="37427" y="2011727"/>
                </a:lnTo>
                <a:cubicBezTo>
                  <a:pt x="16757" y="2011727"/>
                  <a:pt x="0" y="1994970"/>
                  <a:pt x="0" y="1974299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071" dist="935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27435" y="3616430"/>
            <a:ext cx="37427" cy="2011727"/>
          </a:xfrm>
          <a:custGeom>
            <a:avLst/>
            <a:gdLst/>
            <a:ahLst/>
            <a:cxnLst/>
            <a:rect l="l" t="t" r="r" b="b"/>
            <a:pathLst>
              <a:path w="37427" h="2011727">
                <a:moveTo>
                  <a:pt x="37427" y="0"/>
                </a:moveTo>
                <a:lnTo>
                  <a:pt x="37427" y="0"/>
                </a:lnTo>
                <a:lnTo>
                  <a:pt x="37427" y="2011727"/>
                </a:lnTo>
                <a:lnTo>
                  <a:pt x="37427" y="2011727"/>
                </a:lnTo>
                <a:cubicBezTo>
                  <a:pt x="16757" y="2011727"/>
                  <a:pt x="0" y="1994970"/>
                  <a:pt x="0" y="1974299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42" name="Shape 40"/>
          <p:cNvSpPr/>
          <p:nvPr/>
        </p:nvSpPr>
        <p:spPr>
          <a:xfrm>
            <a:off x="6545568" y="3915850"/>
            <a:ext cx="598840" cy="598840"/>
          </a:xfrm>
          <a:custGeom>
            <a:avLst/>
            <a:gdLst/>
            <a:ahLst/>
            <a:cxnLst/>
            <a:rect l="l" t="t" r="r" b="b"/>
            <a:pathLst>
              <a:path w="598840" h="598840">
                <a:moveTo>
                  <a:pt x="299420" y="0"/>
                </a:moveTo>
                <a:lnTo>
                  <a:pt x="299420" y="0"/>
                </a:lnTo>
                <a:cubicBezTo>
                  <a:pt x="464674" y="0"/>
                  <a:pt x="598840" y="134166"/>
                  <a:pt x="598840" y="299420"/>
                </a:cubicBezTo>
                <a:lnTo>
                  <a:pt x="598840" y="299420"/>
                </a:lnTo>
                <a:cubicBezTo>
                  <a:pt x="598840" y="464674"/>
                  <a:pt x="464674" y="598840"/>
                  <a:pt x="299420" y="598840"/>
                </a:cubicBezTo>
                <a:lnTo>
                  <a:pt x="299420" y="598840"/>
                </a:lnTo>
                <a:cubicBezTo>
                  <a:pt x="134166" y="598840"/>
                  <a:pt x="0" y="464674"/>
                  <a:pt x="0" y="299420"/>
                </a:cubicBezTo>
                <a:lnTo>
                  <a:pt x="0" y="299420"/>
                </a:lnTo>
                <a:cubicBezTo>
                  <a:pt x="0" y="134166"/>
                  <a:pt x="134166" y="0"/>
                  <a:pt x="299420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43" name="Text 41"/>
          <p:cNvSpPr/>
          <p:nvPr/>
        </p:nvSpPr>
        <p:spPr>
          <a:xfrm>
            <a:off x="6475392" y="3915850"/>
            <a:ext cx="739193" cy="59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1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331545" y="3915850"/>
            <a:ext cx="4332230" cy="3368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Sports team 运动队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331545" y="4364979"/>
            <a:ext cx="4276089" cy="2713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1个核心小题：团队运动经历（有/无经历双版本教学）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331545" y="4788378"/>
            <a:ext cx="617553" cy="261992"/>
          </a:xfrm>
          <a:custGeom>
            <a:avLst/>
            <a:gdLst/>
            <a:ahLst/>
            <a:cxnLst/>
            <a:rect l="l" t="t" r="r" b="b"/>
            <a:pathLst>
              <a:path w="617553" h="261992">
                <a:moveTo>
                  <a:pt x="130996" y="0"/>
                </a:moveTo>
                <a:lnTo>
                  <a:pt x="486557" y="0"/>
                </a:lnTo>
                <a:cubicBezTo>
                  <a:pt x="558856" y="0"/>
                  <a:pt x="617553" y="58697"/>
                  <a:pt x="617553" y="130996"/>
                </a:cubicBezTo>
                <a:lnTo>
                  <a:pt x="617553" y="130996"/>
                </a:lnTo>
                <a:cubicBezTo>
                  <a:pt x="617553" y="203295"/>
                  <a:pt x="558856" y="261992"/>
                  <a:pt x="486557" y="261992"/>
                </a:cubicBezTo>
                <a:lnTo>
                  <a:pt x="130996" y="261992"/>
                </a:lnTo>
                <a:cubicBezTo>
                  <a:pt x="58697" y="261992"/>
                  <a:pt x="0" y="203295"/>
                  <a:pt x="0" y="130996"/>
                </a:cubicBezTo>
                <a:lnTo>
                  <a:pt x="0" y="130996"/>
                </a:lnTo>
                <a:cubicBezTo>
                  <a:pt x="0" y="58697"/>
                  <a:pt x="58697" y="0"/>
                  <a:pt x="130996" y="0"/>
                </a:cubicBezTo>
                <a:close/>
              </a:path>
            </a:pathLst>
          </a:custGeom>
          <a:solidFill>
            <a:srgbClr val="2C5F5D">
              <a:alpha val="10196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7331545" y="4788378"/>
            <a:ext cx="683051" cy="261992"/>
          </a:xfrm>
          <a:prstGeom prst="rect">
            <a:avLst/>
          </a:prstGeom>
          <a:noFill/>
        </p:spPr>
        <p:txBody>
          <a:bodyPr wrap="square" lIns="112282" tIns="37427" rIns="112282" bIns="37427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软技能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023954" y="4788378"/>
            <a:ext cx="748550" cy="261992"/>
          </a:xfrm>
          <a:custGeom>
            <a:avLst/>
            <a:gdLst/>
            <a:ahLst/>
            <a:cxnLst/>
            <a:rect l="l" t="t" r="r" b="b"/>
            <a:pathLst>
              <a:path w="748550" h="261992">
                <a:moveTo>
                  <a:pt x="130996" y="0"/>
                </a:moveTo>
                <a:lnTo>
                  <a:pt x="617553" y="0"/>
                </a:lnTo>
                <a:cubicBezTo>
                  <a:pt x="689852" y="0"/>
                  <a:pt x="748550" y="58697"/>
                  <a:pt x="748550" y="130996"/>
                </a:cubicBezTo>
                <a:lnTo>
                  <a:pt x="748550" y="130996"/>
                </a:lnTo>
                <a:cubicBezTo>
                  <a:pt x="748550" y="203295"/>
                  <a:pt x="689852" y="261992"/>
                  <a:pt x="617553" y="261992"/>
                </a:cubicBezTo>
                <a:lnTo>
                  <a:pt x="130996" y="261992"/>
                </a:lnTo>
                <a:cubicBezTo>
                  <a:pt x="58697" y="261992"/>
                  <a:pt x="0" y="203295"/>
                  <a:pt x="0" y="130996"/>
                </a:cubicBezTo>
                <a:lnTo>
                  <a:pt x="0" y="130996"/>
                </a:lnTo>
                <a:cubicBezTo>
                  <a:pt x="0" y="58697"/>
                  <a:pt x="58697" y="0"/>
                  <a:pt x="130996" y="0"/>
                </a:cubicBezTo>
                <a:close/>
              </a:path>
            </a:pathLst>
          </a:custGeom>
          <a:solidFill>
            <a:srgbClr val="2C5F5D">
              <a:alpha val="10196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8023954" y="4788378"/>
            <a:ext cx="814048" cy="261992"/>
          </a:xfrm>
          <a:prstGeom prst="rect">
            <a:avLst/>
          </a:prstGeom>
          <a:noFill/>
        </p:spPr>
        <p:txBody>
          <a:bodyPr wrap="square" lIns="112282" tIns="37427" rIns="112282" bIns="37427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应对策略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847358" y="4788378"/>
            <a:ext cx="748550" cy="261992"/>
          </a:xfrm>
          <a:custGeom>
            <a:avLst/>
            <a:gdLst/>
            <a:ahLst/>
            <a:cxnLst/>
            <a:rect l="l" t="t" r="r" b="b"/>
            <a:pathLst>
              <a:path w="748550" h="261992">
                <a:moveTo>
                  <a:pt x="130996" y="0"/>
                </a:moveTo>
                <a:lnTo>
                  <a:pt x="617553" y="0"/>
                </a:lnTo>
                <a:cubicBezTo>
                  <a:pt x="689852" y="0"/>
                  <a:pt x="748550" y="58697"/>
                  <a:pt x="748550" y="130996"/>
                </a:cubicBezTo>
                <a:lnTo>
                  <a:pt x="748550" y="130996"/>
                </a:lnTo>
                <a:cubicBezTo>
                  <a:pt x="748550" y="203295"/>
                  <a:pt x="689852" y="261992"/>
                  <a:pt x="617553" y="261992"/>
                </a:cubicBezTo>
                <a:lnTo>
                  <a:pt x="130996" y="261992"/>
                </a:lnTo>
                <a:cubicBezTo>
                  <a:pt x="58697" y="261992"/>
                  <a:pt x="0" y="203295"/>
                  <a:pt x="0" y="130996"/>
                </a:cubicBezTo>
                <a:lnTo>
                  <a:pt x="0" y="130996"/>
                </a:lnTo>
                <a:cubicBezTo>
                  <a:pt x="0" y="58697"/>
                  <a:pt x="58697" y="0"/>
                  <a:pt x="130996" y="0"/>
                </a:cubicBezTo>
                <a:close/>
              </a:path>
            </a:pathLst>
          </a:custGeom>
          <a:solidFill>
            <a:srgbClr val="2C5F5D">
              <a:alpha val="10196"/>
            </a:srgbClr>
          </a:solidFill>
        </p:spPr>
      </p:sp>
      <p:sp>
        <p:nvSpPr>
          <p:cNvPr id="51" name="Text 49"/>
          <p:cNvSpPr/>
          <p:nvPr/>
        </p:nvSpPr>
        <p:spPr>
          <a:xfrm>
            <a:off x="8847358" y="4788378"/>
            <a:ext cx="814048" cy="261992"/>
          </a:xfrm>
          <a:prstGeom prst="rect">
            <a:avLst/>
          </a:prstGeom>
          <a:noFill/>
        </p:spPr>
        <p:txBody>
          <a:bodyPr wrap="square" lIns="112282" tIns="37427" rIns="112282" bIns="37427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深度思考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74275" y="5848043"/>
            <a:ext cx="11443450" cy="636267"/>
          </a:xfrm>
          <a:custGeom>
            <a:avLst/>
            <a:gdLst/>
            <a:ahLst/>
            <a:cxnLst/>
            <a:rect l="l" t="t" r="r" b="b"/>
            <a:pathLst>
              <a:path w="11443450" h="636267">
                <a:moveTo>
                  <a:pt x="74857" y="0"/>
                </a:moveTo>
                <a:lnTo>
                  <a:pt x="11368594" y="0"/>
                </a:lnTo>
                <a:cubicBezTo>
                  <a:pt x="11409936" y="0"/>
                  <a:pt x="11443450" y="33515"/>
                  <a:pt x="11443450" y="74857"/>
                </a:cubicBezTo>
                <a:lnTo>
                  <a:pt x="11443450" y="561410"/>
                </a:lnTo>
                <a:cubicBezTo>
                  <a:pt x="11443450" y="602753"/>
                  <a:pt x="11409936" y="636267"/>
                  <a:pt x="11368594" y="636267"/>
                </a:cubicBezTo>
                <a:lnTo>
                  <a:pt x="74857" y="636267"/>
                </a:lnTo>
                <a:cubicBezTo>
                  <a:pt x="33515" y="636267"/>
                  <a:pt x="0" y="602753"/>
                  <a:pt x="0" y="561410"/>
                </a:cubicBezTo>
                <a:lnTo>
                  <a:pt x="0" y="74857"/>
                </a:lnTo>
                <a:cubicBezTo>
                  <a:pt x="0" y="33542"/>
                  <a:pt x="33542" y="0"/>
                  <a:pt x="74857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53" name="Shape 51"/>
          <p:cNvSpPr/>
          <p:nvPr/>
        </p:nvSpPr>
        <p:spPr>
          <a:xfrm>
            <a:off x="617553" y="6053894"/>
            <a:ext cx="168424" cy="224565"/>
          </a:xfrm>
          <a:custGeom>
            <a:avLst/>
            <a:gdLst/>
            <a:ahLst/>
            <a:cxnLst/>
            <a:rect l="l" t="t" r="r" b="b"/>
            <a:pathLst>
              <a:path w="168424" h="224565">
                <a:moveTo>
                  <a:pt x="128467" y="168424"/>
                </a:moveTo>
                <a:cubicBezTo>
                  <a:pt x="131669" y="158643"/>
                  <a:pt x="138072" y="149783"/>
                  <a:pt x="145309" y="142151"/>
                </a:cubicBezTo>
                <a:cubicBezTo>
                  <a:pt x="159652" y="127063"/>
                  <a:pt x="168424" y="106668"/>
                  <a:pt x="168424" y="84212"/>
                </a:cubicBezTo>
                <a:cubicBezTo>
                  <a:pt x="168424" y="37720"/>
                  <a:pt x="130704" y="0"/>
                  <a:pt x="84212" y="0"/>
                </a:cubicBezTo>
                <a:cubicBezTo>
                  <a:pt x="37720" y="0"/>
                  <a:pt x="0" y="37720"/>
                  <a:pt x="0" y="84212"/>
                </a:cubicBezTo>
                <a:cubicBezTo>
                  <a:pt x="0" y="106668"/>
                  <a:pt x="8772" y="127063"/>
                  <a:pt x="23114" y="142151"/>
                </a:cubicBezTo>
                <a:cubicBezTo>
                  <a:pt x="30351" y="149783"/>
                  <a:pt x="36799" y="158643"/>
                  <a:pt x="39957" y="168424"/>
                </a:cubicBezTo>
                <a:lnTo>
                  <a:pt x="128423" y="168424"/>
                </a:lnTo>
                <a:close/>
                <a:moveTo>
                  <a:pt x="126318" y="189477"/>
                </a:moveTo>
                <a:lnTo>
                  <a:pt x="42106" y="189477"/>
                </a:lnTo>
                <a:lnTo>
                  <a:pt x="42106" y="196494"/>
                </a:lnTo>
                <a:cubicBezTo>
                  <a:pt x="42106" y="215881"/>
                  <a:pt x="57808" y="231583"/>
                  <a:pt x="77194" y="231583"/>
                </a:cubicBezTo>
                <a:lnTo>
                  <a:pt x="91229" y="231583"/>
                </a:lnTo>
                <a:cubicBezTo>
                  <a:pt x="110616" y="231583"/>
                  <a:pt x="126318" y="215881"/>
                  <a:pt x="126318" y="196494"/>
                </a:cubicBezTo>
                <a:lnTo>
                  <a:pt x="126318" y="189477"/>
                </a:lnTo>
                <a:close/>
                <a:moveTo>
                  <a:pt x="80703" y="49124"/>
                </a:moveTo>
                <a:cubicBezTo>
                  <a:pt x="63247" y="49124"/>
                  <a:pt x="49124" y="63247"/>
                  <a:pt x="49124" y="80703"/>
                </a:cubicBezTo>
                <a:cubicBezTo>
                  <a:pt x="49124" y="86536"/>
                  <a:pt x="44431" y="91229"/>
                  <a:pt x="38597" y="91229"/>
                </a:cubicBezTo>
                <a:cubicBezTo>
                  <a:pt x="32764" y="91229"/>
                  <a:pt x="28071" y="86536"/>
                  <a:pt x="28071" y="80703"/>
                </a:cubicBezTo>
                <a:cubicBezTo>
                  <a:pt x="28071" y="51624"/>
                  <a:pt x="51624" y="28071"/>
                  <a:pt x="80703" y="28071"/>
                </a:cubicBezTo>
                <a:cubicBezTo>
                  <a:pt x="86536" y="28071"/>
                  <a:pt x="91229" y="32764"/>
                  <a:pt x="91229" y="38597"/>
                </a:cubicBezTo>
                <a:cubicBezTo>
                  <a:pt x="91229" y="44431"/>
                  <a:pt x="86536" y="49124"/>
                  <a:pt x="80703" y="49124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54" name="Text 52"/>
          <p:cNvSpPr/>
          <p:nvPr/>
        </p:nvSpPr>
        <p:spPr>
          <a:xfrm>
            <a:off x="991828" y="6035180"/>
            <a:ext cx="4463226" cy="261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5" b="1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教学重点：</a:t>
            </a:r>
            <a:r>
              <a:rPr lang="en-US" sz="1325" dirty="0">
                <a:solidFill>
                  <a:srgbClr val="F7FAF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从简单回答到丰富表达，从机械背诵到自然交流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TOPIC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Day off 休息日 | 核心词汇与短语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049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A87D"/>
          </a:solidFill>
        </p:spPr>
      </p:sp>
      <p:sp>
        <p:nvSpPr>
          <p:cNvPr id="5" name="Shape 3"/>
          <p:cNvSpPr/>
          <p:nvPr/>
        </p:nvSpPr>
        <p:spPr>
          <a:xfrm>
            <a:off x="381000" y="1314450"/>
            <a:ext cx="5619750" cy="2419350"/>
          </a:xfrm>
          <a:custGeom>
            <a:avLst/>
            <a:gdLst/>
            <a:ahLst/>
            <a:cxnLst/>
            <a:rect l="l" t="t" r="r" b="b"/>
            <a:pathLst>
              <a:path w="5619750" h="24193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2343140"/>
                </a:lnTo>
                <a:cubicBezTo>
                  <a:pt x="5619750" y="2385230"/>
                  <a:pt x="5585630" y="2419350"/>
                  <a:pt x="5543540" y="2419350"/>
                </a:cubicBezTo>
                <a:lnTo>
                  <a:pt x="76210" y="2419350"/>
                </a:lnTo>
                <a:cubicBezTo>
                  <a:pt x="34120" y="2419350"/>
                  <a:pt x="0" y="2385230"/>
                  <a:pt x="0" y="234314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3144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7" name="Shape 5"/>
          <p:cNvSpPr/>
          <p:nvPr/>
        </p:nvSpPr>
        <p:spPr>
          <a:xfrm>
            <a:off x="533400" y="1485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8" name="Shape 6"/>
          <p:cNvSpPr/>
          <p:nvPr/>
        </p:nvSpPr>
        <p:spPr>
          <a:xfrm>
            <a:off x="651272" y="15906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28588" y="171450"/>
                </a:moveTo>
                <a:lnTo>
                  <a:pt x="32147" y="171450"/>
                </a:lnTo>
                <a:cubicBezTo>
                  <a:pt x="14399" y="171450"/>
                  <a:pt x="0" y="157051"/>
                  <a:pt x="0" y="139303"/>
                </a:cubicBezTo>
                <a:lnTo>
                  <a:pt x="0" y="32147"/>
                </a:lnTo>
                <a:cubicBezTo>
                  <a:pt x="0" y="14399"/>
                  <a:pt x="14399" y="0"/>
                  <a:pt x="32147" y="0"/>
                </a:cubicBezTo>
                <a:lnTo>
                  <a:pt x="133945" y="0"/>
                </a:lnTo>
                <a:cubicBezTo>
                  <a:pt x="142819" y="0"/>
                  <a:pt x="150019" y="7200"/>
                  <a:pt x="150019" y="16073"/>
                </a:cubicBezTo>
                <a:lnTo>
                  <a:pt x="150019" y="112514"/>
                </a:lnTo>
                <a:cubicBezTo>
                  <a:pt x="150019" y="119513"/>
                  <a:pt x="145532" y="125473"/>
                  <a:pt x="139303" y="127683"/>
                </a:cubicBezTo>
                <a:lnTo>
                  <a:pt x="139303" y="150019"/>
                </a:lnTo>
                <a:cubicBezTo>
                  <a:pt x="145230" y="150019"/>
                  <a:pt x="150019" y="154807"/>
                  <a:pt x="150019" y="160734"/>
                </a:cubicBezTo>
                <a:cubicBezTo>
                  <a:pt x="150019" y="166661"/>
                  <a:pt x="145230" y="171450"/>
                  <a:pt x="139303" y="171450"/>
                </a:cubicBezTo>
                <a:lnTo>
                  <a:pt x="128588" y="171450"/>
                </a:lnTo>
                <a:close/>
                <a:moveTo>
                  <a:pt x="32147" y="128588"/>
                </a:moveTo>
                <a:cubicBezTo>
                  <a:pt x="26220" y="128588"/>
                  <a:pt x="21431" y="133376"/>
                  <a:pt x="21431" y="139303"/>
                </a:cubicBezTo>
                <a:cubicBezTo>
                  <a:pt x="21431" y="145230"/>
                  <a:pt x="26220" y="150019"/>
                  <a:pt x="32147" y="150019"/>
                </a:cubicBezTo>
                <a:lnTo>
                  <a:pt x="117872" y="150019"/>
                </a:lnTo>
                <a:lnTo>
                  <a:pt x="117872" y="128588"/>
                </a:lnTo>
                <a:lnTo>
                  <a:pt x="32147" y="128588"/>
                </a:lnTo>
                <a:close/>
                <a:moveTo>
                  <a:pt x="42863" y="50899"/>
                </a:moveTo>
                <a:cubicBezTo>
                  <a:pt x="42863" y="55353"/>
                  <a:pt x="46446" y="58936"/>
                  <a:pt x="50899" y="58936"/>
                </a:cubicBezTo>
                <a:lnTo>
                  <a:pt x="109835" y="58936"/>
                </a:lnTo>
                <a:cubicBezTo>
                  <a:pt x="114289" y="58936"/>
                  <a:pt x="117872" y="55353"/>
                  <a:pt x="117872" y="50899"/>
                </a:cubicBezTo>
                <a:cubicBezTo>
                  <a:pt x="117872" y="46446"/>
                  <a:pt x="114289" y="42863"/>
                  <a:pt x="109835" y="42863"/>
                </a:cubicBezTo>
                <a:lnTo>
                  <a:pt x="50899" y="42863"/>
                </a:lnTo>
                <a:cubicBezTo>
                  <a:pt x="46446" y="42863"/>
                  <a:pt x="42863" y="46446"/>
                  <a:pt x="42863" y="50899"/>
                </a:cubicBezTo>
                <a:close/>
                <a:moveTo>
                  <a:pt x="50899" y="75009"/>
                </a:moveTo>
                <a:cubicBezTo>
                  <a:pt x="46446" y="75009"/>
                  <a:pt x="42863" y="78592"/>
                  <a:pt x="42863" y="83046"/>
                </a:cubicBezTo>
                <a:cubicBezTo>
                  <a:pt x="42863" y="87500"/>
                  <a:pt x="46446" y="91083"/>
                  <a:pt x="50899" y="91083"/>
                </a:cubicBezTo>
                <a:lnTo>
                  <a:pt x="109835" y="91083"/>
                </a:lnTo>
                <a:cubicBezTo>
                  <a:pt x="114289" y="91083"/>
                  <a:pt x="117872" y="87500"/>
                  <a:pt x="117872" y="83046"/>
                </a:cubicBezTo>
                <a:cubicBezTo>
                  <a:pt x="117872" y="78592"/>
                  <a:pt x="114289" y="75009"/>
                  <a:pt x="109835" y="75009"/>
                </a:cubicBezTo>
                <a:lnTo>
                  <a:pt x="50899" y="75009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1028700" y="154305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核心词汇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1981200"/>
            <a:ext cx="2600325" cy="952500"/>
          </a:xfrm>
          <a:custGeom>
            <a:avLst/>
            <a:gdLst/>
            <a:ahLst/>
            <a:cxnLst/>
            <a:rect l="l" t="t" r="r" b="b"/>
            <a:pathLst>
              <a:path w="2600325" h="952500">
                <a:moveTo>
                  <a:pt x="76200" y="0"/>
                </a:moveTo>
                <a:lnTo>
                  <a:pt x="2524125" y="0"/>
                </a:lnTo>
                <a:cubicBezTo>
                  <a:pt x="2566181" y="0"/>
                  <a:pt x="2600325" y="34144"/>
                  <a:pt x="2600325" y="76200"/>
                </a:cubicBezTo>
                <a:lnTo>
                  <a:pt x="2600325" y="876300"/>
                </a:lnTo>
                <a:cubicBezTo>
                  <a:pt x="2600325" y="918356"/>
                  <a:pt x="2566181" y="952500"/>
                  <a:pt x="252412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647700" y="2095500"/>
            <a:ext cx="714375" cy="266700"/>
          </a:xfrm>
          <a:custGeom>
            <a:avLst/>
            <a:gdLst/>
            <a:ahLst/>
            <a:cxnLst/>
            <a:rect l="l" t="t" r="r" b="b"/>
            <a:pathLst>
              <a:path w="714375" h="266700">
                <a:moveTo>
                  <a:pt x="38101" y="0"/>
                </a:moveTo>
                <a:lnTo>
                  <a:pt x="676274" y="0"/>
                </a:lnTo>
                <a:cubicBezTo>
                  <a:pt x="697317" y="0"/>
                  <a:pt x="714375" y="17058"/>
                  <a:pt x="714375" y="38101"/>
                </a:cubicBezTo>
                <a:lnTo>
                  <a:pt x="714375" y="228599"/>
                </a:lnTo>
                <a:cubicBezTo>
                  <a:pt x="714375" y="249628"/>
                  <a:pt x="697303" y="266700"/>
                  <a:pt x="6762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12" name="Text 10"/>
          <p:cNvSpPr/>
          <p:nvPr/>
        </p:nvSpPr>
        <p:spPr>
          <a:xfrm>
            <a:off x="647700" y="2095500"/>
            <a:ext cx="790575" cy="2667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recently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9763" y="211455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最近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700" y="2400300"/>
            <a:ext cx="2447925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用于回答"last time"类问题的时间标记词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48025" y="1981200"/>
            <a:ext cx="2600325" cy="952500"/>
          </a:xfrm>
          <a:custGeom>
            <a:avLst/>
            <a:gdLst/>
            <a:ahLst/>
            <a:cxnLst/>
            <a:rect l="l" t="t" r="r" b="b"/>
            <a:pathLst>
              <a:path w="2600325" h="952500">
                <a:moveTo>
                  <a:pt x="76200" y="0"/>
                </a:moveTo>
                <a:lnTo>
                  <a:pt x="2524125" y="0"/>
                </a:lnTo>
                <a:cubicBezTo>
                  <a:pt x="2566181" y="0"/>
                  <a:pt x="2600325" y="34144"/>
                  <a:pt x="2600325" y="76200"/>
                </a:cubicBezTo>
                <a:lnTo>
                  <a:pt x="2600325" y="876300"/>
                </a:lnTo>
                <a:cubicBezTo>
                  <a:pt x="2600325" y="918356"/>
                  <a:pt x="2566181" y="952500"/>
                  <a:pt x="252412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3362325" y="2095500"/>
            <a:ext cx="666750" cy="266700"/>
          </a:xfrm>
          <a:custGeom>
            <a:avLst/>
            <a:gdLst/>
            <a:ahLst/>
            <a:cxnLst/>
            <a:rect l="l" t="t" r="r" b="b"/>
            <a:pathLst>
              <a:path w="666750" h="266700">
                <a:moveTo>
                  <a:pt x="38101" y="0"/>
                </a:moveTo>
                <a:lnTo>
                  <a:pt x="628649" y="0"/>
                </a:lnTo>
                <a:cubicBezTo>
                  <a:pt x="649692" y="0"/>
                  <a:pt x="666750" y="17058"/>
                  <a:pt x="666750" y="38101"/>
                </a:cubicBezTo>
                <a:lnTo>
                  <a:pt x="666750" y="228599"/>
                </a:lnTo>
                <a:cubicBezTo>
                  <a:pt x="666750" y="249628"/>
                  <a:pt x="649678" y="266700"/>
                  <a:pt x="6286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17" name="Text 15"/>
          <p:cNvSpPr/>
          <p:nvPr/>
        </p:nvSpPr>
        <p:spPr>
          <a:xfrm>
            <a:off x="3362325" y="2095500"/>
            <a:ext cx="742950" cy="2667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unwind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02298" y="211455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放松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62325" y="2400300"/>
            <a:ext cx="2447925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比relax更地道，强调释放压力的过程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3400" y="3048000"/>
            <a:ext cx="2600325" cy="742950"/>
          </a:xfrm>
          <a:custGeom>
            <a:avLst/>
            <a:gdLst/>
            <a:ahLst/>
            <a:cxnLst/>
            <a:rect l="l" t="t" r="r" b="b"/>
            <a:pathLst>
              <a:path w="2600325" h="742950">
                <a:moveTo>
                  <a:pt x="76197" y="0"/>
                </a:moveTo>
                <a:lnTo>
                  <a:pt x="2524128" y="0"/>
                </a:lnTo>
                <a:cubicBezTo>
                  <a:pt x="2566210" y="0"/>
                  <a:pt x="2600325" y="34115"/>
                  <a:pt x="2600325" y="76197"/>
                </a:cubicBezTo>
                <a:lnTo>
                  <a:pt x="2600325" y="666753"/>
                </a:lnTo>
                <a:cubicBezTo>
                  <a:pt x="2600325" y="708835"/>
                  <a:pt x="2566210" y="742950"/>
                  <a:pt x="2524128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647700" y="3162300"/>
            <a:ext cx="781050" cy="266700"/>
          </a:xfrm>
          <a:custGeom>
            <a:avLst/>
            <a:gdLst/>
            <a:ahLst/>
            <a:cxnLst/>
            <a:rect l="l" t="t" r="r" b="b"/>
            <a:pathLst>
              <a:path w="781050" h="266700">
                <a:moveTo>
                  <a:pt x="38101" y="0"/>
                </a:moveTo>
                <a:lnTo>
                  <a:pt x="742949" y="0"/>
                </a:lnTo>
                <a:cubicBezTo>
                  <a:pt x="763992" y="0"/>
                  <a:pt x="781050" y="17058"/>
                  <a:pt x="781050" y="38101"/>
                </a:cubicBezTo>
                <a:lnTo>
                  <a:pt x="781050" y="228599"/>
                </a:lnTo>
                <a:cubicBezTo>
                  <a:pt x="781050" y="249628"/>
                  <a:pt x="763978" y="266700"/>
                  <a:pt x="7429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22" name="Text 20"/>
          <p:cNvSpPr/>
          <p:nvPr/>
        </p:nvSpPr>
        <p:spPr>
          <a:xfrm>
            <a:off x="647700" y="3162300"/>
            <a:ext cx="857250" cy="2667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recharge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1527" y="318135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充电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7700" y="3467100"/>
            <a:ext cx="244792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形象表达恢复精力的过程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48025" y="3048000"/>
            <a:ext cx="2600325" cy="742950"/>
          </a:xfrm>
          <a:custGeom>
            <a:avLst/>
            <a:gdLst/>
            <a:ahLst/>
            <a:cxnLst/>
            <a:rect l="l" t="t" r="r" b="b"/>
            <a:pathLst>
              <a:path w="2600325" h="742950">
                <a:moveTo>
                  <a:pt x="76197" y="0"/>
                </a:moveTo>
                <a:lnTo>
                  <a:pt x="2524128" y="0"/>
                </a:lnTo>
                <a:cubicBezTo>
                  <a:pt x="2566210" y="0"/>
                  <a:pt x="2600325" y="34115"/>
                  <a:pt x="2600325" y="76197"/>
                </a:cubicBezTo>
                <a:lnTo>
                  <a:pt x="2600325" y="666753"/>
                </a:lnTo>
                <a:cubicBezTo>
                  <a:pt x="2600325" y="708835"/>
                  <a:pt x="2566210" y="742950"/>
                  <a:pt x="2524128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3362325" y="3162300"/>
            <a:ext cx="1038225" cy="266700"/>
          </a:xfrm>
          <a:custGeom>
            <a:avLst/>
            <a:gdLst/>
            <a:ahLst/>
            <a:cxnLst/>
            <a:rect l="l" t="t" r="r" b="b"/>
            <a:pathLst>
              <a:path w="1038225" h="266700">
                <a:moveTo>
                  <a:pt x="38101" y="0"/>
                </a:moveTo>
                <a:lnTo>
                  <a:pt x="1000124" y="0"/>
                </a:lnTo>
                <a:cubicBezTo>
                  <a:pt x="1021167" y="0"/>
                  <a:pt x="1038225" y="17058"/>
                  <a:pt x="1038225" y="38101"/>
                </a:cubicBezTo>
                <a:lnTo>
                  <a:pt x="1038225" y="228599"/>
                </a:lnTo>
                <a:cubicBezTo>
                  <a:pt x="1038225" y="249642"/>
                  <a:pt x="1021167" y="266700"/>
                  <a:pt x="10001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27" name="Text 25"/>
          <p:cNvSpPr/>
          <p:nvPr/>
        </p:nvSpPr>
        <p:spPr>
          <a:xfrm>
            <a:off x="3362325" y="3162300"/>
            <a:ext cx="1114425" cy="2667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binge-watch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74369" y="318135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刷剧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62325" y="3467100"/>
            <a:ext cx="244792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现代生活方式的生动描述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3400" y="3905250"/>
            <a:ext cx="2600325" cy="742950"/>
          </a:xfrm>
          <a:custGeom>
            <a:avLst/>
            <a:gdLst/>
            <a:ahLst/>
            <a:cxnLst/>
            <a:rect l="l" t="t" r="r" b="b"/>
            <a:pathLst>
              <a:path w="2600325" h="742950">
                <a:moveTo>
                  <a:pt x="76197" y="0"/>
                </a:moveTo>
                <a:lnTo>
                  <a:pt x="2524128" y="0"/>
                </a:lnTo>
                <a:cubicBezTo>
                  <a:pt x="2566210" y="0"/>
                  <a:pt x="2600325" y="34115"/>
                  <a:pt x="2600325" y="76197"/>
                </a:cubicBezTo>
                <a:lnTo>
                  <a:pt x="2600325" y="666753"/>
                </a:lnTo>
                <a:cubicBezTo>
                  <a:pt x="2600325" y="708835"/>
                  <a:pt x="2566210" y="742950"/>
                  <a:pt x="2524128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47700" y="4019550"/>
            <a:ext cx="1362075" cy="266700"/>
          </a:xfrm>
          <a:custGeom>
            <a:avLst/>
            <a:gdLst/>
            <a:ahLst/>
            <a:cxnLst/>
            <a:rect l="l" t="t" r="r" b="b"/>
            <a:pathLst>
              <a:path w="1362075" h="266700">
                <a:moveTo>
                  <a:pt x="38101" y="0"/>
                </a:moveTo>
                <a:lnTo>
                  <a:pt x="1323974" y="0"/>
                </a:lnTo>
                <a:cubicBezTo>
                  <a:pt x="1345017" y="0"/>
                  <a:pt x="1362075" y="17058"/>
                  <a:pt x="1362075" y="38101"/>
                </a:cubicBezTo>
                <a:lnTo>
                  <a:pt x="1362075" y="228599"/>
                </a:lnTo>
                <a:cubicBezTo>
                  <a:pt x="1362075" y="249642"/>
                  <a:pt x="1345017" y="266700"/>
                  <a:pt x="13239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32" name="Text 30"/>
          <p:cNvSpPr/>
          <p:nvPr/>
        </p:nvSpPr>
        <p:spPr>
          <a:xfrm>
            <a:off x="647700" y="4019550"/>
            <a:ext cx="1438275" cy="2667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outdoor activities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084487" y="40386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户外活动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7700" y="4324350"/>
            <a:ext cx="244792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与室内活动形成对比的选项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48025" y="3905250"/>
            <a:ext cx="2600325" cy="742950"/>
          </a:xfrm>
          <a:custGeom>
            <a:avLst/>
            <a:gdLst/>
            <a:ahLst/>
            <a:cxnLst/>
            <a:rect l="l" t="t" r="r" b="b"/>
            <a:pathLst>
              <a:path w="2600325" h="742950">
                <a:moveTo>
                  <a:pt x="76197" y="0"/>
                </a:moveTo>
                <a:lnTo>
                  <a:pt x="2524128" y="0"/>
                </a:lnTo>
                <a:cubicBezTo>
                  <a:pt x="2566210" y="0"/>
                  <a:pt x="2600325" y="34115"/>
                  <a:pt x="2600325" y="76197"/>
                </a:cubicBezTo>
                <a:lnTo>
                  <a:pt x="2600325" y="666753"/>
                </a:lnTo>
                <a:cubicBezTo>
                  <a:pt x="2600325" y="708835"/>
                  <a:pt x="2566210" y="742950"/>
                  <a:pt x="2524128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3362325" y="4019550"/>
            <a:ext cx="1476375" cy="266700"/>
          </a:xfrm>
          <a:custGeom>
            <a:avLst/>
            <a:gdLst/>
            <a:ahLst/>
            <a:cxnLst/>
            <a:rect l="l" t="t" r="r" b="b"/>
            <a:pathLst>
              <a:path w="1476375" h="266700">
                <a:moveTo>
                  <a:pt x="38101" y="0"/>
                </a:moveTo>
                <a:lnTo>
                  <a:pt x="1438274" y="0"/>
                </a:lnTo>
                <a:cubicBezTo>
                  <a:pt x="1459317" y="0"/>
                  <a:pt x="1476375" y="17058"/>
                  <a:pt x="1476375" y="38101"/>
                </a:cubicBezTo>
                <a:lnTo>
                  <a:pt x="1476375" y="228599"/>
                </a:lnTo>
                <a:cubicBezTo>
                  <a:pt x="1476375" y="249642"/>
                  <a:pt x="1459317" y="266700"/>
                  <a:pt x="14382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37" name="Text 35"/>
          <p:cNvSpPr/>
          <p:nvPr/>
        </p:nvSpPr>
        <p:spPr>
          <a:xfrm>
            <a:off x="3362325" y="4019550"/>
            <a:ext cx="1552575" cy="2667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extended weekend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916388" y="4038600"/>
            <a:ext cx="53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长周末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362325" y="4324350"/>
            <a:ext cx="244792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描述调休或连休的实用表达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1000" y="3905250"/>
            <a:ext cx="5619750" cy="2571750"/>
          </a:xfrm>
          <a:custGeom>
            <a:avLst/>
            <a:gdLst/>
            <a:ahLst/>
            <a:cxnLst/>
            <a:rect l="l" t="t" r="r" b="b"/>
            <a:pathLst>
              <a:path w="5619750" h="25717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2495549"/>
                </a:lnTo>
                <a:cubicBezTo>
                  <a:pt x="5619750" y="2537634"/>
                  <a:pt x="5585634" y="2571750"/>
                  <a:pt x="5543549" y="2571750"/>
                </a:cubicBezTo>
                <a:lnTo>
                  <a:pt x="76201" y="2571750"/>
                </a:lnTo>
                <a:cubicBezTo>
                  <a:pt x="34116" y="2571750"/>
                  <a:pt x="0" y="2537634"/>
                  <a:pt x="0" y="249554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81000" y="39052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42" name="Shape 40"/>
          <p:cNvSpPr/>
          <p:nvPr/>
        </p:nvSpPr>
        <p:spPr>
          <a:xfrm>
            <a:off x="533400" y="4076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43" name="Shape 41"/>
          <p:cNvSpPr/>
          <p:nvPr/>
        </p:nvSpPr>
        <p:spPr>
          <a:xfrm>
            <a:off x="629841" y="41814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8588" y="48220"/>
                </a:moveTo>
                <a:cubicBezTo>
                  <a:pt x="128588" y="80769"/>
                  <a:pt x="99789" y="107156"/>
                  <a:pt x="64294" y="107156"/>
                </a:cubicBezTo>
                <a:cubicBezTo>
                  <a:pt x="55353" y="107156"/>
                  <a:pt x="46847" y="105482"/>
                  <a:pt x="39112" y="102468"/>
                </a:cubicBezTo>
                <a:lnTo>
                  <a:pt x="11787" y="116934"/>
                </a:lnTo>
                <a:cubicBezTo>
                  <a:pt x="8673" y="118575"/>
                  <a:pt x="4856" y="118006"/>
                  <a:pt x="2344" y="115528"/>
                </a:cubicBezTo>
                <a:cubicBezTo>
                  <a:pt x="-167" y="113050"/>
                  <a:pt x="-737" y="109199"/>
                  <a:pt x="938" y="106085"/>
                </a:cubicBezTo>
                <a:lnTo>
                  <a:pt x="12859" y="83582"/>
                </a:lnTo>
                <a:cubicBezTo>
                  <a:pt x="4789" y="73737"/>
                  <a:pt x="0" y="61481"/>
                  <a:pt x="0" y="48220"/>
                </a:cubicBezTo>
                <a:cubicBezTo>
                  <a:pt x="0" y="15672"/>
                  <a:pt x="28798" y="-10716"/>
                  <a:pt x="64294" y="-10716"/>
                </a:cubicBezTo>
                <a:cubicBezTo>
                  <a:pt x="99789" y="-10716"/>
                  <a:pt x="128588" y="15672"/>
                  <a:pt x="128588" y="48220"/>
                </a:cubicBezTo>
                <a:close/>
                <a:moveTo>
                  <a:pt x="128588" y="171450"/>
                </a:moveTo>
                <a:cubicBezTo>
                  <a:pt x="97077" y="171450"/>
                  <a:pt x="70857" y="150655"/>
                  <a:pt x="65365" y="123230"/>
                </a:cubicBezTo>
                <a:cubicBezTo>
                  <a:pt x="105549" y="122727"/>
                  <a:pt x="140475" y="94130"/>
                  <a:pt x="144326" y="55353"/>
                </a:cubicBezTo>
                <a:cubicBezTo>
                  <a:pt x="172220" y="61782"/>
                  <a:pt x="192881" y="84921"/>
                  <a:pt x="192881" y="112514"/>
                </a:cubicBezTo>
                <a:cubicBezTo>
                  <a:pt x="192881" y="125775"/>
                  <a:pt x="188093" y="138031"/>
                  <a:pt x="180023" y="147876"/>
                </a:cubicBezTo>
                <a:lnTo>
                  <a:pt x="191944" y="170378"/>
                </a:lnTo>
                <a:cubicBezTo>
                  <a:pt x="193584" y="173493"/>
                  <a:pt x="193015" y="177310"/>
                  <a:pt x="190537" y="179822"/>
                </a:cubicBezTo>
                <a:cubicBezTo>
                  <a:pt x="188059" y="182333"/>
                  <a:pt x="184208" y="182902"/>
                  <a:pt x="181094" y="181228"/>
                </a:cubicBezTo>
                <a:lnTo>
                  <a:pt x="153769" y="166762"/>
                </a:lnTo>
                <a:cubicBezTo>
                  <a:pt x="146034" y="169776"/>
                  <a:pt x="137528" y="171450"/>
                  <a:pt x="128588" y="1714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1028700" y="413385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实用短语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33400" y="4572000"/>
            <a:ext cx="5314950" cy="533400"/>
          </a:xfrm>
          <a:custGeom>
            <a:avLst/>
            <a:gdLst/>
            <a:ahLst/>
            <a:cxnLst/>
            <a:rect l="l" t="t" r="r" b="b"/>
            <a:pathLst>
              <a:path w="5314950" h="5334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457198"/>
                </a:lnTo>
                <a:cubicBezTo>
                  <a:pt x="5314950" y="499283"/>
                  <a:pt x="5280833" y="533400"/>
                  <a:pt x="52387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619125" y="46863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C4A87D"/>
          </a:solidFill>
        </p:spPr>
      </p:sp>
      <p:sp>
        <p:nvSpPr>
          <p:cNvPr id="47" name="Text 45"/>
          <p:cNvSpPr/>
          <p:nvPr/>
        </p:nvSpPr>
        <p:spPr>
          <a:xfrm>
            <a:off x="914400" y="4648200"/>
            <a:ext cx="2209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Just the other week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4400" y="4838700"/>
            <a:ext cx="2209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就在前几周（自然的时间引入）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33400" y="5181600"/>
            <a:ext cx="5314950" cy="533400"/>
          </a:xfrm>
          <a:custGeom>
            <a:avLst/>
            <a:gdLst/>
            <a:ahLst/>
            <a:cxnLst/>
            <a:rect l="l" t="t" r="r" b="b"/>
            <a:pathLst>
              <a:path w="5314950" h="5334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457198"/>
                </a:lnTo>
                <a:cubicBezTo>
                  <a:pt x="5314950" y="499283"/>
                  <a:pt x="5280833" y="533400"/>
                  <a:pt x="52387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619125" y="52959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C4A87D"/>
          </a:solidFill>
        </p:spPr>
      </p:sp>
      <p:sp>
        <p:nvSpPr>
          <p:cNvPr id="51" name="Text 49"/>
          <p:cNvSpPr/>
          <p:nvPr/>
        </p:nvSpPr>
        <p:spPr>
          <a:xfrm>
            <a:off x="914400" y="5257800"/>
            <a:ext cx="1752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have a lie-in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14400" y="5448300"/>
            <a:ext cx="1752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睡懒觉（英式地道表达）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33400" y="5791200"/>
            <a:ext cx="5314950" cy="533400"/>
          </a:xfrm>
          <a:custGeom>
            <a:avLst/>
            <a:gdLst/>
            <a:ahLst/>
            <a:cxnLst/>
            <a:rect l="l" t="t" r="r" b="b"/>
            <a:pathLst>
              <a:path w="5314950" h="5334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457198"/>
                </a:lnTo>
                <a:cubicBezTo>
                  <a:pt x="5314950" y="499283"/>
                  <a:pt x="5280833" y="533400"/>
                  <a:pt x="52387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619125" y="5905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C4A87D"/>
          </a:solidFill>
        </p:spPr>
      </p:sp>
      <p:sp>
        <p:nvSpPr>
          <p:cNvPr id="55" name="Text 53"/>
          <p:cNvSpPr/>
          <p:nvPr/>
        </p:nvSpPr>
        <p:spPr>
          <a:xfrm>
            <a:off x="914400" y="5867400"/>
            <a:ext cx="2057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no hard and fast rule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14400" y="6057900"/>
            <a:ext cx="2057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没有硬性规定（避免绝对化）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91250" y="1314450"/>
            <a:ext cx="5619750" cy="3181350"/>
          </a:xfrm>
          <a:custGeom>
            <a:avLst/>
            <a:gdLst/>
            <a:ahLst/>
            <a:cxnLst/>
            <a:rect l="l" t="t" r="r" b="b"/>
            <a:pathLst>
              <a:path w="5619750" h="31813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105157"/>
                </a:lnTo>
                <a:cubicBezTo>
                  <a:pt x="5619750" y="3147237"/>
                  <a:pt x="5585637" y="3181350"/>
                  <a:pt x="5543557" y="3181350"/>
                </a:cubicBezTo>
                <a:lnTo>
                  <a:pt x="76193" y="3181350"/>
                </a:lnTo>
                <a:cubicBezTo>
                  <a:pt x="34113" y="3181350"/>
                  <a:pt x="0" y="3147237"/>
                  <a:pt x="0" y="31051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191250" y="13144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59" name="Shape 57"/>
          <p:cNvSpPr/>
          <p:nvPr/>
        </p:nvSpPr>
        <p:spPr>
          <a:xfrm>
            <a:off x="6343650" y="1485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60" name="Shape 58"/>
          <p:cNvSpPr/>
          <p:nvPr/>
        </p:nvSpPr>
        <p:spPr>
          <a:xfrm>
            <a:off x="6461522" y="15906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1" name="Text 59"/>
          <p:cNvSpPr/>
          <p:nvPr/>
        </p:nvSpPr>
        <p:spPr>
          <a:xfrm>
            <a:off x="6838950" y="1543050"/>
            <a:ext cx="666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语料库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43650" y="1981200"/>
            <a:ext cx="5314950" cy="876300"/>
          </a:xfrm>
          <a:custGeom>
            <a:avLst/>
            <a:gdLst/>
            <a:ahLst/>
            <a:cxnLst/>
            <a:rect l="l" t="t" r="r" b="b"/>
            <a:pathLst>
              <a:path w="5314950" h="876300">
                <a:moveTo>
                  <a:pt x="76203" y="0"/>
                </a:moveTo>
                <a:lnTo>
                  <a:pt x="5238747" y="0"/>
                </a:lnTo>
                <a:cubicBezTo>
                  <a:pt x="5280833" y="0"/>
                  <a:pt x="5314950" y="34117"/>
                  <a:pt x="5314950" y="76203"/>
                </a:cubicBezTo>
                <a:lnTo>
                  <a:pt x="5314950" y="800097"/>
                </a:lnTo>
                <a:cubicBezTo>
                  <a:pt x="5314950" y="842183"/>
                  <a:pt x="5280833" y="876300"/>
                  <a:pt x="52387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63" name="Text 61"/>
          <p:cNvSpPr/>
          <p:nvPr/>
        </p:nvSpPr>
        <p:spPr>
          <a:xfrm>
            <a:off x="6457950" y="2095500"/>
            <a:ext cx="516255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"Just the other week, I had a couple of days off around the Spring Festival."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457950" y="2552700"/>
            <a:ext cx="5162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适用于回答"last time"类问题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43650" y="2933700"/>
            <a:ext cx="5314950" cy="666750"/>
          </a:xfrm>
          <a:custGeom>
            <a:avLst/>
            <a:gdLst/>
            <a:ahLst/>
            <a:cxnLst/>
            <a:rect l="l" t="t" r="r" b="b"/>
            <a:pathLst>
              <a:path w="5314950" h="666750">
                <a:moveTo>
                  <a:pt x="76203" y="0"/>
                </a:moveTo>
                <a:lnTo>
                  <a:pt x="5238747" y="0"/>
                </a:lnTo>
                <a:cubicBezTo>
                  <a:pt x="5280805" y="0"/>
                  <a:pt x="5314950" y="34145"/>
                  <a:pt x="5314950" y="76203"/>
                </a:cubicBezTo>
                <a:lnTo>
                  <a:pt x="5314950" y="590547"/>
                </a:lnTo>
                <a:cubicBezTo>
                  <a:pt x="5314950" y="632605"/>
                  <a:pt x="5280805" y="666750"/>
                  <a:pt x="5238747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66" name="Text 64"/>
          <p:cNvSpPr/>
          <p:nvPr/>
        </p:nvSpPr>
        <p:spPr>
          <a:xfrm>
            <a:off x="6457950" y="3048000"/>
            <a:ext cx="51625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"To be honest, it's been a while since I had a proper break."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457950" y="3295650"/>
            <a:ext cx="5162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诚实表达很久没有休息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43650" y="3676650"/>
            <a:ext cx="5314950" cy="666750"/>
          </a:xfrm>
          <a:custGeom>
            <a:avLst/>
            <a:gdLst/>
            <a:ahLst/>
            <a:cxnLst/>
            <a:rect l="l" t="t" r="r" b="b"/>
            <a:pathLst>
              <a:path w="5314950" h="666750">
                <a:moveTo>
                  <a:pt x="76203" y="0"/>
                </a:moveTo>
                <a:lnTo>
                  <a:pt x="5238747" y="0"/>
                </a:lnTo>
                <a:cubicBezTo>
                  <a:pt x="5280805" y="0"/>
                  <a:pt x="5314950" y="34145"/>
                  <a:pt x="5314950" y="76203"/>
                </a:cubicBezTo>
                <a:lnTo>
                  <a:pt x="5314950" y="590547"/>
                </a:lnTo>
                <a:cubicBezTo>
                  <a:pt x="5314950" y="632605"/>
                  <a:pt x="5280805" y="666750"/>
                  <a:pt x="5238747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69" name="Text 67"/>
          <p:cNvSpPr/>
          <p:nvPr/>
        </p:nvSpPr>
        <p:spPr>
          <a:xfrm>
            <a:off x="6457950" y="3790950"/>
            <a:ext cx="51625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"My days off are for recharging. I usually..."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457950" y="4038600"/>
            <a:ext cx="5162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引出休息日活动的常用开头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236970" y="4404360"/>
            <a:ext cx="5619750" cy="2190750"/>
          </a:xfrm>
          <a:custGeom>
            <a:avLst/>
            <a:gdLst/>
            <a:ahLst/>
            <a:cxnLst/>
            <a:rect l="l" t="t" r="r" b="b"/>
            <a:pathLst>
              <a:path w="5619750" h="2190750">
                <a:moveTo>
                  <a:pt x="76194" y="0"/>
                </a:moveTo>
                <a:lnTo>
                  <a:pt x="5543556" y="0"/>
                </a:lnTo>
                <a:cubicBezTo>
                  <a:pt x="5585608" y="0"/>
                  <a:pt x="5619750" y="34142"/>
                  <a:pt x="5619750" y="76194"/>
                </a:cubicBezTo>
                <a:lnTo>
                  <a:pt x="5619750" y="2114556"/>
                </a:lnTo>
                <a:cubicBezTo>
                  <a:pt x="5619750" y="2156637"/>
                  <a:pt x="5585637" y="2190750"/>
                  <a:pt x="5543556" y="2190750"/>
                </a:cubicBezTo>
                <a:lnTo>
                  <a:pt x="76194" y="2190750"/>
                </a:lnTo>
                <a:cubicBezTo>
                  <a:pt x="34142" y="2190750"/>
                  <a:pt x="0" y="2156608"/>
                  <a:pt x="0" y="211455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72" name="Shape 70"/>
          <p:cNvSpPr/>
          <p:nvPr/>
        </p:nvSpPr>
        <p:spPr>
          <a:xfrm>
            <a:off x="6496050" y="44805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73" name="Shape 71"/>
          <p:cNvSpPr/>
          <p:nvPr/>
        </p:nvSpPr>
        <p:spPr>
          <a:xfrm>
            <a:off x="6603206" y="458533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58936"/>
                </a:moveTo>
                <a:cubicBezTo>
                  <a:pt x="79798" y="58936"/>
                  <a:pt x="75009" y="63724"/>
                  <a:pt x="75009" y="69652"/>
                </a:cubicBezTo>
                <a:cubicBezTo>
                  <a:pt x="75009" y="74105"/>
                  <a:pt x="71426" y="77688"/>
                  <a:pt x="66973" y="77688"/>
                </a:cubicBezTo>
                <a:cubicBezTo>
                  <a:pt x="62519" y="77688"/>
                  <a:pt x="58936" y="74105"/>
                  <a:pt x="58936" y="69652"/>
                </a:cubicBezTo>
                <a:cubicBezTo>
                  <a:pt x="58936" y="54851"/>
                  <a:pt x="70924" y="42863"/>
                  <a:pt x="85725" y="42863"/>
                </a:cubicBezTo>
                <a:cubicBezTo>
                  <a:pt x="100526" y="42863"/>
                  <a:pt x="112514" y="54851"/>
                  <a:pt x="112514" y="69652"/>
                </a:cubicBezTo>
                <a:cubicBezTo>
                  <a:pt x="112514" y="85457"/>
                  <a:pt x="100459" y="92154"/>
                  <a:pt x="93762" y="94599"/>
                </a:cubicBezTo>
                <a:lnTo>
                  <a:pt x="93762" y="95871"/>
                </a:lnTo>
                <a:cubicBezTo>
                  <a:pt x="93762" y="100325"/>
                  <a:pt x="90179" y="103908"/>
                  <a:pt x="85725" y="103908"/>
                </a:cubicBezTo>
                <a:cubicBezTo>
                  <a:pt x="81271" y="103908"/>
                  <a:pt x="77688" y="100325"/>
                  <a:pt x="77688" y="95871"/>
                </a:cubicBezTo>
                <a:lnTo>
                  <a:pt x="77688" y="93159"/>
                </a:lnTo>
                <a:cubicBezTo>
                  <a:pt x="77688" y="86294"/>
                  <a:pt x="82644" y="81372"/>
                  <a:pt x="87768" y="79697"/>
                </a:cubicBezTo>
                <a:cubicBezTo>
                  <a:pt x="89911" y="78994"/>
                  <a:pt x="92188" y="77856"/>
                  <a:pt x="93862" y="76248"/>
                </a:cubicBezTo>
                <a:cubicBezTo>
                  <a:pt x="95302" y="74842"/>
                  <a:pt x="96441" y="72900"/>
                  <a:pt x="96441" y="69685"/>
                </a:cubicBezTo>
                <a:cubicBezTo>
                  <a:pt x="96441" y="63758"/>
                  <a:pt x="91652" y="58969"/>
                  <a:pt x="85725" y="58969"/>
                </a:cubicBezTo>
                <a:close/>
                <a:moveTo>
                  <a:pt x="75009" y="123230"/>
                </a:moveTo>
                <a:cubicBezTo>
                  <a:pt x="75009" y="117316"/>
                  <a:pt x="79811" y="112514"/>
                  <a:pt x="85725" y="112514"/>
                </a:cubicBezTo>
                <a:cubicBezTo>
                  <a:pt x="91639" y="112514"/>
                  <a:pt x="96441" y="117316"/>
                  <a:pt x="96441" y="123230"/>
                </a:cubicBezTo>
                <a:cubicBezTo>
                  <a:pt x="96441" y="129144"/>
                  <a:pt x="91639" y="133945"/>
                  <a:pt x="85725" y="133945"/>
                </a:cubicBezTo>
                <a:cubicBezTo>
                  <a:pt x="79811" y="133945"/>
                  <a:pt x="75009" y="129144"/>
                  <a:pt x="75009" y="12323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4" name="Text 72"/>
          <p:cNvSpPr/>
          <p:nvPr/>
        </p:nvSpPr>
        <p:spPr>
          <a:xfrm>
            <a:off x="6991350" y="4537710"/>
            <a:ext cx="1162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4个核心小题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496050" y="499491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76" name="Text 74"/>
          <p:cNvSpPr/>
          <p:nvPr/>
        </p:nvSpPr>
        <p:spPr>
          <a:xfrm>
            <a:off x="6462713" y="4994910"/>
            <a:ext cx="295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838950" y="4975860"/>
            <a:ext cx="34194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When was the last time you had a few days off?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496050" y="53187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79" name="Text 77"/>
          <p:cNvSpPr/>
          <p:nvPr/>
        </p:nvSpPr>
        <p:spPr>
          <a:xfrm>
            <a:off x="6462713" y="5318760"/>
            <a:ext cx="295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838950" y="5299710"/>
            <a:ext cx="34861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What do you usually do when you have days off?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496050" y="564261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82" name="Text 80"/>
          <p:cNvSpPr/>
          <p:nvPr/>
        </p:nvSpPr>
        <p:spPr>
          <a:xfrm>
            <a:off x="6462713" y="5642610"/>
            <a:ext cx="295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823710" y="5623560"/>
            <a:ext cx="504825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Do you usually spend your days off with your parents or with your friends?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496050" y="613791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85" name="Text 83"/>
          <p:cNvSpPr/>
          <p:nvPr/>
        </p:nvSpPr>
        <p:spPr>
          <a:xfrm>
            <a:off x="6462713" y="6137910"/>
            <a:ext cx="295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838950" y="6118860"/>
            <a:ext cx="408622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What would you like to do if you had a day off tomorrow?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TOPIC 01 · TEACHING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Day off 休息日 | 答题思路与高分答案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0678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4A87D"/>
          </a:solidFill>
        </p:spPr>
      </p:sp>
      <p:sp>
        <p:nvSpPr>
          <p:cNvPr id="5" name="Shape 3"/>
          <p:cNvSpPr/>
          <p:nvPr/>
        </p:nvSpPr>
        <p:spPr>
          <a:xfrm>
            <a:off x="333375" y="960120"/>
            <a:ext cx="5683250" cy="3063875"/>
          </a:xfrm>
          <a:custGeom>
            <a:avLst/>
            <a:gdLst/>
            <a:ahLst/>
            <a:cxnLst/>
            <a:rect l="l" t="t" r="r" b="b"/>
            <a:pathLst>
              <a:path w="5683250" h="3063875">
                <a:moveTo>
                  <a:pt x="31750" y="0"/>
                </a:moveTo>
                <a:lnTo>
                  <a:pt x="5619736" y="0"/>
                </a:lnTo>
                <a:cubicBezTo>
                  <a:pt x="5654814" y="0"/>
                  <a:pt x="5683250" y="28436"/>
                  <a:pt x="5683250" y="63514"/>
                </a:cubicBezTo>
                <a:lnTo>
                  <a:pt x="5683250" y="3000361"/>
                </a:lnTo>
                <a:cubicBezTo>
                  <a:pt x="5683250" y="3035439"/>
                  <a:pt x="5654814" y="3063875"/>
                  <a:pt x="5619736" y="3063875"/>
                </a:cubicBezTo>
                <a:lnTo>
                  <a:pt x="31750" y="3063875"/>
                </a:lnTo>
                <a:cubicBezTo>
                  <a:pt x="14227" y="3063875"/>
                  <a:pt x="0" y="3049648"/>
                  <a:pt x="0" y="3032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3375" y="960120"/>
            <a:ext cx="31750" cy="3063875"/>
          </a:xfrm>
          <a:custGeom>
            <a:avLst/>
            <a:gdLst/>
            <a:ahLst/>
            <a:cxnLst/>
            <a:rect l="l" t="t" r="r" b="b"/>
            <a:pathLst>
              <a:path w="31750" h="3063875">
                <a:moveTo>
                  <a:pt x="31750" y="0"/>
                </a:moveTo>
                <a:lnTo>
                  <a:pt x="31750" y="0"/>
                </a:lnTo>
                <a:lnTo>
                  <a:pt x="31750" y="3063875"/>
                </a:lnTo>
                <a:lnTo>
                  <a:pt x="31750" y="3063875"/>
                </a:lnTo>
                <a:cubicBezTo>
                  <a:pt x="14227" y="3063875"/>
                  <a:pt x="0" y="3049648"/>
                  <a:pt x="0" y="3032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7" name="Shape 5"/>
          <p:cNvSpPr/>
          <p:nvPr/>
        </p:nvSpPr>
        <p:spPr>
          <a:xfrm>
            <a:off x="508000" y="111887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8" name="Text 6"/>
          <p:cNvSpPr/>
          <p:nvPr/>
        </p:nvSpPr>
        <p:spPr>
          <a:xfrm>
            <a:off x="468313" y="1118870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4250" y="1076325"/>
            <a:ext cx="4793615" cy="30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When was the last time you had few days off ? 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4250" y="1341120"/>
            <a:ext cx="2071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过去时态 + 时间短语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000" y="1626870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63499" y="0"/>
                </a:moveTo>
                <a:lnTo>
                  <a:pt x="5286376" y="0"/>
                </a:lnTo>
                <a:cubicBezTo>
                  <a:pt x="5321445" y="0"/>
                  <a:pt x="5349875" y="28430"/>
                  <a:pt x="5349875" y="63499"/>
                </a:cubicBezTo>
                <a:lnTo>
                  <a:pt x="5349875" y="508001"/>
                </a:lnTo>
                <a:cubicBezTo>
                  <a:pt x="5349875" y="543070"/>
                  <a:pt x="5321445" y="571500"/>
                  <a:pt x="52863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603250" y="1722120"/>
            <a:ext cx="522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答题思路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" y="1944370"/>
            <a:ext cx="5214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直接回答时间点 + 简单提及背景（节日/事件）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5938" y="2293620"/>
            <a:ext cx="5341938" cy="746125"/>
          </a:xfrm>
          <a:custGeom>
            <a:avLst/>
            <a:gdLst/>
            <a:ahLst/>
            <a:cxnLst/>
            <a:rect l="l" t="t" r="r" b="b"/>
            <a:pathLst>
              <a:path w="5341938" h="746125">
                <a:moveTo>
                  <a:pt x="15875" y="0"/>
                </a:moveTo>
                <a:lnTo>
                  <a:pt x="5278435" y="0"/>
                </a:lnTo>
                <a:cubicBezTo>
                  <a:pt x="5313506" y="0"/>
                  <a:pt x="5341938" y="28431"/>
                  <a:pt x="5341938" y="63503"/>
                </a:cubicBezTo>
                <a:lnTo>
                  <a:pt x="5341938" y="682622"/>
                </a:lnTo>
                <a:cubicBezTo>
                  <a:pt x="5341938" y="717694"/>
                  <a:pt x="5313506" y="746125"/>
                  <a:pt x="5278435" y="746125"/>
                </a:cubicBezTo>
                <a:lnTo>
                  <a:pt x="15875" y="746125"/>
                </a:lnTo>
                <a:cubicBezTo>
                  <a:pt x="7107" y="746125"/>
                  <a:pt x="0" y="739018"/>
                  <a:pt x="0" y="7302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515938" y="2293620"/>
            <a:ext cx="15875" cy="746125"/>
          </a:xfrm>
          <a:custGeom>
            <a:avLst/>
            <a:gdLst/>
            <a:ahLst/>
            <a:cxnLst/>
            <a:rect l="l" t="t" r="r" b="b"/>
            <a:pathLst>
              <a:path w="15875" h="746125">
                <a:moveTo>
                  <a:pt x="15875" y="0"/>
                </a:moveTo>
                <a:lnTo>
                  <a:pt x="15875" y="0"/>
                </a:lnTo>
                <a:lnTo>
                  <a:pt x="15875" y="746125"/>
                </a:lnTo>
                <a:lnTo>
                  <a:pt x="15875" y="746125"/>
                </a:lnTo>
                <a:cubicBezTo>
                  <a:pt x="7113" y="746125"/>
                  <a:pt x="0" y="739012"/>
                  <a:pt x="0" y="7302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16" name="Text 14"/>
          <p:cNvSpPr/>
          <p:nvPr/>
        </p:nvSpPr>
        <p:spPr>
          <a:xfrm>
            <a:off x="619125" y="2388870"/>
            <a:ext cx="519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高分答案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9125" y="2579370"/>
            <a:ext cx="5199063" cy="365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"Actually,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just the other week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, I managed to take a Friday off, which gave me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 lovely extended weekend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. It was around the Lantern Festival."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5938" y="3131026"/>
            <a:ext cx="5341938" cy="730250"/>
          </a:xfrm>
          <a:custGeom>
            <a:avLst/>
            <a:gdLst/>
            <a:ahLst/>
            <a:cxnLst/>
            <a:rect l="l" t="t" r="r" b="b"/>
            <a:pathLst>
              <a:path w="5341938" h="730250">
                <a:moveTo>
                  <a:pt x="15875" y="0"/>
                </a:moveTo>
                <a:lnTo>
                  <a:pt x="5278435" y="0"/>
                </a:lnTo>
                <a:cubicBezTo>
                  <a:pt x="5313506" y="0"/>
                  <a:pt x="5341938" y="28431"/>
                  <a:pt x="5341938" y="63503"/>
                </a:cubicBezTo>
                <a:lnTo>
                  <a:pt x="5341938" y="666747"/>
                </a:lnTo>
                <a:cubicBezTo>
                  <a:pt x="5341938" y="701819"/>
                  <a:pt x="5313506" y="730250"/>
                  <a:pt x="5278435" y="730250"/>
                </a:cubicBezTo>
                <a:lnTo>
                  <a:pt x="15875" y="730250"/>
                </a:lnTo>
                <a:cubicBezTo>
                  <a:pt x="7113" y="730250"/>
                  <a:pt x="0" y="723137"/>
                  <a:pt x="0" y="7143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19" name="Shape 17"/>
          <p:cNvSpPr/>
          <p:nvPr/>
        </p:nvSpPr>
        <p:spPr>
          <a:xfrm>
            <a:off x="515938" y="3131026"/>
            <a:ext cx="15875" cy="730250"/>
          </a:xfrm>
          <a:custGeom>
            <a:avLst/>
            <a:gdLst/>
            <a:ahLst/>
            <a:cxnLst/>
            <a:rect l="l" t="t" r="r" b="b"/>
            <a:pathLst>
              <a:path w="15875" h="730250">
                <a:moveTo>
                  <a:pt x="15875" y="0"/>
                </a:moveTo>
                <a:lnTo>
                  <a:pt x="15875" y="0"/>
                </a:lnTo>
                <a:lnTo>
                  <a:pt x="15875" y="730250"/>
                </a:lnTo>
                <a:lnTo>
                  <a:pt x="15875" y="730250"/>
                </a:lnTo>
                <a:cubicBezTo>
                  <a:pt x="7113" y="730250"/>
                  <a:pt x="0" y="723137"/>
                  <a:pt x="0" y="7143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20" name="Text 18"/>
          <p:cNvSpPr/>
          <p:nvPr/>
        </p:nvSpPr>
        <p:spPr>
          <a:xfrm>
            <a:off x="619125" y="3226276"/>
            <a:ext cx="519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常见问题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9125" y="3416776"/>
            <a:ext cx="519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回答过简"Last month."或时态错误"I have days off last Spring Festival."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9125" y="3607276"/>
            <a:ext cx="519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63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✓ 改进：补充信息 + 确保过去式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960120"/>
            <a:ext cx="5683250" cy="3063875"/>
          </a:xfrm>
          <a:custGeom>
            <a:avLst/>
            <a:gdLst/>
            <a:ahLst/>
            <a:cxnLst/>
            <a:rect l="l" t="t" r="r" b="b"/>
            <a:pathLst>
              <a:path w="5683250" h="3063875">
                <a:moveTo>
                  <a:pt x="31750" y="0"/>
                </a:moveTo>
                <a:lnTo>
                  <a:pt x="5619736" y="0"/>
                </a:lnTo>
                <a:cubicBezTo>
                  <a:pt x="5654814" y="0"/>
                  <a:pt x="5683250" y="28436"/>
                  <a:pt x="5683250" y="63514"/>
                </a:cubicBezTo>
                <a:lnTo>
                  <a:pt x="5683250" y="3000361"/>
                </a:lnTo>
                <a:cubicBezTo>
                  <a:pt x="5683250" y="3035439"/>
                  <a:pt x="5654814" y="3063875"/>
                  <a:pt x="5619736" y="3063875"/>
                </a:cubicBezTo>
                <a:lnTo>
                  <a:pt x="31750" y="3063875"/>
                </a:lnTo>
                <a:cubicBezTo>
                  <a:pt x="14227" y="3063875"/>
                  <a:pt x="0" y="3049648"/>
                  <a:pt x="0" y="3032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91250" y="960120"/>
            <a:ext cx="31750" cy="3063875"/>
          </a:xfrm>
          <a:custGeom>
            <a:avLst/>
            <a:gdLst/>
            <a:ahLst/>
            <a:cxnLst/>
            <a:rect l="l" t="t" r="r" b="b"/>
            <a:pathLst>
              <a:path w="31750" h="3063875">
                <a:moveTo>
                  <a:pt x="31750" y="0"/>
                </a:moveTo>
                <a:lnTo>
                  <a:pt x="31750" y="0"/>
                </a:lnTo>
                <a:lnTo>
                  <a:pt x="31750" y="3063875"/>
                </a:lnTo>
                <a:lnTo>
                  <a:pt x="31750" y="3063875"/>
                </a:lnTo>
                <a:cubicBezTo>
                  <a:pt x="14227" y="3063875"/>
                  <a:pt x="0" y="3049648"/>
                  <a:pt x="0" y="3032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25" name="Shape 23"/>
          <p:cNvSpPr/>
          <p:nvPr/>
        </p:nvSpPr>
        <p:spPr>
          <a:xfrm>
            <a:off x="6365875" y="111887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26" name="Text 24"/>
          <p:cNvSpPr/>
          <p:nvPr/>
        </p:nvSpPr>
        <p:spPr>
          <a:xfrm>
            <a:off x="6326188" y="1118870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42125" y="1076960"/>
            <a:ext cx="4353560" cy="306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What do you usually do when you have days off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42125" y="1341120"/>
            <a:ext cx="2087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It depends结构 + 活动多样性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65875" y="1626870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63499" y="0"/>
                </a:moveTo>
                <a:lnTo>
                  <a:pt x="5286376" y="0"/>
                </a:lnTo>
                <a:cubicBezTo>
                  <a:pt x="5321445" y="0"/>
                  <a:pt x="5349875" y="28430"/>
                  <a:pt x="5349875" y="63499"/>
                </a:cubicBezTo>
                <a:lnTo>
                  <a:pt x="5349875" y="508001"/>
                </a:lnTo>
                <a:cubicBezTo>
                  <a:pt x="5349875" y="543070"/>
                  <a:pt x="5321445" y="571500"/>
                  <a:pt x="52863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6461125" y="1722120"/>
            <a:ext cx="522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答题思路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61125" y="1944370"/>
            <a:ext cx="5214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展示活动的平衡与多样性，使用"It depends"分情况说明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73813" y="2293620"/>
            <a:ext cx="5341938" cy="746125"/>
          </a:xfrm>
          <a:custGeom>
            <a:avLst/>
            <a:gdLst/>
            <a:ahLst/>
            <a:cxnLst/>
            <a:rect l="l" t="t" r="r" b="b"/>
            <a:pathLst>
              <a:path w="5341938" h="746125">
                <a:moveTo>
                  <a:pt x="15875" y="0"/>
                </a:moveTo>
                <a:lnTo>
                  <a:pt x="5278435" y="0"/>
                </a:lnTo>
                <a:cubicBezTo>
                  <a:pt x="5313506" y="0"/>
                  <a:pt x="5341938" y="28431"/>
                  <a:pt x="5341938" y="63503"/>
                </a:cubicBezTo>
                <a:lnTo>
                  <a:pt x="5341938" y="682622"/>
                </a:lnTo>
                <a:cubicBezTo>
                  <a:pt x="5341938" y="717694"/>
                  <a:pt x="5313506" y="746125"/>
                  <a:pt x="5278435" y="746125"/>
                </a:cubicBezTo>
                <a:lnTo>
                  <a:pt x="15875" y="746125"/>
                </a:lnTo>
                <a:cubicBezTo>
                  <a:pt x="7107" y="746125"/>
                  <a:pt x="0" y="739018"/>
                  <a:pt x="0" y="7302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6373813" y="2293620"/>
            <a:ext cx="15875" cy="746125"/>
          </a:xfrm>
          <a:custGeom>
            <a:avLst/>
            <a:gdLst/>
            <a:ahLst/>
            <a:cxnLst/>
            <a:rect l="l" t="t" r="r" b="b"/>
            <a:pathLst>
              <a:path w="15875" h="746125">
                <a:moveTo>
                  <a:pt x="15875" y="0"/>
                </a:moveTo>
                <a:lnTo>
                  <a:pt x="15875" y="0"/>
                </a:lnTo>
                <a:lnTo>
                  <a:pt x="15875" y="746125"/>
                </a:lnTo>
                <a:lnTo>
                  <a:pt x="15875" y="746125"/>
                </a:lnTo>
                <a:cubicBezTo>
                  <a:pt x="7113" y="746125"/>
                  <a:pt x="0" y="739012"/>
                  <a:pt x="0" y="7302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34" name="Text 32"/>
          <p:cNvSpPr/>
          <p:nvPr/>
        </p:nvSpPr>
        <p:spPr>
          <a:xfrm>
            <a:off x="6477000" y="2388870"/>
            <a:ext cx="519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高分答案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77000" y="2579370"/>
            <a:ext cx="5199063" cy="365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"Well, it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really depends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. If I need to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recharge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, I'll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have a lie-in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and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binge-watch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a series. But if I'm energetic, I prefer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outdoor activities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like hiking for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 change of scenery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."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73813" y="3131026"/>
            <a:ext cx="5341938" cy="730250"/>
          </a:xfrm>
          <a:custGeom>
            <a:avLst/>
            <a:gdLst/>
            <a:ahLst/>
            <a:cxnLst/>
            <a:rect l="l" t="t" r="r" b="b"/>
            <a:pathLst>
              <a:path w="5341938" h="730250">
                <a:moveTo>
                  <a:pt x="15875" y="0"/>
                </a:moveTo>
                <a:lnTo>
                  <a:pt x="5278435" y="0"/>
                </a:lnTo>
                <a:cubicBezTo>
                  <a:pt x="5313506" y="0"/>
                  <a:pt x="5341938" y="28431"/>
                  <a:pt x="5341938" y="63503"/>
                </a:cubicBezTo>
                <a:lnTo>
                  <a:pt x="5341938" y="666747"/>
                </a:lnTo>
                <a:cubicBezTo>
                  <a:pt x="5341938" y="701819"/>
                  <a:pt x="5313506" y="730250"/>
                  <a:pt x="5278435" y="730250"/>
                </a:cubicBezTo>
                <a:lnTo>
                  <a:pt x="15875" y="730250"/>
                </a:lnTo>
                <a:cubicBezTo>
                  <a:pt x="7113" y="730250"/>
                  <a:pt x="0" y="723137"/>
                  <a:pt x="0" y="7143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37" name="Shape 35"/>
          <p:cNvSpPr/>
          <p:nvPr/>
        </p:nvSpPr>
        <p:spPr>
          <a:xfrm>
            <a:off x="6373813" y="3131026"/>
            <a:ext cx="15875" cy="730250"/>
          </a:xfrm>
          <a:custGeom>
            <a:avLst/>
            <a:gdLst/>
            <a:ahLst/>
            <a:cxnLst/>
            <a:rect l="l" t="t" r="r" b="b"/>
            <a:pathLst>
              <a:path w="15875" h="730250">
                <a:moveTo>
                  <a:pt x="15875" y="0"/>
                </a:moveTo>
                <a:lnTo>
                  <a:pt x="15875" y="0"/>
                </a:lnTo>
                <a:lnTo>
                  <a:pt x="15875" y="730250"/>
                </a:lnTo>
                <a:lnTo>
                  <a:pt x="15875" y="730250"/>
                </a:lnTo>
                <a:cubicBezTo>
                  <a:pt x="7113" y="730250"/>
                  <a:pt x="0" y="723137"/>
                  <a:pt x="0" y="7143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38" name="Text 36"/>
          <p:cNvSpPr/>
          <p:nvPr/>
        </p:nvSpPr>
        <p:spPr>
          <a:xfrm>
            <a:off x="6477000" y="3226276"/>
            <a:ext cx="519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常见问题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77000" y="3416776"/>
            <a:ext cx="519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回答笼统"I rest at home."或列表式"I sleep, watch TV, play games."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77000" y="3607276"/>
            <a:ext cx="519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63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✓ 改进：活动+感受/原因结合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33375" y="3903186"/>
            <a:ext cx="5683250" cy="3238500"/>
          </a:xfrm>
          <a:custGeom>
            <a:avLst/>
            <a:gdLst/>
            <a:ahLst/>
            <a:cxnLst/>
            <a:rect l="l" t="t" r="r" b="b"/>
            <a:pathLst>
              <a:path w="5683250" h="3238500">
                <a:moveTo>
                  <a:pt x="31750" y="0"/>
                </a:moveTo>
                <a:lnTo>
                  <a:pt x="5619743" y="0"/>
                </a:lnTo>
                <a:cubicBezTo>
                  <a:pt x="5654817" y="0"/>
                  <a:pt x="5683250" y="28433"/>
                  <a:pt x="5683250" y="63507"/>
                </a:cubicBezTo>
                <a:lnTo>
                  <a:pt x="5683250" y="3174993"/>
                </a:lnTo>
                <a:cubicBezTo>
                  <a:pt x="5683250" y="3210067"/>
                  <a:pt x="5654817" y="3238500"/>
                  <a:pt x="5619743" y="3238500"/>
                </a:cubicBezTo>
                <a:lnTo>
                  <a:pt x="31750" y="3238500"/>
                </a:lnTo>
                <a:cubicBezTo>
                  <a:pt x="14227" y="3238500"/>
                  <a:pt x="0" y="3224273"/>
                  <a:pt x="0" y="320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33375" y="3903186"/>
            <a:ext cx="31750" cy="3238500"/>
          </a:xfrm>
          <a:custGeom>
            <a:avLst/>
            <a:gdLst/>
            <a:ahLst/>
            <a:cxnLst/>
            <a:rect l="l" t="t" r="r" b="b"/>
            <a:pathLst>
              <a:path w="31750" h="3238500">
                <a:moveTo>
                  <a:pt x="31750" y="0"/>
                </a:moveTo>
                <a:lnTo>
                  <a:pt x="31750" y="0"/>
                </a:lnTo>
                <a:lnTo>
                  <a:pt x="31750" y="3238500"/>
                </a:lnTo>
                <a:lnTo>
                  <a:pt x="31750" y="3238500"/>
                </a:lnTo>
                <a:cubicBezTo>
                  <a:pt x="14227" y="3238500"/>
                  <a:pt x="0" y="3224273"/>
                  <a:pt x="0" y="320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43" name="Shape 41"/>
          <p:cNvSpPr/>
          <p:nvPr/>
        </p:nvSpPr>
        <p:spPr>
          <a:xfrm>
            <a:off x="508000" y="406193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44" name="Text 42"/>
          <p:cNvSpPr/>
          <p:nvPr/>
        </p:nvSpPr>
        <p:spPr>
          <a:xfrm>
            <a:off x="468313" y="4061936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84250" y="4046855"/>
            <a:ext cx="5032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sz="125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Do you usually spend your days off with your parents or with your frien</a:t>
            </a:r>
            <a:r>
              <a:rPr lang="en-US" sz="125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  <a:sym typeface="+mn-ea"/>
              </a:rPr>
              <a:t>ds?</a:t>
            </a:r>
            <a:endParaRPr lang="en-US" sz="1250" b="1" dirty="0">
              <a:solidFill>
                <a:srgbClr val="2C5F5D"/>
              </a:solidFill>
              <a:latin typeface="Alimama ShuHeiTi" pitchFamily="34" charset="0"/>
              <a:ea typeface="Alimama ShuHeiTi" pitchFamily="34" charset="-122"/>
              <a:cs typeface="Alimama ShuHeiTi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84250" y="4436586"/>
            <a:ext cx="18891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避免绝对化 + 情境分析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08000" y="4569936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63499" y="0"/>
                </a:moveTo>
                <a:lnTo>
                  <a:pt x="5286376" y="0"/>
                </a:lnTo>
                <a:cubicBezTo>
                  <a:pt x="5321445" y="0"/>
                  <a:pt x="5349875" y="28430"/>
                  <a:pt x="5349875" y="63499"/>
                </a:cubicBezTo>
                <a:lnTo>
                  <a:pt x="5349875" y="508001"/>
                </a:lnTo>
                <a:cubicBezTo>
                  <a:pt x="5349875" y="543070"/>
                  <a:pt x="5321445" y="571500"/>
                  <a:pt x="52863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603250" y="4665186"/>
            <a:ext cx="522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答题思路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03250" y="4887436"/>
            <a:ext cx="5214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避免绝对化，说明选择取决于情境、活动类型或个人状态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15938" y="5236686"/>
            <a:ext cx="5341938" cy="746125"/>
          </a:xfrm>
          <a:custGeom>
            <a:avLst/>
            <a:gdLst/>
            <a:ahLst/>
            <a:cxnLst/>
            <a:rect l="l" t="t" r="r" b="b"/>
            <a:pathLst>
              <a:path w="5341938" h="746125">
                <a:moveTo>
                  <a:pt x="15875" y="0"/>
                </a:moveTo>
                <a:lnTo>
                  <a:pt x="5278435" y="0"/>
                </a:lnTo>
                <a:cubicBezTo>
                  <a:pt x="5313506" y="0"/>
                  <a:pt x="5341938" y="28431"/>
                  <a:pt x="5341938" y="63503"/>
                </a:cubicBezTo>
                <a:lnTo>
                  <a:pt x="5341938" y="682622"/>
                </a:lnTo>
                <a:cubicBezTo>
                  <a:pt x="5341938" y="717694"/>
                  <a:pt x="5313506" y="746125"/>
                  <a:pt x="5278435" y="746125"/>
                </a:cubicBezTo>
                <a:lnTo>
                  <a:pt x="15875" y="746125"/>
                </a:lnTo>
                <a:cubicBezTo>
                  <a:pt x="7107" y="746125"/>
                  <a:pt x="0" y="739018"/>
                  <a:pt x="0" y="7302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515938" y="5236686"/>
            <a:ext cx="15875" cy="746125"/>
          </a:xfrm>
          <a:custGeom>
            <a:avLst/>
            <a:gdLst/>
            <a:ahLst/>
            <a:cxnLst/>
            <a:rect l="l" t="t" r="r" b="b"/>
            <a:pathLst>
              <a:path w="15875" h="746125">
                <a:moveTo>
                  <a:pt x="15875" y="0"/>
                </a:moveTo>
                <a:lnTo>
                  <a:pt x="15875" y="0"/>
                </a:lnTo>
                <a:lnTo>
                  <a:pt x="15875" y="746125"/>
                </a:lnTo>
                <a:lnTo>
                  <a:pt x="15875" y="746125"/>
                </a:lnTo>
                <a:cubicBezTo>
                  <a:pt x="7113" y="746125"/>
                  <a:pt x="0" y="739012"/>
                  <a:pt x="0" y="7302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52" name="Text 50"/>
          <p:cNvSpPr/>
          <p:nvPr/>
        </p:nvSpPr>
        <p:spPr>
          <a:xfrm>
            <a:off x="619125" y="5331936"/>
            <a:ext cx="519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高分答案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19125" y="5522436"/>
            <a:ext cx="5199063" cy="365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"There's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no hard and fast rule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. For family gatherings or quiet meals, it's with my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parents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. For more adventurous plans like a road trip, it's usually my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friends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."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15938" y="6074093"/>
            <a:ext cx="5341938" cy="730250"/>
          </a:xfrm>
          <a:custGeom>
            <a:avLst/>
            <a:gdLst/>
            <a:ahLst/>
            <a:cxnLst/>
            <a:rect l="l" t="t" r="r" b="b"/>
            <a:pathLst>
              <a:path w="5341938" h="730250">
                <a:moveTo>
                  <a:pt x="15875" y="0"/>
                </a:moveTo>
                <a:lnTo>
                  <a:pt x="5278435" y="0"/>
                </a:lnTo>
                <a:cubicBezTo>
                  <a:pt x="5313506" y="0"/>
                  <a:pt x="5341938" y="28431"/>
                  <a:pt x="5341938" y="63503"/>
                </a:cubicBezTo>
                <a:lnTo>
                  <a:pt x="5341938" y="666747"/>
                </a:lnTo>
                <a:cubicBezTo>
                  <a:pt x="5341938" y="701819"/>
                  <a:pt x="5313506" y="730250"/>
                  <a:pt x="5278435" y="730250"/>
                </a:cubicBezTo>
                <a:lnTo>
                  <a:pt x="15875" y="730250"/>
                </a:lnTo>
                <a:cubicBezTo>
                  <a:pt x="7113" y="730250"/>
                  <a:pt x="0" y="723137"/>
                  <a:pt x="0" y="7143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55" name="Shape 53"/>
          <p:cNvSpPr/>
          <p:nvPr/>
        </p:nvSpPr>
        <p:spPr>
          <a:xfrm>
            <a:off x="515938" y="6074093"/>
            <a:ext cx="15875" cy="730250"/>
          </a:xfrm>
          <a:custGeom>
            <a:avLst/>
            <a:gdLst/>
            <a:ahLst/>
            <a:cxnLst/>
            <a:rect l="l" t="t" r="r" b="b"/>
            <a:pathLst>
              <a:path w="15875" h="730250">
                <a:moveTo>
                  <a:pt x="15875" y="0"/>
                </a:moveTo>
                <a:lnTo>
                  <a:pt x="15875" y="0"/>
                </a:lnTo>
                <a:lnTo>
                  <a:pt x="15875" y="730250"/>
                </a:lnTo>
                <a:lnTo>
                  <a:pt x="15875" y="730250"/>
                </a:lnTo>
                <a:cubicBezTo>
                  <a:pt x="7113" y="730250"/>
                  <a:pt x="0" y="723137"/>
                  <a:pt x="0" y="7143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56" name="Text 54"/>
          <p:cNvSpPr/>
          <p:nvPr/>
        </p:nvSpPr>
        <p:spPr>
          <a:xfrm>
            <a:off x="619125" y="6169343"/>
            <a:ext cx="519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常见问题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19125" y="6359843"/>
            <a:ext cx="519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绝对化"I always stay with my parents."或简单选择"With friends."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19125" y="6550343"/>
            <a:ext cx="519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63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✓ 改进：增加条件说明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91250" y="3903186"/>
            <a:ext cx="5683250" cy="3238500"/>
          </a:xfrm>
          <a:custGeom>
            <a:avLst/>
            <a:gdLst/>
            <a:ahLst/>
            <a:cxnLst/>
            <a:rect l="l" t="t" r="r" b="b"/>
            <a:pathLst>
              <a:path w="5683250" h="3238500">
                <a:moveTo>
                  <a:pt x="31750" y="0"/>
                </a:moveTo>
                <a:lnTo>
                  <a:pt x="5619743" y="0"/>
                </a:lnTo>
                <a:cubicBezTo>
                  <a:pt x="5654817" y="0"/>
                  <a:pt x="5683250" y="28433"/>
                  <a:pt x="5683250" y="63507"/>
                </a:cubicBezTo>
                <a:lnTo>
                  <a:pt x="5683250" y="3174993"/>
                </a:lnTo>
                <a:cubicBezTo>
                  <a:pt x="5683250" y="3210067"/>
                  <a:pt x="5654817" y="3238500"/>
                  <a:pt x="5619743" y="3238500"/>
                </a:cubicBezTo>
                <a:lnTo>
                  <a:pt x="31750" y="3238500"/>
                </a:lnTo>
                <a:cubicBezTo>
                  <a:pt x="14227" y="3238500"/>
                  <a:pt x="0" y="3224273"/>
                  <a:pt x="0" y="320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191250" y="3903186"/>
            <a:ext cx="31750" cy="3238500"/>
          </a:xfrm>
          <a:custGeom>
            <a:avLst/>
            <a:gdLst/>
            <a:ahLst/>
            <a:cxnLst/>
            <a:rect l="l" t="t" r="r" b="b"/>
            <a:pathLst>
              <a:path w="31750" h="3238500">
                <a:moveTo>
                  <a:pt x="31750" y="0"/>
                </a:moveTo>
                <a:lnTo>
                  <a:pt x="31750" y="0"/>
                </a:lnTo>
                <a:lnTo>
                  <a:pt x="31750" y="3238500"/>
                </a:lnTo>
                <a:lnTo>
                  <a:pt x="31750" y="3238500"/>
                </a:lnTo>
                <a:cubicBezTo>
                  <a:pt x="14227" y="3238500"/>
                  <a:pt x="0" y="3224273"/>
                  <a:pt x="0" y="320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61" name="Shape 59"/>
          <p:cNvSpPr/>
          <p:nvPr/>
        </p:nvSpPr>
        <p:spPr>
          <a:xfrm>
            <a:off x="6365875" y="406193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62" name="Text 60"/>
          <p:cNvSpPr/>
          <p:nvPr/>
        </p:nvSpPr>
        <p:spPr>
          <a:xfrm>
            <a:off x="6326188" y="4061936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Q4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842125" y="4062095"/>
            <a:ext cx="487299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What would you like to do if you had a day off tomorrow?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842125" y="4284186"/>
            <a:ext cx="2293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虚拟语气 + 具体画面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65875" y="4569936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63499" y="0"/>
                </a:moveTo>
                <a:lnTo>
                  <a:pt x="5286376" y="0"/>
                </a:lnTo>
                <a:cubicBezTo>
                  <a:pt x="5321445" y="0"/>
                  <a:pt x="5349875" y="28430"/>
                  <a:pt x="5349875" y="63499"/>
                </a:cubicBezTo>
                <a:lnTo>
                  <a:pt x="5349875" y="508001"/>
                </a:lnTo>
                <a:cubicBezTo>
                  <a:pt x="5349875" y="543070"/>
                  <a:pt x="5321445" y="571500"/>
                  <a:pt x="52863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66" name="Text 64"/>
          <p:cNvSpPr/>
          <p:nvPr/>
        </p:nvSpPr>
        <p:spPr>
          <a:xfrm>
            <a:off x="6461125" y="4665186"/>
            <a:ext cx="522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答题思路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461125" y="4887436"/>
            <a:ext cx="5214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使用虚拟语气，描述具体、令人向往的计划，并说明原因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73813" y="5236686"/>
            <a:ext cx="5341938" cy="920750"/>
          </a:xfrm>
          <a:custGeom>
            <a:avLst/>
            <a:gdLst/>
            <a:ahLst/>
            <a:cxnLst/>
            <a:rect l="l" t="t" r="r" b="b"/>
            <a:pathLst>
              <a:path w="5341938" h="920750">
                <a:moveTo>
                  <a:pt x="15875" y="0"/>
                </a:moveTo>
                <a:lnTo>
                  <a:pt x="5278433" y="0"/>
                </a:lnTo>
                <a:cubicBezTo>
                  <a:pt x="5313506" y="0"/>
                  <a:pt x="5341938" y="28432"/>
                  <a:pt x="5341938" y="63504"/>
                </a:cubicBezTo>
                <a:lnTo>
                  <a:pt x="5341938" y="857246"/>
                </a:lnTo>
                <a:cubicBezTo>
                  <a:pt x="5341938" y="892318"/>
                  <a:pt x="5313506" y="920750"/>
                  <a:pt x="5278433" y="920750"/>
                </a:cubicBezTo>
                <a:lnTo>
                  <a:pt x="15875" y="920750"/>
                </a:lnTo>
                <a:cubicBezTo>
                  <a:pt x="7113" y="920750"/>
                  <a:pt x="0" y="913637"/>
                  <a:pt x="0" y="904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69" name="Shape 67"/>
          <p:cNvSpPr/>
          <p:nvPr/>
        </p:nvSpPr>
        <p:spPr>
          <a:xfrm>
            <a:off x="6373813" y="5236686"/>
            <a:ext cx="15875" cy="920750"/>
          </a:xfrm>
          <a:custGeom>
            <a:avLst/>
            <a:gdLst/>
            <a:ahLst/>
            <a:cxnLst/>
            <a:rect l="l" t="t" r="r" b="b"/>
            <a:pathLst>
              <a:path w="15875" h="920750">
                <a:moveTo>
                  <a:pt x="15875" y="0"/>
                </a:moveTo>
                <a:lnTo>
                  <a:pt x="15875" y="0"/>
                </a:lnTo>
                <a:lnTo>
                  <a:pt x="15875" y="920750"/>
                </a:lnTo>
                <a:lnTo>
                  <a:pt x="15875" y="920750"/>
                </a:lnTo>
                <a:cubicBezTo>
                  <a:pt x="7113" y="920750"/>
                  <a:pt x="0" y="913637"/>
                  <a:pt x="0" y="904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70" name="Text 68"/>
          <p:cNvSpPr/>
          <p:nvPr/>
        </p:nvSpPr>
        <p:spPr>
          <a:xfrm>
            <a:off x="6477000" y="5331936"/>
            <a:ext cx="519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高分答案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477000" y="5522436"/>
            <a:ext cx="5199063" cy="539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"If I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had a free day tomorrow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, I'd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head to the countryside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without any plan. I'd just find a nice spot to read and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disconnect completely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. That sounds like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the ultimate luxury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to me right now."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73813" y="6117511"/>
            <a:ext cx="5341938" cy="730250"/>
          </a:xfrm>
          <a:custGeom>
            <a:avLst/>
            <a:gdLst/>
            <a:ahLst/>
            <a:cxnLst/>
            <a:rect l="l" t="t" r="r" b="b"/>
            <a:pathLst>
              <a:path w="5341938" h="730250">
                <a:moveTo>
                  <a:pt x="15875" y="0"/>
                </a:moveTo>
                <a:lnTo>
                  <a:pt x="5278435" y="0"/>
                </a:lnTo>
                <a:cubicBezTo>
                  <a:pt x="5313506" y="0"/>
                  <a:pt x="5341938" y="28431"/>
                  <a:pt x="5341938" y="63503"/>
                </a:cubicBezTo>
                <a:lnTo>
                  <a:pt x="5341938" y="666747"/>
                </a:lnTo>
                <a:cubicBezTo>
                  <a:pt x="5341938" y="701819"/>
                  <a:pt x="5313506" y="730250"/>
                  <a:pt x="5278435" y="730250"/>
                </a:cubicBezTo>
                <a:lnTo>
                  <a:pt x="15875" y="730250"/>
                </a:lnTo>
                <a:cubicBezTo>
                  <a:pt x="7113" y="730250"/>
                  <a:pt x="0" y="723137"/>
                  <a:pt x="0" y="7143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73" name="Shape 71"/>
          <p:cNvSpPr/>
          <p:nvPr/>
        </p:nvSpPr>
        <p:spPr>
          <a:xfrm>
            <a:off x="6373813" y="6117511"/>
            <a:ext cx="15875" cy="730250"/>
          </a:xfrm>
          <a:custGeom>
            <a:avLst/>
            <a:gdLst/>
            <a:ahLst/>
            <a:cxnLst/>
            <a:rect l="l" t="t" r="r" b="b"/>
            <a:pathLst>
              <a:path w="15875" h="730250">
                <a:moveTo>
                  <a:pt x="15875" y="0"/>
                </a:moveTo>
                <a:lnTo>
                  <a:pt x="15875" y="0"/>
                </a:lnTo>
                <a:lnTo>
                  <a:pt x="15875" y="730250"/>
                </a:lnTo>
                <a:lnTo>
                  <a:pt x="15875" y="730250"/>
                </a:lnTo>
                <a:cubicBezTo>
                  <a:pt x="7113" y="730250"/>
                  <a:pt x="0" y="723137"/>
                  <a:pt x="0" y="7143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74" name="Text 72"/>
          <p:cNvSpPr/>
          <p:nvPr/>
        </p:nvSpPr>
        <p:spPr>
          <a:xfrm>
            <a:off x="6477000" y="6212761"/>
            <a:ext cx="519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常见问题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477000" y="6403261"/>
            <a:ext cx="519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计划空洞"I would play."或忘记虚拟语气"I will go shopping."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477000" y="6593761"/>
            <a:ext cx="519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63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✓ 改进：语法正确 + 细节描述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TOPIC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Morning time 早晨时光 | 核心词汇与短语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50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4A87D"/>
          </a:solidFill>
        </p:spPr>
      </p:sp>
      <p:sp>
        <p:nvSpPr>
          <p:cNvPr id="5" name="Shape 3"/>
          <p:cNvSpPr/>
          <p:nvPr/>
        </p:nvSpPr>
        <p:spPr>
          <a:xfrm>
            <a:off x="317500" y="1127125"/>
            <a:ext cx="6270625" cy="2841625"/>
          </a:xfrm>
          <a:custGeom>
            <a:avLst/>
            <a:gdLst/>
            <a:ahLst/>
            <a:cxnLst/>
            <a:rect l="l" t="t" r="r" b="b"/>
            <a:pathLst>
              <a:path w="6270625" h="2841625">
                <a:moveTo>
                  <a:pt x="31750" y="0"/>
                </a:moveTo>
                <a:lnTo>
                  <a:pt x="6238875" y="0"/>
                </a:lnTo>
                <a:cubicBezTo>
                  <a:pt x="6256398" y="0"/>
                  <a:pt x="6270625" y="14227"/>
                  <a:pt x="6270625" y="31750"/>
                </a:cubicBezTo>
                <a:lnTo>
                  <a:pt x="6270625" y="2778115"/>
                </a:lnTo>
                <a:cubicBezTo>
                  <a:pt x="6270625" y="2813190"/>
                  <a:pt x="6242190" y="2841625"/>
                  <a:pt x="6207115" y="2841625"/>
                </a:cubicBezTo>
                <a:lnTo>
                  <a:pt x="63510" y="2841625"/>
                </a:lnTo>
                <a:cubicBezTo>
                  <a:pt x="28435" y="2841625"/>
                  <a:pt x="0" y="2813190"/>
                  <a:pt x="0" y="277811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7500" y="1127125"/>
            <a:ext cx="6270625" cy="31750"/>
          </a:xfrm>
          <a:custGeom>
            <a:avLst/>
            <a:gdLst/>
            <a:ahLst/>
            <a:cxnLst/>
            <a:rect l="l" t="t" r="r" b="b"/>
            <a:pathLst>
              <a:path w="6270625" h="31750">
                <a:moveTo>
                  <a:pt x="31750" y="0"/>
                </a:moveTo>
                <a:lnTo>
                  <a:pt x="6238875" y="0"/>
                </a:lnTo>
                <a:cubicBezTo>
                  <a:pt x="6256398" y="0"/>
                  <a:pt x="6270625" y="14227"/>
                  <a:pt x="6270625" y="31750"/>
                </a:cubicBezTo>
                <a:lnTo>
                  <a:pt x="62706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7" name="Shape 5"/>
          <p:cNvSpPr/>
          <p:nvPr/>
        </p:nvSpPr>
        <p:spPr>
          <a:xfrm>
            <a:off x="476250" y="130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8" name="Shape 6"/>
          <p:cNvSpPr/>
          <p:nvPr/>
        </p:nvSpPr>
        <p:spPr>
          <a:xfrm>
            <a:off x="577453" y="141287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55252" y="-3132"/>
                </a:moveTo>
                <a:cubicBezTo>
                  <a:pt x="57547" y="-4093"/>
                  <a:pt x="60151" y="-3814"/>
                  <a:pt x="62229" y="-2449"/>
                </a:cubicBezTo>
                <a:lnTo>
                  <a:pt x="89452" y="15596"/>
                </a:lnTo>
                <a:lnTo>
                  <a:pt x="116675" y="-2449"/>
                </a:lnTo>
                <a:cubicBezTo>
                  <a:pt x="118752" y="-3814"/>
                  <a:pt x="121357" y="-4062"/>
                  <a:pt x="123651" y="-3132"/>
                </a:cubicBezTo>
                <a:cubicBezTo>
                  <a:pt x="125946" y="-2201"/>
                  <a:pt x="127558" y="-155"/>
                  <a:pt x="128054" y="2263"/>
                </a:cubicBezTo>
                <a:lnTo>
                  <a:pt x="134534" y="34261"/>
                </a:lnTo>
                <a:lnTo>
                  <a:pt x="166532" y="40742"/>
                </a:lnTo>
                <a:cubicBezTo>
                  <a:pt x="168951" y="41238"/>
                  <a:pt x="170997" y="42912"/>
                  <a:pt x="171927" y="45176"/>
                </a:cubicBezTo>
                <a:cubicBezTo>
                  <a:pt x="172858" y="47439"/>
                  <a:pt x="172610" y="50074"/>
                  <a:pt x="171245" y="52152"/>
                </a:cubicBezTo>
                <a:lnTo>
                  <a:pt x="153200" y="79375"/>
                </a:lnTo>
                <a:lnTo>
                  <a:pt x="171245" y="106598"/>
                </a:lnTo>
                <a:cubicBezTo>
                  <a:pt x="172610" y="108676"/>
                  <a:pt x="172858" y="111280"/>
                  <a:pt x="171927" y="113574"/>
                </a:cubicBezTo>
                <a:cubicBezTo>
                  <a:pt x="170997" y="115869"/>
                  <a:pt x="168951" y="117543"/>
                  <a:pt x="166532" y="118008"/>
                </a:cubicBezTo>
                <a:lnTo>
                  <a:pt x="134503" y="124458"/>
                </a:lnTo>
                <a:lnTo>
                  <a:pt x="128054" y="156487"/>
                </a:lnTo>
                <a:cubicBezTo>
                  <a:pt x="127558" y="158905"/>
                  <a:pt x="125884" y="160951"/>
                  <a:pt x="123620" y="161882"/>
                </a:cubicBezTo>
                <a:cubicBezTo>
                  <a:pt x="121357" y="162812"/>
                  <a:pt x="118721" y="162564"/>
                  <a:pt x="116644" y="161199"/>
                </a:cubicBezTo>
                <a:lnTo>
                  <a:pt x="89421" y="143154"/>
                </a:lnTo>
                <a:lnTo>
                  <a:pt x="62198" y="161199"/>
                </a:lnTo>
                <a:cubicBezTo>
                  <a:pt x="60120" y="162564"/>
                  <a:pt x="57516" y="162812"/>
                  <a:pt x="55221" y="161882"/>
                </a:cubicBezTo>
                <a:cubicBezTo>
                  <a:pt x="52927" y="160951"/>
                  <a:pt x="51253" y="158905"/>
                  <a:pt x="50788" y="156487"/>
                </a:cubicBezTo>
                <a:lnTo>
                  <a:pt x="44338" y="124458"/>
                </a:lnTo>
                <a:lnTo>
                  <a:pt x="12309" y="117977"/>
                </a:lnTo>
                <a:cubicBezTo>
                  <a:pt x="9891" y="117481"/>
                  <a:pt x="7844" y="115807"/>
                  <a:pt x="6914" y="113543"/>
                </a:cubicBezTo>
                <a:cubicBezTo>
                  <a:pt x="5984" y="111280"/>
                  <a:pt x="6232" y="108645"/>
                  <a:pt x="7596" y="106567"/>
                </a:cubicBezTo>
                <a:lnTo>
                  <a:pt x="25642" y="79375"/>
                </a:lnTo>
                <a:lnTo>
                  <a:pt x="7596" y="52152"/>
                </a:lnTo>
                <a:cubicBezTo>
                  <a:pt x="6232" y="50074"/>
                  <a:pt x="5984" y="47470"/>
                  <a:pt x="6914" y="45176"/>
                </a:cubicBezTo>
                <a:cubicBezTo>
                  <a:pt x="7844" y="42881"/>
                  <a:pt x="9891" y="41207"/>
                  <a:pt x="12309" y="40742"/>
                </a:cubicBezTo>
                <a:lnTo>
                  <a:pt x="44338" y="34292"/>
                </a:lnTo>
                <a:lnTo>
                  <a:pt x="50819" y="2263"/>
                </a:lnTo>
                <a:cubicBezTo>
                  <a:pt x="51315" y="-155"/>
                  <a:pt x="52989" y="-2201"/>
                  <a:pt x="55252" y="-3132"/>
                </a:cubicBezTo>
                <a:close/>
                <a:moveTo>
                  <a:pt x="64368" y="79375"/>
                </a:moveTo>
                <a:cubicBezTo>
                  <a:pt x="64368" y="70469"/>
                  <a:pt x="69120" y="62239"/>
                  <a:pt x="76833" y="57786"/>
                </a:cubicBezTo>
                <a:cubicBezTo>
                  <a:pt x="84545" y="53333"/>
                  <a:pt x="94048" y="53333"/>
                  <a:pt x="101761" y="57786"/>
                </a:cubicBezTo>
                <a:cubicBezTo>
                  <a:pt x="109474" y="62239"/>
                  <a:pt x="114226" y="70469"/>
                  <a:pt x="114226" y="79375"/>
                </a:cubicBezTo>
                <a:cubicBezTo>
                  <a:pt x="114226" y="93134"/>
                  <a:pt x="103055" y="104304"/>
                  <a:pt x="89297" y="104304"/>
                </a:cubicBezTo>
                <a:cubicBezTo>
                  <a:pt x="75538" y="104304"/>
                  <a:pt x="64368" y="93134"/>
                  <a:pt x="64368" y="79375"/>
                </a:cubicBezTo>
                <a:close/>
                <a:moveTo>
                  <a:pt x="129108" y="79375"/>
                </a:moveTo>
                <a:cubicBezTo>
                  <a:pt x="129108" y="57402"/>
                  <a:pt x="111269" y="39563"/>
                  <a:pt x="89297" y="39563"/>
                </a:cubicBezTo>
                <a:cubicBezTo>
                  <a:pt x="67324" y="39563"/>
                  <a:pt x="49485" y="57402"/>
                  <a:pt x="49485" y="79375"/>
                </a:cubicBezTo>
                <a:cubicBezTo>
                  <a:pt x="49485" y="93598"/>
                  <a:pt x="57073" y="106741"/>
                  <a:pt x="69391" y="113853"/>
                </a:cubicBezTo>
                <a:cubicBezTo>
                  <a:pt x="81709" y="120964"/>
                  <a:pt x="96885" y="120964"/>
                  <a:pt x="109203" y="113853"/>
                </a:cubicBezTo>
                <a:cubicBezTo>
                  <a:pt x="121520" y="106741"/>
                  <a:pt x="129108" y="93598"/>
                  <a:pt x="129108" y="7937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952500" y="1365250"/>
            <a:ext cx="857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核心词汇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6250" y="1809750"/>
            <a:ext cx="2928938" cy="603250"/>
          </a:xfrm>
          <a:custGeom>
            <a:avLst/>
            <a:gdLst/>
            <a:ahLst/>
            <a:cxnLst/>
            <a:rect l="l" t="t" r="r" b="b"/>
            <a:pathLst>
              <a:path w="2928938" h="603250">
                <a:moveTo>
                  <a:pt x="63498" y="0"/>
                </a:moveTo>
                <a:lnTo>
                  <a:pt x="2865439" y="0"/>
                </a:lnTo>
                <a:cubicBezTo>
                  <a:pt x="2900508" y="0"/>
                  <a:pt x="2928938" y="28429"/>
                  <a:pt x="2928938" y="63498"/>
                </a:cubicBezTo>
                <a:lnTo>
                  <a:pt x="2928938" y="539752"/>
                </a:lnTo>
                <a:cubicBezTo>
                  <a:pt x="2928938" y="574821"/>
                  <a:pt x="2900508" y="603250"/>
                  <a:pt x="286543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71500" y="1905000"/>
            <a:ext cx="936625" cy="222250"/>
          </a:xfrm>
          <a:custGeom>
            <a:avLst/>
            <a:gdLst/>
            <a:ahLst/>
            <a:cxnLst/>
            <a:rect l="l" t="t" r="r" b="b"/>
            <a:pathLst>
              <a:path w="936625" h="222250">
                <a:moveTo>
                  <a:pt x="31751" y="0"/>
                </a:moveTo>
                <a:lnTo>
                  <a:pt x="904874" y="0"/>
                </a:lnTo>
                <a:cubicBezTo>
                  <a:pt x="922410" y="0"/>
                  <a:pt x="936625" y="14215"/>
                  <a:pt x="936625" y="31751"/>
                </a:cubicBezTo>
                <a:lnTo>
                  <a:pt x="936625" y="190499"/>
                </a:lnTo>
                <a:cubicBezTo>
                  <a:pt x="936625" y="208035"/>
                  <a:pt x="922410" y="222250"/>
                  <a:pt x="90487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12" name="Text 10"/>
          <p:cNvSpPr/>
          <p:nvPr/>
        </p:nvSpPr>
        <p:spPr>
          <a:xfrm>
            <a:off x="571500" y="1905000"/>
            <a:ext cx="992188" cy="22225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morning person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68648" y="1936750"/>
            <a:ext cx="500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早起的人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2159000"/>
            <a:ext cx="2794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与night owl（夜猫子）相对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99569" y="1809750"/>
            <a:ext cx="2928938" cy="603250"/>
          </a:xfrm>
          <a:custGeom>
            <a:avLst/>
            <a:gdLst/>
            <a:ahLst/>
            <a:cxnLst/>
            <a:rect l="l" t="t" r="r" b="b"/>
            <a:pathLst>
              <a:path w="2928938" h="603250">
                <a:moveTo>
                  <a:pt x="63498" y="0"/>
                </a:moveTo>
                <a:lnTo>
                  <a:pt x="2865439" y="0"/>
                </a:lnTo>
                <a:cubicBezTo>
                  <a:pt x="2900508" y="0"/>
                  <a:pt x="2928938" y="28429"/>
                  <a:pt x="2928938" y="63498"/>
                </a:cubicBezTo>
                <a:lnTo>
                  <a:pt x="2928938" y="539752"/>
                </a:lnTo>
                <a:cubicBezTo>
                  <a:pt x="2928938" y="574821"/>
                  <a:pt x="2900508" y="603250"/>
                  <a:pt x="286543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3594819" y="1905000"/>
            <a:ext cx="730250" cy="222250"/>
          </a:xfrm>
          <a:custGeom>
            <a:avLst/>
            <a:gdLst/>
            <a:ahLst/>
            <a:cxnLst/>
            <a:rect l="l" t="t" r="r" b="b"/>
            <a:pathLst>
              <a:path w="730250" h="222250">
                <a:moveTo>
                  <a:pt x="31751" y="0"/>
                </a:moveTo>
                <a:lnTo>
                  <a:pt x="698499" y="0"/>
                </a:lnTo>
                <a:cubicBezTo>
                  <a:pt x="716035" y="0"/>
                  <a:pt x="730250" y="14215"/>
                  <a:pt x="730250" y="31751"/>
                </a:cubicBezTo>
                <a:lnTo>
                  <a:pt x="730250" y="190499"/>
                </a:lnTo>
                <a:cubicBezTo>
                  <a:pt x="730250" y="208035"/>
                  <a:pt x="716035" y="222250"/>
                  <a:pt x="69849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17" name="Text 15"/>
          <p:cNvSpPr/>
          <p:nvPr/>
        </p:nvSpPr>
        <p:spPr>
          <a:xfrm>
            <a:off x="3594819" y="1905000"/>
            <a:ext cx="785813" cy="22225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productivity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810" y="1936750"/>
            <a:ext cx="388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生产力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94819" y="2159000"/>
            <a:ext cx="2794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强调早晨对效率的影响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6250" y="2508250"/>
            <a:ext cx="2928938" cy="603250"/>
          </a:xfrm>
          <a:custGeom>
            <a:avLst/>
            <a:gdLst/>
            <a:ahLst/>
            <a:cxnLst/>
            <a:rect l="l" t="t" r="r" b="b"/>
            <a:pathLst>
              <a:path w="2928938" h="603250">
                <a:moveTo>
                  <a:pt x="63498" y="0"/>
                </a:moveTo>
                <a:lnTo>
                  <a:pt x="2865439" y="0"/>
                </a:lnTo>
                <a:cubicBezTo>
                  <a:pt x="2900508" y="0"/>
                  <a:pt x="2928938" y="28429"/>
                  <a:pt x="2928938" y="63498"/>
                </a:cubicBezTo>
                <a:lnTo>
                  <a:pt x="2928938" y="539752"/>
                </a:lnTo>
                <a:cubicBezTo>
                  <a:pt x="2928938" y="574821"/>
                  <a:pt x="2900508" y="603250"/>
                  <a:pt x="286543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571500" y="2603500"/>
            <a:ext cx="492125" cy="222250"/>
          </a:xfrm>
          <a:custGeom>
            <a:avLst/>
            <a:gdLst/>
            <a:ahLst/>
            <a:cxnLst/>
            <a:rect l="l" t="t" r="r" b="b"/>
            <a:pathLst>
              <a:path w="492125" h="222250">
                <a:moveTo>
                  <a:pt x="31751" y="0"/>
                </a:moveTo>
                <a:lnTo>
                  <a:pt x="460374" y="0"/>
                </a:lnTo>
                <a:cubicBezTo>
                  <a:pt x="477910" y="0"/>
                  <a:pt x="492125" y="14215"/>
                  <a:pt x="492125" y="31751"/>
                </a:cubicBezTo>
                <a:lnTo>
                  <a:pt x="492125" y="190499"/>
                </a:lnTo>
                <a:cubicBezTo>
                  <a:pt x="492125" y="208035"/>
                  <a:pt x="477910" y="222250"/>
                  <a:pt x="46037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22" name="Text 20"/>
          <p:cNvSpPr/>
          <p:nvPr/>
        </p:nvSpPr>
        <p:spPr>
          <a:xfrm>
            <a:off x="571500" y="2603500"/>
            <a:ext cx="547688" cy="22225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routine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23156" y="2635250"/>
            <a:ext cx="500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日常惯例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" y="2857500"/>
            <a:ext cx="2794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描述固定早晨流程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99569" y="2508250"/>
            <a:ext cx="2928938" cy="603250"/>
          </a:xfrm>
          <a:custGeom>
            <a:avLst/>
            <a:gdLst/>
            <a:ahLst/>
            <a:cxnLst/>
            <a:rect l="l" t="t" r="r" b="b"/>
            <a:pathLst>
              <a:path w="2928938" h="603250">
                <a:moveTo>
                  <a:pt x="63498" y="0"/>
                </a:moveTo>
                <a:lnTo>
                  <a:pt x="2865439" y="0"/>
                </a:lnTo>
                <a:cubicBezTo>
                  <a:pt x="2900508" y="0"/>
                  <a:pt x="2928938" y="28429"/>
                  <a:pt x="2928938" y="63498"/>
                </a:cubicBezTo>
                <a:lnTo>
                  <a:pt x="2928938" y="539752"/>
                </a:lnTo>
                <a:cubicBezTo>
                  <a:pt x="2928938" y="574821"/>
                  <a:pt x="2900508" y="603250"/>
                  <a:pt x="286543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3594819" y="2603500"/>
            <a:ext cx="595313" cy="222250"/>
          </a:xfrm>
          <a:custGeom>
            <a:avLst/>
            <a:gdLst/>
            <a:ahLst/>
            <a:cxnLst/>
            <a:rect l="l" t="t" r="r" b="b"/>
            <a:pathLst>
              <a:path w="595313" h="222250">
                <a:moveTo>
                  <a:pt x="31751" y="0"/>
                </a:moveTo>
                <a:lnTo>
                  <a:pt x="563562" y="0"/>
                </a:lnTo>
                <a:cubicBezTo>
                  <a:pt x="581097" y="0"/>
                  <a:pt x="595313" y="14215"/>
                  <a:pt x="595313" y="31751"/>
                </a:cubicBezTo>
                <a:lnTo>
                  <a:pt x="595313" y="190499"/>
                </a:lnTo>
                <a:cubicBezTo>
                  <a:pt x="595313" y="208035"/>
                  <a:pt x="581097" y="222250"/>
                  <a:pt x="56356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27" name="Text 25"/>
          <p:cNvSpPr/>
          <p:nvPr/>
        </p:nvSpPr>
        <p:spPr>
          <a:xfrm>
            <a:off x="3594819" y="2603500"/>
            <a:ext cx="650875" cy="22225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stretches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55864" y="2635250"/>
            <a:ext cx="500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拉伸运动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594819" y="2857500"/>
            <a:ext cx="2794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比exercise更具体、自然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6250" y="3206750"/>
            <a:ext cx="2928938" cy="603250"/>
          </a:xfrm>
          <a:custGeom>
            <a:avLst/>
            <a:gdLst/>
            <a:ahLst/>
            <a:cxnLst/>
            <a:rect l="l" t="t" r="r" b="b"/>
            <a:pathLst>
              <a:path w="2928938" h="603250">
                <a:moveTo>
                  <a:pt x="63498" y="0"/>
                </a:moveTo>
                <a:lnTo>
                  <a:pt x="2865439" y="0"/>
                </a:lnTo>
                <a:cubicBezTo>
                  <a:pt x="2900508" y="0"/>
                  <a:pt x="2928938" y="28429"/>
                  <a:pt x="2928938" y="63498"/>
                </a:cubicBezTo>
                <a:lnTo>
                  <a:pt x="2928938" y="539752"/>
                </a:lnTo>
                <a:cubicBezTo>
                  <a:pt x="2928938" y="574821"/>
                  <a:pt x="2900508" y="603250"/>
                  <a:pt x="286543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571500" y="3302000"/>
            <a:ext cx="476250" cy="222250"/>
          </a:xfrm>
          <a:custGeom>
            <a:avLst/>
            <a:gdLst/>
            <a:ahLst/>
            <a:cxnLst/>
            <a:rect l="l" t="t" r="r" b="b"/>
            <a:pathLst>
              <a:path w="476250" h="222250">
                <a:moveTo>
                  <a:pt x="31751" y="0"/>
                </a:moveTo>
                <a:lnTo>
                  <a:pt x="444499" y="0"/>
                </a:lnTo>
                <a:cubicBezTo>
                  <a:pt x="462035" y="0"/>
                  <a:pt x="476250" y="14215"/>
                  <a:pt x="476250" y="31751"/>
                </a:cubicBezTo>
                <a:lnTo>
                  <a:pt x="476250" y="190499"/>
                </a:lnTo>
                <a:cubicBezTo>
                  <a:pt x="476250" y="208035"/>
                  <a:pt x="462035" y="222250"/>
                  <a:pt x="44449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32" name="Text 30"/>
          <p:cNvSpPr/>
          <p:nvPr/>
        </p:nvSpPr>
        <p:spPr>
          <a:xfrm>
            <a:off x="571500" y="3302000"/>
            <a:ext cx="531813" cy="22225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golden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11746" y="3333750"/>
            <a:ext cx="500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黄金时间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1500" y="3556000"/>
            <a:ext cx="2794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比喻早晨的珍贵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99569" y="3206750"/>
            <a:ext cx="2928938" cy="603250"/>
          </a:xfrm>
          <a:custGeom>
            <a:avLst/>
            <a:gdLst/>
            <a:ahLst/>
            <a:cxnLst/>
            <a:rect l="l" t="t" r="r" b="b"/>
            <a:pathLst>
              <a:path w="2928938" h="603250">
                <a:moveTo>
                  <a:pt x="63498" y="0"/>
                </a:moveTo>
                <a:lnTo>
                  <a:pt x="2865439" y="0"/>
                </a:lnTo>
                <a:cubicBezTo>
                  <a:pt x="2900508" y="0"/>
                  <a:pt x="2928938" y="28429"/>
                  <a:pt x="2928938" y="63498"/>
                </a:cubicBezTo>
                <a:lnTo>
                  <a:pt x="2928938" y="539752"/>
                </a:lnTo>
                <a:cubicBezTo>
                  <a:pt x="2928938" y="574821"/>
                  <a:pt x="2900508" y="603250"/>
                  <a:pt x="286543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3594819" y="3302000"/>
            <a:ext cx="500063" cy="222250"/>
          </a:xfrm>
          <a:custGeom>
            <a:avLst/>
            <a:gdLst/>
            <a:ahLst/>
            <a:cxnLst/>
            <a:rect l="l" t="t" r="r" b="b"/>
            <a:pathLst>
              <a:path w="500063" h="222250">
                <a:moveTo>
                  <a:pt x="31751" y="0"/>
                </a:moveTo>
                <a:lnTo>
                  <a:pt x="468312" y="0"/>
                </a:lnTo>
                <a:cubicBezTo>
                  <a:pt x="485847" y="0"/>
                  <a:pt x="500063" y="14215"/>
                  <a:pt x="500063" y="31751"/>
                </a:cubicBezTo>
                <a:lnTo>
                  <a:pt x="500063" y="190499"/>
                </a:lnTo>
                <a:cubicBezTo>
                  <a:pt x="500063" y="208035"/>
                  <a:pt x="485847" y="222250"/>
                  <a:pt x="46831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37" name="Text 35"/>
          <p:cNvSpPr/>
          <p:nvPr/>
        </p:nvSpPr>
        <p:spPr>
          <a:xfrm>
            <a:off x="3594819" y="3302000"/>
            <a:ext cx="555625" cy="22225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chaotic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156273" y="3333750"/>
            <a:ext cx="388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混乱的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594819" y="3556000"/>
            <a:ext cx="2794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描述童年早晨的忙乱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17500" y="4111625"/>
            <a:ext cx="6270625" cy="2651125"/>
          </a:xfrm>
          <a:custGeom>
            <a:avLst/>
            <a:gdLst/>
            <a:ahLst/>
            <a:cxnLst/>
            <a:rect l="l" t="t" r="r" b="b"/>
            <a:pathLst>
              <a:path w="6270625" h="2651125">
                <a:moveTo>
                  <a:pt x="31750" y="0"/>
                </a:moveTo>
                <a:lnTo>
                  <a:pt x="6238875" y="0"/>
                </a:lnTo>
                <a:cubicBezTo>
                  <a:pt x="6256398" y="0"/>
                  <a:pt x="6270625" y="14227"/>
                  <a:pt x="6270625" y="31750"/>
                </a:cubicBezTo>
                <a:lnTo>
                  <a:pt x="6270625" y="2587631"/>
                </a:lnTo>
                <a:cubicBezTo>
                  <a:pt x="6270625" y="2622698"/>
                  <a:pt x="6242198" y="2651125"/>
                  <a:pt x="6207131" y="2651125"/>
                </a:cubicBezTo>
                <a:lnTo>
                  <a:pt x="63494" y="2651125"/>
                </a:lnTo>
                <a:cubicBezTo>
                  <a:pt x="28427" y="2651125"/>
                  <a:pt x="0" y="2622698"/>
                  <a:pt x="0" y="2587631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7500" y="4111625"/>
            <a:ext cx="6270625" cy="31750"/>
          </a:xfrm>
          <a:custGeom>
            <a:avLst/>
            <a:gdLst/>
            <a:ahLst/>
            <a:cxnLst/>
            <a:rect l="l" t="t" r="r" b="b"/>
            <a:pathLst>
              <a:path w="6270625" h="31750">
                <a:moveTo>
                  <a:pt x="31750" y="0"/>
                </a:moveTo>
                <a:lnTo>
                  <a:pt x="6238875" y="0"/>
                </a:lnTo>
                <a:cubicBezTo>
                  <a:pt x="6256398" y="0"/>
                  <a:pt x="6270625" y="14227"/>
                  <a:pt x="6270625" y="31750"/>
                </a:cubicBezTo>
                <a:lnTo>
                  <a:pt x="62706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42" name="Shape 40"/>
          <p:cNvSpPr/>
          <p:nvPr/>
        </p:nvSpPr>
        <p:spPr>
          <a:xfrm>
            <a:off x="476250" y="4286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43" name="Shape 41"/>
          <p:cNvSpPr/>
          <p:nvPr/>
        </p:nvSpPr>
        <p:spPr>
          <a:xfrm>
            <a:off x="577453" y="439737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9062" y="44648"/>
                </a:moveTo>
                <a:cubicBezTo>
                  <a:pt x="119062" y="74786"/>
                  <a:pt x="92397" y="99219"/>
                  <a:pt x="59531" y="99219"/>
                </a:cubicBezTo>
                <a:cubicBezTo>
                  <a:pt x="51253" y="99219"/>
                  <a:pt x="43377" y="97668"/>
                  <a:pt x="36215" y="94878"/>
                </a:cubicBezTo>
                <a:lnTo>
                  <a:pt x="10914" y="108272"/>
                </a:lnTo>
                <a:cubicBezTo>
                  <a:pt x="8031" y="109792"/>
                  <a:pt x="4496" y="109265"/>
                  <a:pt x="2170" y="106970"/>
                </a:cubicBezTo>
                <a:cubicBezTo>
                  <a:pt x="-155" y="104676"/>
                  <a:pt x="-682" y="101110"/>
                  <a:pt x="868" y="98227"/>
                </a:cubicBezTo>
                <a:lnTo>
                  <a:pt x="11906" y="77391"/>
                </a:lnTo>
                <a:cubicBezTo>
                  <a:pt x="4434" y="68275"/>
                  <a:pt x="0" y="56927"/>
                  <a:pt x="0" y="44648"/>
                </a:cubicBezTo>
                <a:cubicBezTo>
                  <a:pt x="0" y="14511"/>
                  <a:pt x="26665" y="-9922"/>
                  <a:pt x="59531" y="-9922"/>
                </a:cubicBezTo>
                <a:cubicBezTo>
                  <a:pt x="92397" y="-9922"/>
                  <a:pt x="119062" y="14511"/>
                  <a:pt x="119062" y="44648"/>
                </a:cubicBezTo>
                <a:close/>
                <a:moveTo>
                  <a:pt x="119062" y="158750"/>
                </a:moveTo>
                <a:cubicBezTo>
                  <a:pt x="89886" y="158750"/>
                  <a:pt x="65608" y="139495"/>
                  <a:pt x="60523" y="114102"/>
                </a:cubicBezTo>
                <a:cubicBezTo>
                  <a:pt x="97730" y="113636"/>
                  <a:pt x="130070" y="87157"/>
                  <a:pt x="133635" y="51253"/>
                </a:cubicBezTo>
                <a:cubicBezTo>
                  <a:pt x="159463" y="57206"/>
                  <a:pt x="178594" y="78631"/>
                  <a:pt x="178594" y="104180"/>
                </a:cubicBezTo>
                <a:cubicBezTo>
                  <a:pt x="178594" y="116458"/>
                  <a:pt x="174160" y="127806"/>
                  <a:pt x="166688" y="136922"/>
                </a:cubicBezTo>
                <a:lnTo>
                  <a:pt x="177726" y="157758"/>
                </a:lnTo>
                <a:cubicBezTo>
                  <a:pt x="179245" y="160641"/>
                  <a:pt x="178718" y="164176"/>
                  <a:pt x="176423" y="166501"/>
                </a:cubicBezTo>
                <a:cubicBezTo>
                  <a:pt x="174129" y="168827"/>
                  <a:pt x="170563" y="169354"/>
                  <a:pt x="167680" y="167804"/>
                </a:cubicBezTo>
                <a:lnTo>
                  <a:pt x="142379" y="154409"/>
                </a:lnTo>
                <a:cubicBezTo>
                  <a:pt x="135217" y="157200"/>
                  <a:pt x="127341" y="158750"/>
                  <a:pt x="119062" y="1587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952500" y="4349750"/>
            <a:ext cx="857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实用短语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76250" y="4794250"/>
            <a:ext cx="2928938" cy="539750"/>
          </a:xfrm>
          <a:custGeom>
            <a:avLst/>
            <a:gdLst/>
            <a:ahLst/>
            <a:cxnLst/>
            <a:rect l="l" t="t" r="r" b="b"/>
            <a:pathLst>
              <a:path w="2928938" h="539750">
                <a:moveTo>
                  <a:pt x="63502" y="0"/>
                </a:moveTo>
                <a:lnTo>
                  <a:pt x="2865436" y="0"/>
                </a:lnTo>
                <a:cubicBezTo>
                  <a:pt x="2900507" y="0"/>
                  <a:pt x="2928937" y="28431"/>
                  <a:pt x="2928937" y="63502"/>
                </a:cubicBezTo>
                <a:lnTo>
                  <a:pt x="2928938" y="476248"/>
                </a:lnTo>
                <a:cubicBezTo>
                  <a:pt x="2928937" y="511319"/>
                  <a:pt x="2900507" y="539750"/>
                  <a:pt x="2865436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580430" y="4921250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C4A87D"/>
          </a:solidFill>
        </p:spPr>
      </p:sp>
      <p:sp>
        <p:nvSpPr>
          <p:cNvPr id="47" name="Text 45"/>
          <p:cNvSpPr/>
          <p:nvPr/>
        </p:nvSpPr>
        <p:spPr>
          <a:xfrm>
            <a:off x="773906" y="4889500"/>
            <a:ext cx="1666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a sense of calm and control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73906" y="5080000"/>
            <a:ext cx="1658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平静与掌控感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499569" y="4794250"/>
            <a:ext cx="2928938" cy="539750"/>
          </a:xfrm>
          <a:custGeom>
            <a:avLst/>
            <a:gdLst/>
            <a:ahLst/>
            <a:cxnLst/>
            <a:rect l="l" t="t" r="r" b="b"/>
            <a:pathLst>
              <a:path w="2928938" h="539750">
                <a:moveTo>
                  <a:pt x="63502" y="0"/>
                </a:moveTo>
                <a:lnTo>
                  <a:pt x="2865436" y="0"/>
                </a:lnTo>
                <a:cubicBezTo>
                  <a:pt x="2900507" y="0"/>
                  <a:pt x="2928937" y="28431"/>
                  <a:pt x="2928937" y="63502"/>
                </a:cubicBezTo>
                <a:lnTo>
                  <a:pt x="2928938" y="476248"/>
                </a:lnTo>
                <a:cubicBezTo>
                  <a:pt x="2928937" y="511319"/>
                  <a:pt x="2900507" y="539750"/>
                  <a:pt x="2865436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3603749" y="4921250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C4A87D"/>
          </a:solidFill>
        </p:spPr>
      </p:sp>
      <p:sp>
        <p:nvSpPr>
          <p:cNvPr id="51" name="Text 49"/>
          <p:cNvSpPr/>
          <p:nvPr/>
        </p:nvSpPr>
        <p:spPr>
          <a:xfrm>
            <a:off x="3797226" y="4889500"/>
            <a:ext cx="1373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hit the ground running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3797226" y="5080000"/>
            <a:ext cx="13652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立即投入工作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76250" y="5429250"/>
            <a:ext cx="2928938" cy="539750"/>
          </a:xfrm>
          <a:custGeom>
            <a:avLst/>
            <a:gdLst/>
            <a:ahLst/>
            <a:cxnLst/>
            <a:rect l="l" t="t" r="r" b="b"/>
            <a:pathLst>
              <a:path w="2928938" h="539750">
                <a:moveTo>
                  <a:pt x="63502" y="0"/>
                </a:moveTo>
                <a:lnTo>
                  <a:pt x="2865436" y="0"/>
                </a:lnTo>
                <a:cubicBezTo>
                  <a:pt x="2900507" y="0"/>
                  <a:pt x="2928937" y="28431"/>
                  <a:pt x="2928937" y="63502"/>
                </a:cubicBezTo>
                <a:lnTo>
                  <a:pt x="2928938" y="476248"/>
                </a:lnTo>
                <a:cubicBezTo>
                  <a:pt x="2928937" y="511319"/>
                  <a:pt x="2900507" y="539750"/>
                  <a:pt x="2865436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580430" y="5556250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C4A87D"/>
          </a:solidFill>
        </p:spPr>
      </p:sp>
      <p:sp>
        <p:nvSpPr>
          <p:cNvPr id="55" name="Text 53"/>
          <p:cNvSpPr/>
          <p:nvPr/>
        </p:nvSpPr>
        <p:spPr>
          <a:xfrm>
            <a:off x="773906" y="5524500"/>
            <a:ext cx="1063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ease into the day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73906" y="5715000"/>
            <a:ext cx="1055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从容开始一天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499569" y="5429250"/>
            <a:ext cx="2928938" cy="539750"/>
          </a:xfrm>
          <a:custGeom>
            <a:avLst/>
            <a:gdLst/>
            <a:ahLst/>
            <a:cxnLst/>
            <a:rect l="l" t="t" r="r" b="b"/>
            <a:pathLst>
              <a:path w="2928938" h="539750">
                <a:moveTo>
                  <a:pt x="63502" y="0"/>
                </a:moveTo>
                <a:lnTo>
                  <a:pt x="2865436" y="0"/>
                </a:lnTo>
                <a:cubicBezTo>
                  <a:pt x="2900507" y="0"/>
                  <a:pt x="2928937" y="28431"/>
                  <a:pt x="2928937" y="63502"/>
                </a:cubicBezTo>
                <a:lnTo>
                  <a:pt x="2928938" y="476248"/>
                </a:lnTo>
                <a:cubicBezTo>
                  <a:pt x="2928937" y="511319"/>
                  <a:pt x="2900507" y="539750"/>
                  <a:pt x="2865436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3603749" y="5556250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C4A87D"/>
          </a:solidFill>
        </p:spPr>
      </p:sp>
      <p:sp>
        <p:nvSpPr>
          <p:cNvPr id="59" name="Text 57"/>
          <p:cNvSpPr/>
          <p:nvPr/>
        </p:nvSpPr>
        <p:spPr>
          <a:xfrm>
            <a:off x="3797226" y="5524500"/>
            <a:ext cx="1127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set a positive tone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797226" y="5715000"/>
            <a:ext cx="1119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设定积极基调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76250" y="6064250"/>
            <a:ext cx="2928938" cy="539750"/>
          </a:xfrm>
          <a:custGeom>
            <a:avLst/>
            <a:gdLst/>
            <a:ahLst/>
            <a:cxnLst/>
            <a:rect l="l" t="t" r="r" b="b"/>
            <a:pathLst>
              <a:path w="2928938" h="539750">
                <a:moveTo>
                  <a:pt x="63502" y="0"/>
                </a:moveTo>
                <a:lnTo>
                  <a:pt x="2865436" y="0"/>
                </a:lnTo>
                <a:cubicBezTo>
                  <a:pt x="2900507" y="0"/>
                  <a:pt x="2928937" y="28431"/>
                  <a:pt x="2928937" y="63502"/>
                </a:cubicBezTo>
                <a:lnTo>
                  <a:pt x="2928938" y="476248"/>
                </a:lnTo>
                <a:cubicBezTo>
                  <a:pt x="2928937" y="511319"/>
                  <a:pt x="2900507" y="539750"/>
                  <a:pt x="2865436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62" name="Shape 60"/>
          <p:cNvSpPr/>
          <p:nvPr/>
        </p:nvSpPr>
        <p:spPr>
          <a:xfrm>
            <a:off x="580430" y="6191250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C4A87D"/>
          </a:solidFill>
        </p:spPr>
      </p:sp>
      <p:sp>
        <p:nvSpPr>
          <p:cNvPr id="63" name="Text 61"/>
          <p:cNvSpPr/>
          <p:nvPr/>
        </p:nvSpPr>
        <p:spPr>
          <a:xfrm>
            <a:off x="773906" y="6159500"/>
            <a:ext cx="1873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The difference is night and day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73906" y="6350000"/>
            <a:ext cx="1865312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天壤之别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499569" y="6064250"/>
            <a:ext cx="2928938" cy="539750"/>
          </a:xfrm>
          <a:custGeom>
            <a:avLst/>
            <a:gdLst/>
            <a:ahLst/>
            <a:cxnLst/>
            <a:rect l="l" t="t" r="r" b="b"/>
            <a:pathLst>
              <a:path w="2928938" h="539750">
                <a:moveTo>
                  <a:pt x="63502" y="0"/>
                </a:moveTo>
                <a:lnTo>
                  <a:pt x="2865436" y="0"/>
                </a:lnTo>
                <a:cubicBezTo>
                  <a:pt x="2900507" y="0"/>
                  <a:pt x="2928937" y="28431"/>
                  <a:pt x="2928937" y="63502"/>
                </a:cubicBezTo>
                <a:lnTo>
                  <a:pt x="2928938" y="476248"/>
                </a:lnTo>
                <a:cubicBezTo>
                  <a:pt x="2928937" y="511319"/>
                  <a:pt x="2900507" y="539750"/>
                  <a:pt x="2865436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3603749" y="6191250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C4A87D"/>
          </a:solidFill>
        </p:spPr>
      </p:sp>
      <p:sp>
        <p:nvSpPr>
          <p:cNvPr id="67" name="Text 65"/>
          <p:cNvSpPr/>
          <p:nvPr/>
        </p:nvSpPr>
        <p:spPr>
          <a:xfrm>
            <a:off x="3797226" y="6159500"/>
            <a:ext cx="841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sleep in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3797226" y="6350000"/>
            <a:ext cx="833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睡懒觉（周末）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745263" y="1127125"/>
            <a:ext cx="5127625" cy="4159250"/>
          </a:xfrm>
          <a:custGeom>
            <a:avLst/>
            <a:gdLst/>
            <a:ahLst/>
            <a:cxnLst/>
            <a:rect l="l" t="t" r="r" b="b"/>
            <a:pathLst>
              <a:path w="5127625" h="4159250">
                <a:moveTo>
                  <a:pt x="31750" y="0"/>
                </a:moveTo>
                <a:lnTo>
                  <a:pt x="5095875" y="0"/>
                </a:lnTo>
                <a:cubicBezTo>
                  <a:pt x="5113398" y="0"/>
                  <a:pt x="5127625" y="14227"/>
                  <a:pt x="5127625" y="31750"/>
                </a:cubicBezTo>
                <a:lnTo>
                  <a:pt x="5127625" y="4095738"/>
                </a:lnTo>
                <a:cubicBezTo>
                  <a:pt x="5127625" y="4130815"/>
                  <a:pt x="5099190" y="4159250"/>
                  <a:pt x="5064113" y="4159250"/>
                </a:cubicBezTo>
                <a:lnTo>
                  <a:pt x="63512" y="4159250"/>
                </a:lnTo>
                <a:cubicBezTo>
                  <a:pt x="28435" y="4159250"/>
                  <a:pt x="0" y="4130815"/>
                  <a:pt x="0" y="40957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745263" y="1127125"/>
            <a:ext cx="5127625" cy="31750"/>
          </a:xfrm>
          <a:custGeom>
            <a:avLst/>
            <a:gdLst/>
            <a:ahLst/>
            <a:cxnLst/>
            <a:rect l="l" t="t" r="r" b="b"/>
            <a:pathLst>
              <a:path w="5127625" h="31750">
                <a:moveTo>
                  <a:pt x="31750" y="0"/>
                </a:moveTo>
                <a:lnTo>
                  <a:pt x="5095875" y="0"/>
                </a:lnTo>
                <a:cubicBezTo>
                  <a:pt x="5113398" y="0"/>
                  <a:pt x="5127625" y="14227"/>
                  <a:pt x="5127625" y="31750"/>
                </a:cubicBezTo>
                <a:lnTo>
                  <a:pt x="51276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71" name="Shape 69"/>
          <p:cNvSpPr/>
          <p:nvPr/>
        </p:nvSpPr>
        <p:spPr>
          <a:xfrm>
            <a:off x="6904013" y="130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72" name="Shape 70"/>
          <p:cNvSpPr/>
          <p:nvPr/>
        </p:nvSpPr>
        <p:spPr>
          <a:xfrm>
            <a:off x="7025060" y="141287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3" name="Text 71"/>
          <p:cNvSpPr/>
          <p:nvPr/>
        </p:nvSpPr>
        <p:spPr>
          <a:xfrm>
            <a:off x="7380263" y="1365250"/>
            <a:ext cx="666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语料库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904013" y="1748790"/>
            <a:ext cx="4810125" cy="587375"/>
          </a:xfrm>
          <a:custGeom>
            <a:avLst/>
            <a:gdLst/>
            <a:ahLst/>
            <a:cxnLst/>
            <a:rect l="l" t="t" r="r" b="b"/>
            <a:pathLst>
              <a:path w="4810125" h="587375">
                <a:moveTo>
                  <a:pt x="63501" y="0"/>
                </a:moveTo>
                <a:lnTo>
                  <a:pt x="4746624" y="0"/>
                </a:lnTo>
                <a:cubicBezTo>
                  <a:pt x="4781695" y="0"/>
                  <a:pt x="4810125" y="28430"/>
                  <a:pt x="4810125" y="63501"/>
                </a:cubicBezTo>
                <a:lnTo>
                  <a:pt x="4810125" y="523874"/>
                </a:lnTo>
                <a:cubicBezTo>
                  <a:pt x="4810125" y="558945"/>
                  <a:pt x="4781695" y="587375"/>
                  <a:pt x="4746624" y="587375"/>
                </a:cubicBezTo>
                <a:lnTo>
                  <a:pt x="63501" y="587375"/>
                </a:lnTo>
                <a:cubicBezTo>
                  <a:pt x="28430" y="587375"/>
                  <a:pt x="0" y="558945"/>
                  <a:pt x="0" y="523874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75" name="Text 73"/>
          <p:cNvSpPr/>
          <p:nvPr/>
        </p:nvSpPr>
        <p:spPr>
          <a:xfrm>
            <a:off x="6999263" y="1767840"/>
            <a:ext cx="4683125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"I'm definitely a morning person/night owl."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999263" y="2005965"/>
            <a:ext cx="4675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直接表明早起偏好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904013" y="2431415"/>
            <a:ext cx="4810125" cy="587375"/>
          </a:xfrm>
          <a:custGeom>
            <a:avLst/>
            <a:gdLst/>
            <a:ahLst/>
            <a:cxnLst/>
            <a:rect l="l" t="t" r="r" b="b"/>
            <a:pathLst>
              <a:path w="4810125" h="587375">
                <a:moveTo>
                  <a:pt x="63501" y="0"/>
                </a:moveTo>
                <a:lnTo>
                  <a:pt x="4746624" y="0"/>
                </a:lnTo>
                <a:cubicBezTo>
                  <a:pt x="4781695" y="0"/>
                  <a:pt x="4810125" y="28430"/>
                  <a:pt x="4810125" y="63501"/>
                </a:cubicBezTo>
                <a:lnTo>
                  <a:pt x="4810125" y="523874"/>
                </a:lnTo>
                <a:cubicBezTo>
                  <a:pt x="4810125" y="558945"/>
                  <a:pt x="4781695" y="587375"/>
                  <a:pt x="4746624" y="587375"/>
                </a:cubicBezTo>
                <a:lnTo>
                  <a:pt x="63501" y="587375"/>
                </a:lnTo>
                <a:cubicBezTo>
                  <a:pt x="28430" y="587375"/>
                  <a:pt x="0" y="558945"/>
                  <a:pt x="0" y="523874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78" name="Text 76"/>
          <p:cNvSpPr/>
          <p:nvPr/>
        </p:nvSpPr>
        <p:spPr>
          <a:xfrm>
            <a:off x="6999263" y="2267585"/>
            <a:ext cx="4683125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"Waking up early gives me a head start."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999263" y="2505710"/>
            <a:ext cx="4675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早起带来先发优势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904013" y="3114040"/>
            <a:ext cx="4810125" cy="587375"/>
          </a:xfrm>
          <a:custGeom>
            <a:avLst/>
            <a:gdLst/>
            <a:ahLst/>
            <a:cxnLst/>
            <a:rect l="l" t="t" r="r" b="b"/>
            <a:pathLst>
              <a:path w="4810125" h="587375">
                <a:moveTo>
                  <a:pt x="63501" y="0"/>
                </a:moveTo>
                <a:lnTo>
                  <a:pt x="4746624" y="0"/>
                </a:lnTo>
                <a:cubicBezTo>
                  <a:pt x="4781695" y="0"/>
                  <a:pt x="4810125" y="28430"/>
                  <a:pt x="4810125" y="63501"/>
                </a:cubicBezTo>
                <a:lnTo>
                  <a:pt x="4810125" y="523874"/>
                </a:lnTo>
                <a:cubicBezTo>
                  <a:pt x="4810125" y="558945"/>
                  <a:pt x="4781695" y="587375"/>
                  <a:pt x="4746624" y="587375"/>
                </a:cubicBezTo>
                <a:lnTo>
                  <a:pt x="63501" y="587375"/>
                </a:lnTo>
                <a:cubicBezTo>
                  <a:pt x="28430" y="587375"/>
                  <a:pt x="0" y="558945"/>
                  <a:pt x="0" y="523874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81" name="Text 79"/>
          <p:cNvSpPr/>
          <p:nvPr/>
        </p:nvSpPr>
        <p:spPr>
          <a:xfrm>
            <a:off x="6999263" y="2752090"/>
            <a:ext cx="4683125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"My morning routine is pretty fixed."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999263" y="2990215"/>
            <a:ext cx="4675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描述固定早晨流程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904013" y="3796665"/>
            <a:ext cx="4810125" cy="587375"/>
          </a:xfrm>
          <a:custGeom>
            <a:avLst/>
            <a:gdLst/>
            <a:ahLst/>
            <a:cxnLst/>
            <a:rect l="l" t="t" r="r" b="b"/>
            <a:pathLst>
              <a:path w="4810125" h="587375">
                <a:moveTo>
                  <a:pt x="63501" y="0"/>
                </a:moveTo>
                <a:lnTo>
                  <a:pt x="4746624" y="0"/>
                </a:lnTo>
                <a:cubicBezTo>
                  <a:pt x="4781695" y="0"/>
                  <a:pt x="4810125" y="28430"/>
                  <a:pt x="4810125" y="63501"/>
                </a:cubicBezTo>
                <a:lnTo>
                  <a:pt x="4810125" y="523874"/>
                </a:lnTo>
                <a:cubicBezTo>
                  <a:pt x="4810125" y="558945"/>
                  <a:pt x="4781695" y="587375"/>
                  <a:pt x="4746624" y="587375"/>
                </a:cubicBezTo>
                <a:lnTo>
                  <a:pt x="63501" y="587375"/>
                </a:lnTo>
                <a:cubicBezTo>
                  <a:pt x="28430" y="587375"/>
                  <a:pt x="0" y="558945"/>
                  <a:pt x="0" y="523874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84" name="Text 82"/>
          <p:cNvSpPr/>
          <p:nvPr/>
        </p:nvSpPr>
        <p:spPr>
          <a:xfrm>
            <a:off x="6999263" y="3236595"/>
            <a:ext cx="4683125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"Now it's about intention; before it was about obligation."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6999263" y="3474720"/>
            <a:ext cx="4675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今昔对比核心表达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6904013" y="4540250"/>
            <a:ext cx="4810125" cy="587375"/>
          </a:xfrm>
          <a:custGeom>
            <a:avLst/>
            <a:gdLst/>
            <a:ahLst/>
            <a:cxnLst/>
            <a:rect l="l" t="t" r="r" b="b"/>
            <a:pathLst>
              <a:path w="4810125" h="587375">
                <a:moveTo>
                  <a:pt x="63501" y="0"/>
                </a:moveTo>
                <a:lnTo>
                  <a:pt x="4746624" y="0"/>
                </a:lnTo>
                <a:cubicBezTo>
                  <a:pt x="4781695" y="0"/>
                  <a:pt x="4810125" y="28430"/>
                  <a:pt x="4810125" y="63501"/>
                </a:cubicBezTo>
                <a:lnTo>
                  <a:pt x="4810125" y="523874"/>
                </a:lnTo>
                <a:cubicBezTo>
                  <a:pt x="4810125" y="558945"/>
                  <a:pt x="4781695" y="587375"/>
                  <a:pt x="4746624" y="587375"/>
                </a:cubicBezTo>
                <a:lnTo>
                  <a:pt x="63501" y="587375"/>
                </a:lnTo>
                <a:cubicBezTo>
                  <a:pt x="28430" y="587375"/>
                  <a:pt x="0" y="558945"/>
                  <a:pt x="0" y="523874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87" name="Text 85"/>
          <p:cNvSpPr/>
          <p:nvPr/>
        </p:nvSpPr>
        <p:spPr>
          <a:xfrm>
            <a:off x="6999263" y="3705860"/>
            <a:ext cx="4683125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"Weekdays are for efficiency; weekends are for leisure."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6999263" y="3943985"/>
            <a:ext cx="4675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工作日vs周末对比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6821170" y="4395470"/>
            <a:ext cx="5127625" cy="2177415"/>
          </a:xfrm>
          <a:custGeom>
            <a:avLst/>
            <a:gdLst/>
            <a:ahLst/>
            <a:cxnLst/>
            <a:rect l="l" t="t" r="r" b="b"/>
            <a:pathLst>
              <a:path w="5127625" h="2032000">
                <a:moveTo>
                  <a:pt x="63500" y="0"/>
                </a:moveTo>
                <a:lnTo>
                  <a:pt x="5064125" y="0"/>
                </a:lnTo>
                <a:cubicBezTo>
                  <a:pt x="5099172" y="0"/>
                  <a:pt x="5127625" y="28453"/>
                  <a:pt x="5127625" y="63500"/>
                </a:cubicBezTo>
                <a:lnTo>
                  <a:pt x="5127625" y="1968500"/>
                </a:lnTo>
                <a:cubicBezTo>
                  <a:pt x="5127625" y="2003547"/>
                  <a:pt x="5099172" y="2032000"/>
                  <a:pt x="5064125" y="2032000"/>
                </a:cubicBezTo>
                <a:lnTo>
                  <a:pt x="63500" y="2032000"/>
                </a:lnTo>
                <a:cubicBezTo>
                  <a:pt x="28453" y="2032000"/>
                  <a:pt x="0" y="2003547"/>
                  <a:pt x="0" y="1968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90" name="Shape 88"/>
          <p:cNvSpPr/>
          <p:nvPr/>
        </p:nvSpPr>
        <p:spPr>
          <a:xfrm>
            <a:off x="6980213" y="45542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91" name="Shape 89"/>
          <p:cNvSpPr/>
          <p:nvPr/>
        </p:nvSpPr>
        <p:spPr>
          <a:xfrm>
            <a:off x="7091338" y="466534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79375" y="54570"/>
                </a:moveTo>
                <a:cubicBezTo>
                  <a:pt x="73887" y="54570"/>
                  <a:pt x="69453" y="59004"/>
                  <a:pt x="69453" y="64492"/>
                </a:cubicBezTo>
                <a:cubicBezTo>
                  <a:pt x="69453" y="68616"/>
                  <a:pt x="66135" y="71934"/>
                  <a:pt x="62012" y="71934"/>
                </a:cubicBezTo>
                <a:cubicBezTo>
                  <a:pt x="57888" y="71934"/>
                  <a:pt x="54570" y="68616"/>
                  <a:pt x="54570" y="64492"/>
                </a:cubicBezTo>
                <a:cubicBezTo>
                  <a:pt x="54570" y="50788"/>
                  <a:pt x="65670" y="39688"/>
                  <a:pt x="79375" y="39688"/>
                </a:cubicBezTo>
                <a:cubicBezTo>
                  <a:pt x="93080" y="39688"/>
                  <a:pt x="104180" y="50788"/>
                  <a:pt x="104180" y="64492"/>
                </a:cubicBezTo>
                <a:cubicBezTo>
                  <a:pt x="104180" y="79127"/>
                  <a:pt x="93018" y="85328"/>
                  <a:pt x="86816" y="87592"/>
                </a:cubicBezTo>
                <a:lnTo>
                  <a:pt x="86816" y="88770"/>
                </a:lnTo>
                <a:cubicBezTo>
                  <a:pt x="86816" y="92894"/>
                  <a:pt x="83499" y="96211"/>
                  <a:pt x="79375" y="96211"/>
                </a:cubicBezTo>
                <a:cubicBezTo>
                  <a:pt x="75251" y="96211"/>
                  <a:pt x="71934" y="92894"/>
                  <a:pt x="71934" y="88770"/>
                </a:cubicBezTo>
                <a:lnTo>
                  <a:pt x="71934" y="86258"/>
                </a:lnTo>
                <a:cubicBezTo>
                  <a:pt x="71934" y="79902"/>
                  <a:pt x="76522" y="75344"/>
                  <a:pt x="81266" y="73794"/>
                </a:cubicBezTo>
                <a:cubicBezTo>
                  <a:pt x="83251" y="73143"/>
                  <a:pt x="85359" y="72089"/>
                  <a:pt x="86909" y="70600"/>
                </a:cubicBezTo>
                <a:cubicBezTo>
                  <a:pt x="88243" y="69298"/>
                  <a:pt x="89297" y="67500"/>
                  <a:pt x="89297" y="64523"/>
                </a:cubicBezTo>
                <a:cubicBezTo>
                  <a:pt x="89297" y="59035"/>
                  <a:pt x="84863" y="54601"/>
                  <a:pt x="79375" y="54601"/>
                </a:cubicBezTo>
                <a:close/>
                <a:moveTo>
                  <a:pt x="69453" y="114102"/>
                </a:moveTo>
                <a:cubicBezTo>
                  <a:pt x="69453" y="108626"/>
                  <a:pt x="73899" y="104180"/>
                  <a:pt x="79375" y="104180"/>
                </a:cubicBezTo>
                <a:cubicBezTo>
                  <a:pt x="84851" y="104180"/>
                  <a:pt x="89297" y="108626"/>
                  <a:pt x="89297" y="114102"/>
                </a:cubicBezTo>
                <a:cubicBezTo>
                  <a:pt x="89297" y="119578"/>
                  <a:pt x="84851" y="124023"/>
                  <a:pt x="79375" y="124023"/>
                </a:cubicBezTo>
                <a:cubicBezTo>
                  <a:pt x="73899" y="124023"/>
                  <a:pt x="69453" y="119578"/>
                  <a:pt x="69453" y="11410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92" name="Text 90"/>
          <p:cNvSpPr/>
          <p:nvPr/>
        </p:nvSpPr>
        <p:spPr>
          <a:xfrm>
            <a:off x="7456463" y="4617720"/>
            <a:ext cx="115887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5个核心小题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6980213" y="50622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94" name="Text 92"/>
          <p:cNvSpPr/>
          <p:nvPr/>
        </p:nvSpPr>
        <p:spPr>
          <a:xfrm>
            <a:off x="6952431" y="5062220"/>
            <a:ext cx="246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7234213" y="5062220"/>
            <a:ext cx="1730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Do you like getting up early?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6980213" y="53162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97" name="Text 95"/>
          <p:cNvSpPr/>
          <p:nvPr/>
        </p:nvSpPr>
        <p:spPr>
          <a:xfrm>
            <a:off x="6952431" y="5316220"/>
            <a:ext cx="246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98" name="Text 96"/>
          <p:cNvSpPr/>
          <p:nvPr/>
        </p:nvSpPr>
        <p:spPr>
          <a:xfrm>
            <a:off x="7234213" y="5316220"/>
            <a:ext cx="2373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What do you usually do in the morning?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6980213" y="55702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100" name="Text 98"/>
          <p:cNvSpPr/>
          <p:nvPr/>
        </p:nvSpPr>
        <p:spPr>
          <a:xfrm>
            <a:off x="6952431" y="5570220"/>
            <a:ext cx="246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01" name="Text 99"/>
          <p:cNvSpPr/>
          <p:nvPr/>
        </p:nvSpPr>
        <p:spPr>
          <a:xfrm>
            <a:off x="7234213" y="5570220"/>
            <a:ext cx="2301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What did you do when you were little?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6980213" y="58242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103" name="Text 101"/>
          <p:cNvSpPr/>
          <p:nvPr/>
        </p:nvSpPr>
        <p:spPr>
          <a:xfrm>
            <a:off x="6952431" y="5824220"/>
            <a:ext cx="246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7234213" y="5824220"/>
            <a:ext cx="2159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Differences between now and past?</a:t>
            </a:r>
            <a:endParaRPr lang="en-US" sz="1600" dirty="0"/>
          </a:p>
        </p:txBody>
      </p:sp>
      <p:sp>
        <p:nvSpPr>
          <p:cNvPr id="105" name="Shape 103"/>
          <p:cNvSpPr/>
          <p:nvPr/>
        </p:nvSpPr>
        <p:spPr>
          <a:xfrm>
            <a:off x="6980213" y="60782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106" name="Text 104"/>
          <p:cNvSpPr/>
          <p:nvPr/>
        </p:nvSpPr>
        <p:spPr>
          <a:xfrm>
            <a:off x="6952431" y="6078220"/>
            <a:ext cx="246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</a:t>
            </a:r>
            <a:endParaRPr lang="en-US" sz="1600" dirty="0"/>
          </a:p>
        </p:txBody>
      </p:sp>
      <p:sp>
        <p:nvSpPr>
          <p:cNvPr id="107" name="Text 105"/>
          <p:cNvSpPr/>
          <p:nvPr/>
        </p:nvSpPr>
        <p:spPr>
          <a:xfrm>
            <a:off x="7234213" y="6078220"/>
            <a:ext cx="1500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Weekends vs weekdays?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TOPIC 02 · TEACHING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Morning time 早晨时光 | 答题思路与高分答案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207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4A87D"/>
          </a:solidFill>
        </p:spPr>
      </p:sp>
      <p:sp>
        <p:nvSpPr>
          <p:cNvPr id="5" name="Shape 3"/>
          <p:cNvSpPr/>
          <p:nvPr/>
        </p:nvSpPr>
        <p:spPr>
          <a:xfrm>
            <a:off x="317500" y="1031875"/>
            <a:ext cx="3786188" cy="2762250"/>
          </a:xfrm>
          <a:custGeom>
            <a:avLst/>
            <a:gdLst/>
            <a:ahLst/>
            <a:cxnLst/>
            <a:rect l="l" t="t" r="r" b="b"/>
            <a:pathLst>
              <a:path w="3786188" h="2762250">
                <a:moveTo>
                  <a:pt x="31750" y="0"/>
                </a:moveTo>
                <a:lnTo>
                  <a:pt x="3754438" y="0"/>
                </a:lnTo>
                <a:cubicBezTo>
                  <a:pt x="3771961" y="0"/>
                  <a:pt x="3786188" y="14227"/>
                  <a:pt x="3786188" y="31750"/>
                </a:cubicBezTo>
                <a:lnTo>
                  <a:pt x="3786188" y="2698746"/>
                </a:lnTo>
                <a:cubicBezTo>
                  <a:pt x="3786188" y="2733818"/>
                  <a:pt x="3757756" y="2762250"/>
                  <a:pt x="3722683" y="2762250"/>
                </a:cubicBezTo>
                <a:lnTo>
                  <a:pt x="63504" y="2762250"/>
                </a:lnTo>
                <a:cubicBezTo>
                  <a:pt x="28432" y="2762250"/>
                  <a:pt x="0" y="2733818"/>
                  <a:pt x="0" y="269874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7500" y="1031875"/>
            <a:ext cx="3786188" cy="31750"/>
          </a:xfrm>
          <a:custGeom>
            <a:avLst/>
            <a:gdLst/>
            <a:ahLst/>
            <a:cxnLst/>
            <a:rect l="l" t="t" r="r" b="b"/>
            <a:pathLst>
              <a:path w="3786188" h="31750">
                <a:moveTo>
                  <a:pt x="31750" y="0"/>
                </a:moveTo>
                <a:lnTo>
                  <a:pt x="3754438" y="0"/>
                </a:lnTo>
                <a:cubicBezTo>
                  <a:pt x="3771961" y="0"/>
                  <a:pt x="3786188" y="14227"/>
                  <a:pt x="3786188" y="31750"/>
                </a:cubicBezTo>
                <a:lnTo>
                  <a:pt x="3786188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7" name="Shape 5"/>
          <p:cNvSpPr/>
          <p:nvPr/>
        </p:nvSpPr>
        <p:spPr>
          <a:xfrm>
            <a:off x="412750" y="11906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8" name="Text 6"/>
          <p:cNvSpPr/>
          <p:nvPr/>
        </p:nvSpPr>
        <p:spPr>
          <a:xfrm>
            <a:off x="377031" y="1190625"/>
            <a:ext cx="38893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3750" y="1143000"/>
            <a:ext cx="658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早起偏好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3750" y="1365250"/>
            <a:ext cx="650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观点+原因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2750" y="1619250"/>
            <a:ext cx="3595688" cy="539750"/>
          </a:xfrm>
          <a:custGeom>
            <a:avLst/>
            <a:gdLst/>
            <a:ahLst/>
            <a:cxnLst/>
            <a:rect l="l" t="t" r="r" b="b"/>
            <a:pathLst>
              <a:path w="3595688" h="539750">
                <a:moveTo>
                  <a:pt x="63502" y="0"/>
                </a:moveTo>
                <a:lnTo>
                  <a:pt x="3532186" y="0"/>
                </a:lnTo>
                <a:cubicBezTo>
                  <a:pt x="3567257" y="0"/>
                  <a:pt x="3595688" y="28431"/>
                  <a:pt x="3595688" y="63502"/>
                </a:cubicBezTo>
                <a:lnTo>
                  <a:pt x="3595688" y="476248"/>
                </a:lnTo>
                <a:cubicBezTo>
                  <a:pt x="3595687" y="511319"/>
                  <a:pt x="3567257" y="539750"/>
                  <a:pt x="3532186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476250" y="1682750"/>
            <a:ext cx="3532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答题思路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250" y="1905000"/>
            <a:ext cx="3532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明确给出观点，并立即用好处或原因来支撑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0688" y="2222500"/>
            <a:ext cx="3587750" cy="873125"/>
          </a:xfrm>
          <a:custGeom>
            <a:avLst/>
            <a:gdLst/>
            <a:ahLst/>
            <a:cxnLst/>
            <a:rect l="l" t="t" r="r" b="b"/>
            <a:pathLst>
              <a:path w="3587750" h="873125">
                <a:moveTo>
                  <a:pt x="15875" y="0"/>
                </a:moveTo>
                <a:lnTo>
                  <a:pt x="3524248" y="0"/>
                </a:lnTo>
                <a:cubicBezTo>
                  <a:pt x="3559319" y="0"/>
                  <a:pt x="3587750" y="28431"/>
                  <a:pt x="3587750" y="63502"/>
                </a:cubicBezTo>
                <a:lnTo>
                  <a:pt x="3587750" y="809623"/>
                </a:lnTo>
                <a:cubicBezTo>
                  <a:pt x="3587750" y="844694"/>
                  <a:pt x="3559319" y="873125"/>
                  <a:pt x="3524248" y="873125"/>
                </a:cubicBezTo>
                <a:lnTo>
                  <a:pt x="15875" y="873125"/>
                </a:lnTo>
                <a:cubicBezTo>
                  <a:pt x="7107" y="873125"/>
                  <a:pt x="0" y="866018"/>
                  <a:pt x="0" y="8572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20688" y="2222500"/>
            <a:ext cx="15875" cy="873125"/>
          </a:xfrm>
          <a:custGeom>
            <a:avLst/>
            <a:gdLst/>
            <a:ahLst/>
            <a:cxnLst/>
            <a:rect l="l" t="t" r="r" b="b"/>
            <a:pathLst>
              <a:path w="15875" h="873125">
                <a:moveTo>
                  <a:pt x="15875" y="0"/>
                </a:moveTo>
                <a:lnTo>
                  <a:pt x="15875" y="0"/>
                </a:lnTo>
                <a:lnTo>
                  <a:pt x="15875" y="873125"/>
                </a:lnTo>
                <a:lnTo>
                  <a:pt x="15875" y="873125"/>
                </a:lnTo>
                <a:cubicBezTo>
                  <a:pt x="7113" y="873125"/>
                  <a:pt x="0" y="866012"/>
                  <a:pt x="0" y="8572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16" name="Text 14"/>
          <p:cNvSpPr/>
          <p:nvPr/>
        </p:nvSpPr>
        <p:spPr>
          <a:xfrm>
            <a:off x="492125" y="2286000"/>
            <a:ext cx="3516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高分答案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2125" y="2508250"/>
            <a:ext cx="3516313" cy="523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Absolutely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. I'm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 morning person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. Waking up early gives me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 sense of calm and control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before the day gets busy."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0688" y="3159125"/>
            <a:ext cx="3587750" cy="539750"/>
          </a:xfrm>
          <a:custGeom>
            <a:avLst/>
            <a:gdLst/>
            <a:ahLst/>
            <a:cxnLst/>
            <a:rect l="l" t="t" r="r" b="b"/>
            <a:pathLst>
              <a:path w="3587750" h="539750">
                <a:moveTo>
                  <a:pt x="15875" y="0"/>
                </a:moveTo>
                <a:lnTo>
                  <a:pt x="3524248" y="0"/>
                </a:lnTo>
                <a:cubicBezTo>
                  <a:pt x="3559319" y="0"/>
                  <a:pt x="3587750" y="28431"/>
                  <a:pt x="3587750" y="63502"/>
                </a:cubicBezTo>
                <a:lnTo>
                  <a:pt x="3587750" y="476248"/>
                </a:lnTo>
                <a:cubicBezTo>
                  <a:pt x="3587750" y="511319"/>
                  <a:pt x="3559319" y="539750"/>
                  <a:pt x="3524248" y="539750"/>
                </a:cubicBezTo>
                <a:lnTo>
                  <a:pt x="15875" y="539750"/>
                </a:lnTo>
                <a:cubicBezTo>
                  <a:pt x="7113" y="539750"/>
                  <a:pt x="0" y="532637"/>
                  <a:pt x="0" y="523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19" name="Shape 17"/>
          <p:cNvSpPr/>
          <p:nvPr/>
        </p:nvSpPr>
        <p:spPr>
          <a:xfrm>
            <a:off x="420688" y="3159125"/>
            <a:ext cx="15875" cy="539750"/>
          </a:xfrm>
          <a:custGeom>
            <a:avLst/>
            <a:gdLst/>
            <a:ahLst/>
            <a:cxnLst/>
            <a:rect l="l" t="t" r="r" b="b"/>
            <a:pathLst>
              <a:path w="15875" h="539750">
                <a:moveTo>
                  <a:pt x="15875" y="0"/>
                </a:moveTo>
                <a:lnTo>
                  <a:pt x="15875" y="0"/>
                </a:lnTo>
                <a:lnTo>
                  <a:pt x="15875" y="539750"/>
                </a:lnTo>
                <a:lnTo>
                  <a:pt x="15875" y="539750"/>
                </a:lnTo>
                <a:cubicBezTo>
                  <a:pt x="7113" y="539750"/>
                  <a:pt x="0" y="532637"/>
                  <a:pt x="0" y="523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20" name="Text 18"/>
          <p:cNvSpPr/>
          <p:nvPr/>
        </p:nvSpPr>
        <p:spPr>
          <a:xfrm>
            <a:off x="492125" y="3222625"/>
            <a:ext cx="3516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常见问题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2125" y="3444875"/>
            <a:ext cx="3516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简单肯定/否定"Yes, I do."缺乏拓展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01542" y="1031875"/>
            <a:ext cx="3786188" cy="2762250"/>
          </a:xfrm>
          <a:custGeom>
            <a:avLst/>
            <a:gdLst/>
            <a:ahLst/>
            <a:cxnLst/>
            <a:rect l="l" t="t" r="r" b="b"/>
            <a:pathLst>
              <a:path w="3786188" h="2762250">
                <a:moveTo>
                  <a:pt x="31750" y="0"/>
                </a:moveTo>
                <a:lnTo>
                  <a:pt x="3754438" y="0"/>
                </a:lnTo>
                <a:cubicBezTo>
                  <a:pt x="3771961" y="0"/>
                  <a:pt x="3786188" y="14227"/>
                  <a:pt x="3786188" y="31750"/>
                </a:cubicBezTo>
                <a:lnTo>
                  <a:pt x="3786188" y="2698746"/>
                </a:lnTo>
                <a:cubicBezTo>
                  <a:pt x="3786188" y="2733818"/>
                  <a:pt x="3757756" y="2762250"/>
                  <a:pt x="3722683" y="2762250"/>
                </a:cubicBezTo>
                <a:lnTo>
                  <a:pt x="63504" y="2762250"/>
                </a:lnTo>
                <a:cubicBezTo>
                  <a:pt x="28432" y="2762250"/>
                  <a:pt x="0" y="2733818"/>
                  <a:pt x="0" y="269874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01542" y="1031875"/>
            <a:ext cx="3786188" cy="31750"/>
          </a:xfrm>
          <a:custGeom>
            <a:avLst/>
            <a:gdLst/>
            <a:ahLst/>
            <a:cxnLst/>
            <a:rect l="l" t="t" r="r" b="b"/>
            <a:pathLst>
              <a:path w="3786188" h="31750">
                <a:moveTo>
                  <a:pt x="31750" y="0"/>
                </a:moveTo>
                <a:lnTo>
                  <a:pt x="3754438" y="0"/>
                </a:lnTo>
                <a:cubicBezTo>
                  <a:pt x="3771961" y="0"/>
                  <a:pt x="3786188" y="14227"/>
                  <a:pt x="3786188" y="31750"/>
                </a:cubicBezTo>
                <a:lnTo>
                  <a:pt x="3786188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24" name="Shape 22"/>
          <p:cNvSpPr/>
          <p:nvPr/>
        </p:nvSpPr>
        <p:spPr>
          <a:xfrm>
            <a:off x="4296792" y="11906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25" name="Text 23"/>
          <p:cNvSpPr/>
          <p:nvPr/>
        </p:nvSpPr>
        <p:spPr>
          <a:xfrm>
            <a:off x="4261073" y="1190625"/>
            <a:ext cx="38893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77792" y="1143000"/>
            <a:ext cx="912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日常流程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77792" y="1365250"/>
            <a:ext cx="904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具体环节+意义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96792" y="1619250"/>
            <a:ext cx="3595688" cy="539750"/>
          </a:xfrm>
          <a:custGeom>
            <a:avLst/>
            <a:gdLst/>
            <a:ahLst/>
            <a:cxnLst/>
            <a:rect l="l" t="t" r="r" b="b"/>
            <a:pathLst>
              <a:path w="3595688" h="539750">
                <a:moveTo>
                  <a:pt x="63502" y="0"/>
                </a:moveTo>
                <a:lnTo>
                  <a:pt x="3532186" y="0"/>
                </a:lnTo>
                <a:cubicBezTo>
                  <a:pt x="3567257" y="0"/>
                  <a:pt x="3595688" y="28431"/>
                  <a:pt x="3595688" y="63502"/>
                </a:cubicBezTo>
                <a:lnTo>
                  <a:pt x="3595688" y="476248"/>
                </a:lnTo>
                <a:cubicBezTo>
                  <a:pt x="3595687" y="511319"/>
                  <a:pt x="3567257" y="539750"/>
                  <a:pt x="3532186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4360292" y="1682750"/>
            <a:ext cx="3532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答题思路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60292" y="1905000"/>
            <a:ext cx="3532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描述简短流程，并点明其目的或带来的感觉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04729" y="2222500"/>
            <a:ext cx="3587750" cy="873125"/>
          </a:xfrm>
          <a:custGeom>
            <a:avLst/>
            <a:gdLst/>
            <a:ahLst/>
            <a:cxnLst/>
            <a:rect l="l" t="t" r="r" b="b"/>
            <a:pathLst>
              <a:path w="3587750" h="873125">
                <a:moveTo>
                  <a:pt x="15875" y="0"/>
                </a:moveTo>
                <a:lnTo>
                  <a:pt x="3524248" y="0"/>
                </a:lnTo>
                <a:cubicBezTo>
                  <a:pt x="3559319" y="0"/>
                  <a:pt x="3587750" y="28431"/>
                  <a:pt x="3587750" y="63502"/>
                </a:cubicBezTo>
                <a:lnTo>
                  <a:pt x="3587750" y="809623"/>
                </a:lnTo>
                <a:cubicBezTo>
                  <a:pt x="3587750" y="844694"/>
                  <a:pt x="3559319" y="873125"/>
                  <a:pt x="3524248" y="873125"/>
                </a:cubicBezTo>
                <a:lnTo>
                  <a:pt x="15875" y="873125"/>
                </a:lnTo>
                <a:cubicBezTo>
                  <a:pt x="7107" y="873125"/>
                  <a:pt x="0" y="866018"/>
                  <a:pt x="0" y="8572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4304729" y="2222500"/>
            <a:ext cx="15875" cy="873125"/>
          </a:xfrm>
          <a:custGeom>
            <a:avLst/>
            <a:gdLst/>
            <a:ahLst/>
            <a:cxnLst/>
            <a:rect l="l" t="t" r="r" b="b"/>
            <a:pathLst>
              <a:path w="15875" h="873125">
                <a:moveTo>
                  <a:pt x="15875" y="0"/>
                </a:moveTo>
                <a:lnTo>
                  <a:pt x="15875" y="0"/>
                </a:lnTo>
                <a:lnTo>
                  <a:pt x="15875" y="873125"/>
                </a:lnTo>
                <a:lnTo>
                  <a:pt x="15875" y="873125"/>
                </a:lnTo>
                <a:cubicBezTo>
                  <a:pt x="7113" y="873125"/>
                  <a:pt x="0" y="866012"/>
                  <a:pt x="0" y="8572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33" name="Text 31"/>
          <p:cNvSpPr/>
          <p:nvPr/>
        </p:nvSpPr>
        <p:spPr>
          <a:xfrm>
            <a:off x="4376167" y="2286000"/>
            <a:ext cx="3516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高分答案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376167" y="2508250"/>
            <a:ext cx="3516313" cy="523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"After a light breakfast, I'll spend 15 minutes planning my day and then do some stretches. This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sets a positive tone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and helps me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ease into the day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."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04729" y="3159125"/>
            <a:ext cx="3587750" cy="539750"/>
          </a:xfrm>
          <a:custGeom>
            <a:avLst/>
            <a:gdLst/>
            <a:ahLst/>
            <a:cxnLst/>
            <a:rect l="l" t="t" r="r" b="b"/>
            <a:pathLst>
              <a:path w="3587750" h="539750">
                <a:moveTo>
                  <a:pt x="15875" y="0"/>
                </a:moveTo>
                <a:lnTo>
                  <a:pt x="3524248" y="0"/>
                </a:lnTo>
                <a:cubicBezTo>
                  <a:pt x="3559319" y="0"/>
                  <a:pt x="3587750" y="28431"/>
                  <a:pt x="3587750" y="63502"/>
                </a:cubicBezTo>
                <a:lnTo>
                  <a:pt x="3587750" y="476248"/>
                </a:lnTo>
                <a:cubicBezTo>
                  <a:pt x="3587750" y="511319"/>
                  <a:pt x="3559319" y="539750"/>
                  <a:pt x="3524248" y="539750"/>
                </a:cubicBezTo>
                <a:lnTo>
                  <a:pt x="15875" y="539750"/>
                </a:lnTo>
                <a:cubicBezTo>
                  <a:pt x="7113" y="539750"/>
                  <a:pt x="0" y="532637"/>
                  <a:pt x="0" y="523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36" name="Shape 34"/>
          <p:cNvSpPr/>
          <p:nvPr/>
        </p:nvSpPr>
        <p:spPr>
          <a:xfrm>
            <a:off x="4304729" y="3159125"/>
            <a:ext cx="15875" cy="539750"/>
          </a:xfrm>
          <a:custGeom>
            <a:avLst/>
            <a:gdLst/>
            <a:ahLst/>
            <a:cxnLst/>
            <a:rect l="l" t="t" r="r" b="b"/>
            <a:pathLst>
              <a:path w="15875" h="539750">
                <a:moveTo>
                  <a:pt x="15875" y="0"/>
                </a:moveTo>
                <a:lnTo>
                  <a:pt x="15875" y="0"/>
                </a:lnTo>
                <a:lnTo>
                  <a:pt x="15875" y="539750"/>
                </a:lnTo>
                <a:lnTo>
                  <a:pt x="15875" y="539750"/>
                </a:lnTo>
                <a:cubicBezTo>
                  <a:pt x="7113" y="539750"/>
                  <a:pt x="0" y="532637"/>
                  <a:pt x="0" y="523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37" name="Text 35"/>
          <p:cNvSpPr/>
          <p:nvPr/>
        </p:nvSpPr>
        <p:spPr>
          <a:xfrm>
            <a:off x="4376167" y="3222625"/>
            <a:ext cx="3516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常见问题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376167" y="3444875"/>
            <a:ext cx="3516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流水账式列举，缺乏意义阐释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85584" y="1031875"/>
            <a:ext cx="3786188" cy="2762250"/>
          </a:xfrm>
          <a:custGeom>
            <a:avLst/>
            <a:gdLst/>
            <a:ahLst/>
            <a:cxnLst/>
            <a:rect l="l" t="t" r="r" b="b"/>
            <a:pathLst>
              <a:path w="3786188" h="2762250">
                <a:moveTo>
                  <a:pt x="31750" y="0"/>
                </a:moveTo>
                <a:lnTo>
                  <a:pt x="3754438" y="0"/>
                </a:lnTo>
                <a:cubicBezTo>
                  <a:pt x="3771961" y="0"/>
                  <a:pt x="3786188" y="14227"/>
                  <a:pt x="3786188" y="31750"/>
                </a:cubicBezTo>
                <a:lnTo>
                  <a:pt x="3786188" y="2698746"/>
                </a:lnTo>
                <a:cubicBezTo>
                  <a:pt x="3786188" y="2733818"/>
                  <a:pt x="3757756" y="2762250"/>
                  <a:pt x="3722683" y="2762250"/>
                </a:cubicBezTo>
                <a:lnTo>
                  <a:pt x="63504" y="2762250"/>
                </a:lnTo>
                <a:cubicBezTo>
                  <a:pt x="28432" y="2762250"/>
                  <a:pt x="0" y="2733818"/>
                  <a:pt x="0" y="269874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85584" y="1031875"/>
            <a:ext cx="3786188" cy="31750"/>
          </a:xfrm>
          <a:custGeom>
            <a:avLst/>
            <a:gdLst/>
            <a:ahLst/>
            <a:cxnLst/>
            <a:rect l="l" t="t" r="r" b="b"/>
            <a:pathLst>
              <a:path w="3786188" h="31750">
                <a:moveTo>
                  <a:pt x="31750" y="0"/>
                </a:moveTo>
                <a:lnTo>
                  <a:pt x="3754438" y="0"/>
                </a:lnTo>
                <a:cubicBezTo>
                  <a:pt x="3771961" y="0"/>
                  <a:pt x="3786188" y="14227"/>
                  <a:pt x="3786188" y="31750"/>
                </a:cubicBezTo>
                <a:lnTo>
                  <a:pt x="3786188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41" name="Shape 39"/>
          <p:cNvSpPr/>
          <p:nvPr/>
        </p:nvSpPr>
        <p:spPr>
          <a:xfrm>
            <a:off x="8180834" y="11906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42" name="Text 40"/>
          <p:cNvSpPr/>
          <p:nvPr/>
        </p:nvSpPr>
        <p:spPr>
          <a:xfrm>
            <a:off x="8145115" y="1190625"/>
            <a:ext cx="38893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61834" y="1143000"/>
            <a:ext cx="1039812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童年回忆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61834" y="1365250"/>
            <a:ext cx="1031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过去时态+忙乱感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80834" y="1619250"/>
            <a:ext cx="3595688" cy="539750"/>
          </a:xfrm>
          <a:custGeom>
            <a:avLst/>
            <a:gdLst/>
            <a:ahLst/>
            <a:cxnLst/>
            <a:rect l="l" t="t" r="r" b="b"/>
            <a:pathLst>
              <a:path w="3595688" h="539750">
                <a:moveTo>
                  <a:pt x="63502" y="0"/>
                </a:moveTo>
                <a:lnTo>
                  <a:pt x="3532186" y="0"/>
                </a:lnTo>
                <a:cubicBezTo>
                  <a:pt x="3567257" y="0"/>
                  <a:pt x="3595688" y="28431"/>
                  <a:pt x="3595688" y="63502"/>
                </a:cubicBezTo>
                <a:lnTo>
                  <a:pt x="3595688" y="476248"/>
                </a:lnTo>
                <a:cubicBezTo>
                  <a:pt x="3595687" y="511319"/>
                  <a:pt x="3567257" y="539750"/>
                  <a:pt x="3532186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8244334" y="1682750"/>
            <a:ext cx="3532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答题思路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44334" y="1905000"/>
            <a:ext cx="3532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对比过去与现在，突出"被动安排"与"主动选择"的区别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188771" y="2222500"/>
            <a:ext cx="3587750" cy="873125"/>
          </a:xfrm>
          <a:custGeom>
            <a:avLst/>
            <a:gdLst/>
            <a:ahLst/>
            <a:cxnLst/>
            <a:rect l="l" t="t" r="r" b="b"/>
            <a:pathLst>
              <a:path w="3587750" h="873125">
                <a:moveTo>
                  <a:pt x="15875" y="0"/>
                </a:moveTo>
                <a:lnTo>
                  <a:pt x="3524248" y="0"/>
                </a:lnTo>
                <a:cubicBezTo>
                  <a:pt x="3559319" y="0"/>
                  <a:pt x="3587750" y="28431"/>
                  <a:pt x="3587750" y="63502"/>
                </a:cubicBezTo>
                <a:lnTo>
                  <a:pt x="3587750" y="809623"/>
                </a:lnTo>
                <a:cubicBezTo>
                  <a:pt x="3587750" y="844694"/>
                  <a:pt x="3559319" y="873125"/>
                  <a:pt x="3524248" y="873125"/>
                </a:cubicBezTo>
                <a:lnTo>
                  <a:pt x="15875" y="873125"/>
                </a:lnTo>
                <a:cubicBezTo>
                  <a:pt x="7107" y="873125"/>
                  <a:pt x="0" y="866018"/>
                  <a:pt x="0" y="8572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8188771" y="2222500"/>
            <a:ext cx="15875" cy="873125"/>
          </a:xfrm>
          <a:custGeom>
            <a:avLst/>
            <a:gdLst/>
            <a:ahLst/>
            <a:cxnLst/>
            <a:rect l="l" t="t" r="r" b="b"/>
            <a:pathLst>
              <a:path w="15875" h="873125">
                <a:moveTo>
                  <a:pt x="15875" y="0"/>
                </a:moveTo>
                <a:lnTo>
                  <a:pt x="15875" y="0"/>
                </a:lnTo>
                <a:lnTo>
                  <a:pt x="15875" y="873125"/>
                </a:lnTo>
                <a:lnTo>
                  <a:pt x="15875" y="873125"/>
                </a:lnTo>
                <a:cubicBezTo>
                  <a:pt x="7113" y="873125"/>
                  <a:pt x="0" y="866012"/>
                  <a:pt x="0" y="8572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50" name="Text 48"/>
          <p:cNvSpPr/>
          <p:nvPr/>
        </p:nvSpPr>
        <p:spPr>
          <a:xfrm>
            <a:off x="8260209" y="2286000"/>
            <a:ext cx="3516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高分答案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260209" y="2508250"/>
            <a:ext cx="3516313" cy="523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"Oh, it was all about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rushing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. I had to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gulp down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my breakfast and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dash to catch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the school bus. It was purely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functional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."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88771" y="3159125"/>
            <a:ext cx="3587750" cy="539750"/>
          </a:xfrm>
          <a:custGeom>
            <a:avLst/>
            <a:gdLst/>
            <a:ahLst/>
            <a:cxnLst/>
            <a:rect l="l" t="t" r="r" b="b"/>
            <a:pathLst>
              <a:path w="3587750" h="539750">
                <a:moveTo>
                  <a:pt x="15875" y="0"/>
                </a:moveTo>
                <a:lnTo>
                  <a:pt x="3524248" y="0"/>
                </a:lnTo>
                <a:cubicBezTo>
                  <a:pt x="3559319" y="0"/>
                  <a:pt x="3587750" y="28431"/>
                  <a:pt x="3587750" y="63502"/>
                </a:cubicBezTo>
                <a:lnTo>
                  <a:pt x="3587750" y="476248"/>
                </a:lnTo>
                <a:cubicBezTo>
                  <a:pt x="3587750" y="511319"/>
                  <a:pt x="3559319" y="539750"/>
                  <a:pt x="3524248" y="539750"/>
                </a:cubicBezTo>
                <a:lnTo>
                  <a:pt x="15875" y="539750"/>
                </a:lnTo>
                <a:cubicBezTo>
                  <a:pt x="7113" y="539750"/>
                  <a:pt x="0" y="532637"/>
                  <a:pt x="0" y="523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53" name="Shape 51"/>
          <p:cNvSpPr/>
          <p:nvPr/>
        </p:nvSpPr>
        <p:spPr>
          <a:xfrm>
            <a:off x="8188771" y="3159125"/>
            <a:ext cx="15875" cy="539750"/>
          </a:xfrm>
          <a:custGeom>
            <a:avLst/>
            <a:gdLst/>
            <a:ahLst/>
            <a:cxnLst/>
            <a:rect l="l" t="t" r="r" b="b"/>
            <a:pathLst>
              <a:path w="15875" h="539750">
                <a:moveTo>
                  <a:pt x="15875" y="0"/>
                </a:moveTo>
                <a:lnTo>
                  <a:pt x="15875" y="0"/>
                </a:lnTo>
                <a:lnTo>
                  <a:pt x="15875" y="539750"/>
                </a:lnTo>
                <a:lnTo>
                  <a:pt x="15875" y="539750"/>
                </a:lnTo>
                <a:cubicBezTo>
                  <a:pt x="7113" y="539750"/>
                  <a:pt x="0" y="532637"/>
                  <a:pt x="0" y="523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54" name="Text 52"/>
          <p:cNvSpPr/>
          <p:nvPr/>
        </p:nvSpPr>
        <p:spPr>
          <a:xfrm>
            <a:off x="8260209" y="3222625"/>
            <a:ext cx="3516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常见问题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260209" y="3444875"/>
            <a:ext cx="3516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时态混乱，或与现在答案雷同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17500" y="3873500"/>
            <a:ext cx="5730875" cy="2984500"/>
          </a:xfrm>
          <a:custGeom>
            <a:avLst/>
            <a:gdLst/>
            <a:ahLst/>
            <a:cxnLst/>
            <a:rect l="l" t="t" r="r" b="b"/>
            <a:pathLst>
              <a:path w="5730875" h="2984500">
                <a:moveTo>
                  <a:pt x="31750" y="0"/>
                </a:moveTo>
                <a:lnTo>
                  <a:pt x="5699125" y="0"/>
                </a:lnTo>
                <a:cubicBezTo>
                  <a:pt x="5716660" y="0"/>
                  <a:pt x="5730875" y="14215"/>
                  <a:pt x="5730875" y="31750"/>
                </a:cubicBezTo>
                <a:lnTo>
                  <a:pt x="5730875" y="2920990"/>
                </a:lnTo>
                <a:cubicBezTo>
                  <a:pt x="5730875" y="2956066"/>
                  <a:pt x="5702441" y="2984500"/>
                  <a:pt x="5667365" y="2984500"/>
                </a:cubicBezTo>
                <a:lnTo>
                  <a:pt x="63510" y="2984500"/>
                </a:lnTo>
                <a:cubicBezTo>
                  <a:pt x="28434" y="2984500"/>
                  <a:pt x="0" y="2956066"/>
                  <a:pt x="0" y="292099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17500" y="3873500"/>
            <a:ext cx="5730875" cy="31750"/>
          </a:xfrm>
          <a:custGeom>
            <a:avLst/>
            <a:gdLst/>
            <a:ahLst/>
            <a:cxnLst/>
            <a:rect l="l" t="t" r="r" b="b"/>
            <a:pathLst>
              <a:path w="5730875" h="31750">
                <a:moveTo>
                  <a:pt x="31750" y="0"/>
                </a:moveTo>
                <a:lnTo>
                  <a:pt x="5699125" y="0"/>
                </a:lnTo>
                <a:cubicBezTo>
                  <a:pt x="5716648" y="0"/>
                  <a:pt x="5730875" y="14227"/>
                  <a:pt x="5730875" y="31750"/>
                </a:cubicBezTo>
                <a:lnTo>
                  <a:pt x="573087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58" name="Shape 56"/>
          <p:cNvSpPr/>
          <p:nvPr/>
        </p:nvSpPr>
        <p:spPr>
          <a:xfrm>
            <a:off x="412750" y="4032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59" name="Text 57"/>
          <p:cNvSpPr/>
          <p:nvPr/>
        </p:nvSpPr>
        <p:spPr>
          <a:xfrm>
            <a:off x="377031" y="4032250"/>
            <a:ext cx="38893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Q4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93750" y="3984625"/>
            <a:ext cx="1166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今昔对比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93750" y="4206875"/>
            <a:ext cx="1158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对比结构+核心变化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12750" y="4460875"/>
            <a:ext cx="5540375" cy="539750"/>
          </a:xfrm>
          <a:custGeom>
            <a:avLst/>
            <a:gdLst/>
            <a:ahLst/>
            <a:cxnLst/>
            <a:rect l="l" t="t" r="r" b="b"/>
            <a:pathLst>
              <a:path w="5540375" h="539750">
                <a:moveTo>
                  <a:pt x="63502" y="0"/>
                </a:moveTo>
                <a:lnTo>
                  <a:pt x="5476873" y="0"/>
                </a:lnTo>
                <a:cubicBezTo>
                  <a:pt x="5511944" y="0"/>
                  <a:pt x="5540375" y="28431"/>
                  <a:pt x="5540375" y="63502"/>
                </a:cubicBezTo>
                <a:lnTo>
                  <a:pt x="5540375" y="476248"/>
                </a:lnTo>
                <a:cubicBezTo>
                  <a:pt x="5540375" y="511319"/>
                  <a:pt x="5511944" y="539750"/>
                  <a:pt x="5476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63" name="Text 61"/>
          <p:cNvSpPr/>
          <p:nvPr/>
        </p:nvSpPr>
        <p:spPr>
          <a:xfrm>
            <a:off x="476250" y="4524375"/>
            <a:ext cx="5476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答题思路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76250" y="4746625"/>
            <a:ext cx="5476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直接对比，突出核心变化（从被动到主动，从外部要求到内在需求）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20688" y="5064125"/>
            <a:ext cx="5532438" cy="873125"/>
          </a:xfrm>
          <a:custGeom>
            <a:avLst/>
            <a:gdLst/>
            <a:ahLst/>
            <a:cxnLst/>
            <a:rect l="l" t="t" r="r" b="b"/>
            <a:pathLst>
              <a:path w="5532438" h="873125">
                <a:moveTo>
                  <a:pt x="15875" y="0"/>
                </a:moveTo>
                <a:lnTo>
                  <a:pt x="5468935" y="0"/>
                </a:lnTo>
                <a:cubicBezTo>
                  <a:pt x="5504007" y="0"/>
                  <a:pt x="5532437" y="28431"/>
                  <a:pt x="5532437" y="63502"/>
                </a:cubicBezTo>
                <a:lnTo>
                  <a:pt x="5532438" y="809623"/>
                </a:lnTo>
                <a:cubicBezTo>
                  <a:pt x="5532437" y="844694"/>
                  <a:pt x="5504007" y="873125"/>
                  <a:pt x="5468935" y="873125"/>
                </a:cubicBezTo>
                <a:lnTo>
                  <a:pt x="15875" y="873125"/>
                </a:lnTo>
                <a:cubicBezTo>
                  <a:pt x="7107" y="873125"/>
                  <a:pt x="0" y="866018"/>
                  <a:pt x="0" y="8572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420688" y="5064125"/>
            <a:ext cx="15875" cy="873125"/>
          </a:xfrm>
          <a:custGeom>
            <a:avLst/>
            <a:gdLst/>
            <a:ahLst/>
            <a:cxnLst/>
            <a:rect l="l" t="t" r="r" b="b"/>
            <a:pathLst>
              <a:path w="15875" h="873125">
                <a:moveTo>
                  <a:pt x="15875" y="0"/>
                </a:moveTo>
                <a:lnTo>
                  <a:pt x="15875" y="0"/>
                </a:lnTo>
                <a:lnTo>
                  <a:pt x="15875" y="873125"/>
                </a:lnTo>
                <a:lnTo>
                  <a:pt x="15875" y="873125"/>
                </a:lnTo>
                <a:cubicBezTo>
                  <a:pt x="7113" y="873125"/>
                  <a:pt x="0" y="866012"/>
                  <a:pt x="0" y="8572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67" name="Text 65"/>
          <p:cNvSpPr/>
          <p:nvPr/>
        </p:nvSpPr>
        <p:spPr>
          <a:xfrm>
            <a:off x="492125" y="5127625"/>
            <a:ext cx="5461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高分答案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492125" y="5349875"/>
            <a:ext cx="5461000" cy="523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The difference is night and day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. Now, my morning is about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intention and self-care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. I choose activities that center me, whereas before, it was just a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mad dash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to meet external schedules."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20688" y="6000750"/>
            <a:ext cx="5532438" cy="762000"/>
          </a:xfrm>
          <a:custGeom>
            <a:avLst/>
            <a:gdLst/>
            <a:ahLst/>
            <a:cxnLst/>
            <a:rect l="l" t="t" r="r" b="b"/>
            <a:pathLst>
              <a:path w="5532438" h="762000">
                <a:moveTo>
                  <a:pt x="15875" y="0"/>
                </a:moveTo>
                <a:lnTo>
                  <a:pt x="5468940" y="0"/>
                </a:lnTo>
                <a:cubicBezTo>
                  <a:pt x="5504009" y="0"/>
                  <a:pt x="5532437" y="28429"/>
                  <a:pt x="5532437" y="63497"/>
                </a:cubicBezTo>
                <a:lnTo>
                  <a:pt x="5532438" y="698503"/>
                </a:lnTo>
                <a:cubicBezTo>
                  <a:pt x="5532437" y="733571"/>
                  <a:pt x="5504009" y="762000"/>
                  <a:pt x="5468940" y="762000"/>
                </a:cubicBezTo>
                <a:lnTo>
                  <a:pt x="15875" y="762000"/>
                </a:lnTo>
                <a:cubicBezTo>
                  <a:pt x="7107" y="762000"/>
                  <a:pt x="0" y="754893"/>
                  <a:pt x="0" y="74612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70" name="Shape 68"/>
          <p:cNvSpPr/>
          <p:nvPr/>
        </p:nvSpPr>
        <p:spPr>
          <a:xfrm>
            <a:off x="420688" y="6000750"/>
            <a:ext cx="15875" cy="762000"/>
          </a:xfrm>
          <a:custGeom>
            <a:avLst/>
            <a:gdLst/>
            <a:ahLst/>
            <a:cxnLst/>
            <a:rect l="l" t="t" r="r" b="b"/>
            <a:pathLst>
              <a:path w="15875" h="762000">
                <a:moveTo>
                  <a:pt x="15875" y="0"/>
                </a:moveTo>
                <a:lnTo>
                  <a:pt x="15875" y="0"/>
                </a:lnTo>
                <a:lnTo>
                  <a:pt x="15875" y="762000"/>
                </a:lnTo>
                <a:lnTo>
                  <a:pt x="15875" y="762000"/>
                </a:lnTo>
                <a:cubicBezTo>
                  <a:pt x="7113" y="762000"/>
                  <a:pt x="0" y="754887"/>
                  <a:pt x="0" y="74612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71" name="Text 69"/>
          <p:cNvSpPr/>
          <p:nvPr/>
        </p:nvSpPr>
        <p:spPr>
          <a:xfrm>
            <a:off x="492125" y="6064250"/>
            <a:ext cx="5461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常见问题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492125" y="6286500"/>
            <a:ext cx="5461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简单说"Yes, different."但没有具体说明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492125" y="6508750"/>
            <a:ext cx="5461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A63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✓ 改进：明确指出最核心的一两个不同点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143625" y="3873500"/>
            <a:ext cx="5730875" cy="2984500"/>
          </a:xfrm>
          <a:custGeom>
            <a:avLst/>
            <a:gdLst/>
            <a:ahLst/>
            <a:cxnLst/>
            <a:rect l="l" t="t" r="r" b="b"/>
            <a:pathLst>
              <a:path w="5730875" h="2984500">
                <a:moveTo>
                  <a:pt x="31750" y="0"/>
                </a:moveTo>
                <a:lnTo>
                  <a:pt x="5699125" y="0"/>
                </a:lnTo>
                <a:cubicBezTo>
                  <a:pt x="5716660" y="0"/>
                  <a:pt x="5730875" y="14215"/>
                  <a:pt x="5730875" y="31750"/>
                </a:cubicBezTo>
                <a:lnTo>
                  <a:pt x="5730875" y="2920990"/>
                </a:lnTo>
                <a:cubicBezTo>
                  <a:pt x="5730875" y="2956066"/>
                  <a:pt x="5702441" y="2984500"/>
                  <a:pt x="5667365" y="2984500"/>
                </a:cubicBezTo>
                <a:lnTo>
                  <a:pt x="63510" y="2984500"/>
                </a:lnTo>
                <a:cubicBezTo>
                  <a:pt x="28434" y="2984500"/>
                  <a:pt x="0" y="2956066"/>
                  <a:pt x="0" y="292099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143625" y="3873500"/>
            <a:ext cx="5730875" cy="31750"/>
          </a:xfrm>
          <a:custGeom>
            <a:avLst/>
            <a:gdLst/>
            <a:ahLst/>
            <a:cxnLst/>
            <a:rect l="l" t="t" r="r" b="b"/>
            <a:pathLst>
              <a:path w="5730875" h="31750">
                <a:moveTo>
                  <a:pt x="31750" y="0"/>
                </a:moveTo>
                <a:lnTo>
                  <a:pt x="5699125" y="0"/>
                </a:lnTo>
                <a:cubicBezTo>
                  <a:pt x="5716648" y="0"/>
                  <a:pt x="5730875" y="14227"/>
                  <a:pt x="5730875" y="31750"/>
                </a:cubicBezTo>
                <a:lnTo>
                  <a:pt x="573087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76" name="Shape 74"/>
          <p:cNvSpPr/>
          <p:nvPr/>
        </p:nvSpPr>
        <p:spPr>
          <a:xfrm>
            <a:off x="6238875" y="4032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77" name="Text 75"/>
          <p:cNvSpPr/>
          <p:nvPr/>
        </p:nvSpPr>
        <p:spPr>
          <a:xfrm>
            <a:off x="6203156" y="4032250"/>
            <a:ext cx="38893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Q5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619875" y="3984625"/>
            <a:ext cx="1166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周末vs工作日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619875" y="4206875"/>
            <a:ext cx="1158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区分逻辑+特殊价值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238875" y="4460875"/>
            <a:ext cx="5540375" cy="539750"/>
          </a:xfrm>
          <a:custGeom>
            <a:avLst/>
            <a:gdLst/>
            <a:ahLst/>
            <a:cxnLst/>
            <a:rect l="l" t="t" r="r" b="b"/>
            <a:pathLst>
              <a:path w="5540375" h="539750">
                <a:moveTo>
                  <a:pt x="63502" y="0"/>
                </a:moveTo>
                <a:lnTo>
                  <a:pt x="5476873" y="0"/>
                </a:lnTo>
                <a:cubicBezTo>
                  <a:pt x="5511944" y="0"/>
                  <a:pt x="5540375" y="28431"/>
                  <a:pt x="5540375" y="63502"/>
                </a:cubicBezTo>
                <a:lnTo>
                  <a:pt x="5540375" y="476248"/>
                </a:lnTo>
                <a:cubicBezTo>
                  <a:pt x="5540375" y="511319"/>
                  <a:pt x="5511944" y="539750"/>
                  <a:pt x="5476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81" name="Text 79"/>
          <p:cNvSpPr/>
          <p:nvPr/>
        </p:nvSpPr>
        <p:spPr>
          <a:xfrm>
            <a:off x="6302375" y="4524375"/>
            <a:ext cx="5476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答题思路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302375" y="4746625"/>
            <a:ext cx="5476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区分两者，并解释差异背后的逻辑（工作需求 vs 休息放松）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246813" y="5064125"/>
            <a:ext cx="5532438" cy="873125"/>
          </a:xfrm>
          <a:custGeom>
            <a:avLst/>
            <a:gdLst/>
            <a:ahLst/>
            <a:cxnLst/>
            <a:rect l="l" t="t" r="r" b="b"/>
            <a:pathLst>
              <a:path w="5532438" h="873125">
                <a:moveTo>
                  <a:pt x="15875" y="0"/>
                </a:moveTo>
                <a:lnTo>
                  <a:pt x="5468935" y="0"/>
                </a:lnTo>
                <a:cubicBezTo>
                  <a:pt x="5504007" y="0"/>
                  <a:pt x="5532437" y="28431"/>
                  <a:pt x="5532437" y="63502"/>
                </a:cubicBezTo>
                <a:lnTo>
                  <a:pt x="5532438" y="809623"/>
                </a:lnTo>
                <a:cubicBezTo>
                  <a:pt x="5532437" y="844694"/>
                  <a:pt x="5504007" y="873125"/>
                  <a:pt x="5468935" y="873125"/>
                </a:cubicBezTo>
                <a:lnTo>
                  <a:pt x="15875" y="873125"/>
                </a:lnTo>
                <a:cubicBezTo>
                  <a:pt x="7107" y="873125"/>
                  <a:pt x="0" y="866018"/>
                  <a:pt x="0" y="8572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84" name="Shape 82"/>
          <p:cNvSpPr/>
          <p:nvPr/>
        </p:nvSpPr>
        <p:spPr>
          <a:xfrm>
            <a:off x="6246813" y="5064125"/>
            <a:ext cx="15875" cy="873125"/>
          </a:xfrm>
          <a:custGeom>
            <a:avLst/>
            <a:gdLst/>
            <a:ahLst/>
            <a:cxnLst/>
            <a:rect l="l" t="t" r="r" b="b"/>
            <a:pathLst>
              <a:path w="15875" h="873125">
                <a:moveTo>
                  <a:pt x="15875" y="0"/>
                </a:moveTo>
                <a:lnTo>
                  <a:pt x="15875" y="0"/>
                </a:lnTo>
                <a:lnTo>
                  <a:pt x="15875" y="873125"/>
                </a:lnTo>
                <a:lnTo>
                  <a:pt x="15875" y="873125"/>
                </a:lnTo>
                <a:cubicBezTo>
                  <a:pt x="7113" y="873125"/>
                  <a:pt x="0" y="866012"/>
                  <a:pt x="0" y="8572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85" name="Text 83"/>
          <p:cNvSpPr/>
          <p:nvPr/>
        </p:nvSpPr>
        <p:spPr>
          <a:xfrm>
            <a:off x="6318250" y="5127625"/>
            <a:ext cx="5461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高分答案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318250" y="5349875"/>
            <a:ext cx="5461000" cy="523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Not at all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. Weekday mornings are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efficient and structured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to prepare for work. Weekend mornings, however, are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sacred for slowing down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—I might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sleep in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and enjoy a long, leisurely brunch."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6246813" y="6000750"/>
            <a:ext cx="5532438" cy="762000"/>
          </a:xfrm>
          <a:custGeom>
            <a:avLst/>
            <a:gdLst/>
            <a:ahLst/>
            <a:cxnLst/>
            <a:rect l="l" t="t" r="r" b="b"/>
            <a:pathLst>
              <a:path w="5532438" h="762000">
                <a:moveTo>
                  <a:pt x="15875" y="0"/>
                </a:moveTo>
                <a:lnTo>
                  <a:pt x="5468940" y="0"/>
                </a:lnTo>
                <a:cubicBezTo>
                  <a:pt x="5504009" y="0"/>
                  <a:pt x="5532437" y="28429"/>
                  <a:pt x="5532437" y="63497"/>
                </a:cubicBezTo>
                <a:lnTo>
                  <a:pt x="5532438" y="698503"/>
                </a:lnTo>
                <a:cubicBezTo>
                  <a:pt x="5532437" y="733571"/>
                  <a:pt x="5504009" y="762000"/>
                  <a:pt x="5468940" y="762000"/>
                </a:cubicBezTo>
                <a:lnTo>
                  <a:pt x="15875" y="762000"/>
                </a:lnTo>
                <a:cubicBezTo>
                  <a:pt x="7107" y="762000"/>
                  <a:pt x="0" y="754893"/>
                  <a:pt x="0" y="74612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88" name="Shape 86"/>
          <p:cNvSpPr/>
          <p:nvPr/>
        </p:nvSpPr>
        <p:spPr>
          <a:xfrm>
            <a:off x="6246813" y="6000750"/>
            <a:ext cx="15875" cy="762000"/>
          </a:xfrm>
          <a:custGeom>
            <a:avLst/>
            <a:gdLst/>
            <a:ahLst/>
            <a:cxnLst/>
            <a:rect l="l" t="t" r="r" b="b"/>
            <a:pathLst>
              <a:path w="15875" h="762000">
                <a:moveTo>
                  <a:pt x="15875" y="0"/>
                </a:moveTo>
                <a:lnTo>
                  <a:pt x="15875" y="0"/>
                </a:lnTo>
                <a:lnTo>
                  <a:pt x="15875" y="762000"/>
                </a:lnTo>
                <a:lnTo>
                  <a:pt x="15875" y="762000"/>
                </a:lnTo>
                <a:cubicBezTo>
                  <a:pt x="7113" y="762000"/>
                  <a:pt x="0" y="754887"/>
                  <a:pt x="0" y="74612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89" name="Text 87"/>
          <p:cNvSpPr/>
          <p:nvPr/>
        </p:nvSpPr>
        <p:spPr>
          <a:xfrm>
            <a:off x="6318250" y="6064250"/>
            <a:ext cx="5461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常见问题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6318250" y="6286500"/>
            <a:ext cx="5461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只回答"不一样"，没有解释原因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6318250" y="6508750"/>
            <a:ext cx="5461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A63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✓ 改进：明确说出不同目标并解释行为差异</a:t>
            </a:r>
            <a:endParaRPr lang="en-US" sz="1600" dirty="0"/>
          </a:p>
        </p:txBody>
      </p:sp>
      <p:sp>
        <p:nvSpPr>
          <p:cNvPr id="93" name="Text 45"/>
          <p:cNvSpPr/>
          <p:nvPr/>
        </p:nvSpPr>
        <p:spPr>
          <a:xfrm>
            <a:off x="1475105" y="1099185"/>
            <a:ext cx="255587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Do you like getting up early?</a:t>
            </a:r>
            <a:endParaRPr lang="en-US" sz="1200" b="1" dirty="0">
              <a:solidFill>
                <a:srgbClr val="2C5F5D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94" name="Text 45"/>
          <p:cNvSpPr/>
          <p:nvPr/>
        </p:nvSpPr>
        <p:spPr>
          <a:xfrm>
            <a:off x="5336540" y="1114425"/>
            <a:ext cx="2923540" cy="258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What do you usually do in the moring?</a:t>
            </a:r>
            <a:endParaRPr lang="en-US" sz="1200" b="1" dirty="0">
              <a:solidFill>
                <a:srgbClr val="2C5F5D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95" name="Text 45"/>
          <p:cNvSpPr/>
          <p:nvPr/>
        </p:nvSpPr>
        <p:spPr>
          <a:xfrm>
            <a:off x="9200515" y="1114425"/>
            <a:ext cx="2923540" cy="258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What did you do when you were little?</a:t>
            </a:r>
            <a:endParaRPr lang="en-US" sz="1200" b="1" dirty="0">
              <a:solidFill>
                <a:srgbClr val="2C5F5D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96" name="Text 45"/>
          <p:cNvSpPr/>
          <p:nvPr/>
        </p:nvSpPr>
        <p:spPr>
          <a:xfrm>
            <a:off x="1444625" y="3938905"/>
            <a:ext cx="255587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Differences between now and past?</a:t>
            </a:r>
            <a:endParaRPr lang="en-US" sz="1200" b="1" dirty="0">
              <a:solidFill>
                <a:srgbClr val="2C5F5D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97" name="Text 45"/>
          <p:cNvSpPr/>
          <p:nvPr/>
        </p:nvSpPr>
        <p:spPr>
          <a:xfrm>
            <a:off x="7609840" y="3954145"/>
            <a:ext cx="255587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Weekends vs. weekdays</a:t>
            </a:r>
            <a:endParaRPr lang="en-US" sz="1200" b="1" dirty="0">
              <a:solidFill>
                <a:srgbClr val="2C5F5D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617" y="368617"/>
            <a:ext cx="11519274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kern="0" spc="102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TOPIC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8617" y="589787"/>
            <a:ext cx="11620644" cy="3686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Walking 散步 | 核心词汇与短语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8617" y="1032127"/>
            <a:ext cx="884680" cy="36862"/>
          </a:xfrm>
          <a:custGeom>
            <a:avLst/>
            <a:gdLst/>
            <a:ahLst/>
            <a:cxnLst/>
            <a:rect l="l" t="t" r="r" b="b"/>
            <a:pathLst>
              <a:path w="884680" h="36862">
                <a:moveTo>
                  <a:pt x="0" y="0"/>
                </a:moveTo>
                <a:lnTo>
                  <a:pt x="884680" y="0"/>
                </a:lnTo>
                <a:lnTo>
                  <a:pt x="884680" y="36862"/>
                </a:lnTo>
                <a:lnTo>
                  <a:pt x="0" y="36862"/>
                </a:lnTo>
                <a:lnTo>
                  <a:pt x="0" y="0"/>
                </a:lnTo>
                <a:close/>
              </a:path>
            </a:pathLst>
          </a:custGeom>
          <a:solidFill>
            <a:srgbClr val="C4A87D"/>
          </a:solidFill>
        </p:spPr>
      </p:sp>
      <p:sp>
        <p:nvSpPr>
          <p:cNvPr id="5" name="Shape 3"/>
          <p:cNvSpPr/>
          <p:nvPr/>
        </p:nvSpPr>
        <p:spPr>
          <a:xfrm>
            <a:off x="368617" y="1161143"/>
            <a:ext cx="5649052" cy="2967365"/>
          </a:xfrm>
          <a:custGeom>
            <a:avLst/>
            <a:gdLst/>
            <a:ahLst/>
            <a:cxnLst/>
            <a:rect l="l" t="t" r="r" b="b"/>
            <a:pathLst>
              <a:path w="5649052" h="2967365">
                <a:moveTo>
                  <a:pt x="36862" y="0"/>
                </a:moveTo>
                <a:lnTo>
                  <a:pt x="5612190" y="0"/>
                </a:lnTo>
                <a:cubicBezTo>
                  <a:pt x="5632549" y="0"/>
                  <a:pt x="5649052" y="16504"/>
                  <a:pt x="5649052" y="36862"/>
                </a:cubicBezTo>
                <a:lnTo>
                  <a:pt x="5649052" y="2893656"/>
                </a:lnTo>
                <a:cubicBezTo>
                  <a:pt x="5649052" y="2934364"/>
                  <a:pt x="5616051" y="2967365"/>
                  <a:pt x="5575343" y="2967365"/>
                </a:cubicBezTo>
                <a:lnTo>
                  <a:pt x="73709" y="2967365"/>
                </a:lnTo>
                <a:cubicBezTo>
                  <a:pt x="33028" y="2967365"/>
                  <a:pt x="0" y="2934337"/>
                  <a:pt x="0" y="2893656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646" dist="921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8617" y="1161143"/>
            <a:ext cx="5649052" cy="36862"/>
          </a:xfrm>
          <a:custGeom>
            <a:avLst/>
            <a:gdLst/>
            <a:ahLst/>
            <a:cxnLst/>
            <a:rect l="l" t="t" r="r" b="b"/>
            <a:pathLst>
              <a:path w="5649052" h="36862">
                <a:moveTo>
                  <a:pt x="36862" y="0"/>
                </a:moveTo>
                <a:lnTo>
                  <a:pt x="5612190" y="0"/>
                </a:lnTo>
                <a:cubicBezTo>
                  <a:pt x="5632549" y="0"/>
                  <a:pt x="5649052" y="16504"/>
                  <a:pt x="5649052" y="36862"/>
                </a:cubicBezTo>
                <a:lnTo>
                  <a:pt x="5649052" y="36862"/>
                </a:lnTo>
                <a:lnTo>
                  <a:pt x="0" y="36862"/>
                </a:ln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7" name="Shape 5"/>
          <p:cNvSpPr/>
          <p:nvPr/>
        </p:nvSpPr>
        <p:spPr>
          <a:xfrm>
            <a:off x="479202" y="1290159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368617" h="368617">
                <a:moveTo>
                  <a:pt x="73723" y="0"/>
                </a:moveTo>
                <a:lnTo>
                  <a:pt x="294893" y="0"/>
                </a:lnTo>
                <a:cubicBezTo>
                  <a:pt x="335610" y="0"/>
                  <a:pt x="368617" y="33007"/>
                  <a:pt x="368617" y="73723"/>
                </a:cubicBezTo>
                <a:lnTo>
                  <a:pt x="368617" y="294893"/>
                </a:lnTo>
                <a:cubicBezTo>
                  <a:pt x="368617" y="335610"/>
                  <a:pt x="335610" y="368617"/>
                  <a:pt x="294893" y="368617"/>
                </a:cubicBezTo>
                <a:lnTo>
                  <a:pt x="73723" y="368617"/>
                </a:lnTo>
                <a:cubicBezTo>
                  <a:pt x="33007" y="368617"/>
                  <a:pt x="0" y="335610"/>
                  <a:pt x="0" y="294893"/>
                </a:cubicBezTo>
                <a:lnTo>
                  <a:pt x="0" y="73723"/>
                </a:lnTo>
                <a:cubicBezTo>
                  <a:pt x="0" y="33034"/>
                  <a:pt x="33034" y="0"/>
                  <a:pt x="73723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8" name="Shape 6"/>
          <p:cNvSpPr/>
          <p:nvPr/>
        </p:nvSpPr>
        <p:spPr>
          <a:xfrm>
            <a:off x="603610" y="1391528"/>
            <a:ext cx="124408" cy="165878"/>
          </a:xfrm>
          <a:custGeom>
            <a:avLst/>
            <a:gdLst/>
            <a:ahLst/>
            <a:cxnLst/>
            <a:rect l="l" t="t" r="r" b="b"/>
            <a:pathLst>
              <a:path w="124408" h="165878">
                <a:moveTo>
                  <a:pt x="62204" y="25918"/>
                </a:moveTo>
                <a:cubicBezTo>
                  <a:pt x="72217" y="25918"/>
                  <a:pt x="80347" y="17789"/>
                  <a:pt x="80347" y="7776"/>
                </a:cubicBezTo>
                <a:cubicBezTo>
                  <a:pt x="80347" y="-2238"/>
                  <a:pt x="72217" y="-10367"/>
                  <a:pt x="62204" y="-10367"/>
                </a:cubicBezTo>
                <a:cubicBezTo>
                  <a:pt x="52191" y="-10367"/>
                  <a:pt x="44061" y="-2238"/>
                  <a:pt x="44061" y="7776"/>
                </a:cubicBezTo>
                <a:cubicBezTo>
                  <a:pt x="44061" y="17789"/>
                  <a:pt x="52191" y="25918"/>
                  <a:pt x="62204" y="25918"/>
                </a:cubicBezTo>
                <a:close/>
                <a:moveTo>
                  <a:pt x="34147" y="73835"/>
                </a:moveTo>
                <a:lnTo>
                  <a:pt x="41469" y="66513"/>
                </a:lnTo>
                <a:lnTo>
                  <a:pt x="41469" y="88965"/>
                </a:lnTo>
                <a:cubicBezTo>
                  <a:pt x="41469" y="98036"/>
                  <a:pt x="45422" y="106686"/>
                  <a:pt x="52323" y="112583"/>
                </a:cubicBezTo>
                <a:lnTo>
                  <a:pt x="75455" y="132410"/>
                </a:lnTo>
                <a:cubicBezTo>
                  <a:pt x="77366" y="134063"/>
                  <a:pt x="78630" y="136331"/>
                  <a:pt x="78986" y="138825"/>
                </a:cubicBezTo>
                <a:lnTo>
                  <a:pt x="83068" y="167368"/>
                </a:lnTo>
                <a:cubicBezTo>
                  <a:pt x="83878" y="173038"/>
                  <a:pt x="89127" y="176990"/>
                  <a:pt x="94796" y="176180"/>
                </a:cubicBezTo>
                <a:cubicBezTo>
                  <a:pt x="100466" y="175370"/>
                  <a:pt x="104419" y="170122"/>
                  <a:pt x="103609" y="164452"/>
                </a:cubicBezTo>
                <a:lnTo>
                  <a:pt x="99527" y="135909"/>
                </a:lnTo>
                <a:cubicBezTo>
                  <a:pt x="98457" y="128426"/>
                  <a:pt x="94699" y="121622"/>
                  <a:pt x="88965" y="116697"/>
                </a:cubicBezTo>
                <a:lnTo>
                  <a:pt x="77787" y="107108"/>
                </a:lnTo>
                <a:lnTo>
                  <a:pt x="77787" y="69785"/>
                </a:lnTo>
                <a:lnTo>
                  <a:pt x="79019" y="71308"/>
                </a:lnTo>
                <a:cubicBezTo>
                  <a:pt x="84915" y="78695"/>
                  <a:pt x="93857" y="82971"/>
                  <a:pt x="103317" y="82971"/>
                </a:cubicBezTo>
                <a:lnTo>
                  <a:pt x="114073" y="82971"/>
                </a:lnTo>
                <a:cubicBezTo>
                  <a:pt x="119808" y="82971"/>
                  <a:pt x="124441" y="78338"/>
                  <a:pt x="124441" y="72604"/>
                </a:cubicBezTo>
                <a:cubicBezTo>
                  <a:pt x="124441" y="66869"/>
                  <a:pt x="119808" y="62236"/>
                  <a:pt x="114073" y="62236"/>
                </a:cubicBezTo>
                <a:lnTo>
                  <a:pt x="103317" y="62236"/>
                </a:lnTo>
                <a:cubicBezTo>
                  <a:pt x="100174" y="62236"/>
                  <a:pt x="97194" y="60811"/>
                  <a:pt x="95218" y="58349"/>
                </a:cubicBezTo>
                <a:lnTo>
                  <a:pt x="89418" y="51092"/>
                </a:lnTo>
                <a:cubicBezTo>
                  <a:pt x="81967" y="41761"/>
                  <a:pt x="70660" y="36318"/>
                  <a:pt x="58705" y="36318"/>
                </a:cubicBezTo>
                <a:cubicBezTo>
                  <a:pt x="48273" y="36318"/>
                  <a:pt x="38262" y="40465"/>
                  <a:pt x="30908" y="47852"/>
                </a:cubicBezTo>
                <a:lnTo>
                  <a:pt x="19471" y="59159"/>
                </a:lnTo>
                <a:cubicBezTo>
                  <a:pt x="13640" y="64990"/>
                  <a:pt x="10367" y="72895"/>
                  <a:pt x="10367" y="81157"/>
                </a:cubicBezTo>
                <a:lnTo>
                  <a:pt x="10367" y="93306"/>
                </a:lnTo>
                <a:cubicBezTo>
                  <a:pt x="10367" y="99041"/>
                  <a:pt x="15000" y="103673"/>
                  <a:pt x="20735" y="103673"/>
                </a:cubicBezTo>
                <a:cubicBezTo>
                  <a:pt x="26469" y="103673"/>
                  <a:pt x="31102" y="99041"/>
                  <a:pt x="31102" y="93306"/>
                </a:cubicBezTo>
                <a:lnTo>
                  <a:pt x="31102" y="81157"/>
                </a:lnTo>
                <a:cubicBezTo>
                  <a:pt x="31102" y="78403"/>
                  <a:pt x="32204" y="75779"/>
                  <a:pt x="34147" y="73835"/>
                </a:cubicBezTo>
                <a:close/>
                <a:moveTo>
                  <a:pt x="38165" y="131957"/>
                </a:moveTo>
                <a:cubicBezTo>
                  <a:pt x="37679" y="133642"/>
                  <a:pt x="36772" y="135197"/>
                  <a:pt x="35541" y="136428"/>
                </a:cubicBezTo>
                <a:lnTo>
                  <a:pt x="13413" y="158556"/>
                </a:lnTo>
                <a:cubicBezTo>
                  <a:pt x="9363" y="162605"/>
                  <a:pt x="9363" y="169182"/>
                  <a:pt x="13413" y="173232"/>
                </a:cubicBezTo>
                <a:cubicBezTo>
                  <a:pt x="17463" y="177282"/>
                  <a:pt x="24039" y="177282"/>
                  <a:pt x="28089" y="173232"/>
                </a:cubicBezTo>
                <a:lnTo>
                  <a:pt x="50217" y="151104"/>
                </a:lnTo>
                <a:cubicBezTo>
                  <a:pt x="53943" y="147378"/>
                  <a:pt x="56664" y="142745"/>
                  <a:pt x="58122" y="137659"/>
                </a:cubicBezTo>
                <a:lnTo>
                  <a:pt x="58835" y="135197"/>
                </a:lnTo>
                <a:lnTo>
                  <a:pt x="43932" y="122432"/>
                </a:lnTo>
                <a:cubicBezTo>
                  <a:pt x="43122" y="121719"/>
                  <a:pt x="42312" y="121006"/>
                  <a:pt x="41534" y="120229"/>
                </a:cubicBezTo>
                <a:lnTo>
                  <a:pt x="38165" y="131957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921542" y="1345451"/>
            <a:ext cx="829388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核心词汇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9202" y="1732499"/>
            <a:ext cx="2681687" cy="516063"/>
          </a:xfrm>
          <a:custGeom>
            <a:avLst/>
            <a:gdLst/>
            <a:ahLst/>
            <a:cxnLst/>
            <a:rect l="l" t="t" r="r" b="b"/>
            <a:pathLst>
              <a:path w="2681687" h="516063">
                <a:moveTo>
                  <a:pt x="73725" y="0"/>
                </a:moveTo>
                <a:lnTo>
                  <a:pt x="2607962" y="0"/>
                </a:lnTo>
                <a:cubicBezTo>
                  <a:pt x="2648679" y="0"/>
                  <a:pt x="2681687" y="33008"/>
                  <a:pt x="2681687" y="73725"/>
                </a:cubicBezTo>
                <a:lnTo>
                  <a:pt x="2681687" y="442339"/>
                </a:lnTo>
                <a:cubicBezTo>
                  <a:pt x="2681687" y="483056"/>
                  <a:pt x="2648679" y="516063"/>
                  <a:pt x="2607962" y="516063"/>
                </a:cubicBezTo>
                <a:lnTo>
                  <a:pt x="73725" y="516063"/>
                </a:lnTo>
                <a:cubicBezTo>
                  <a:pt x="33008" y="516063"/>
                  <a:pt x="0" y="483056"/>
                  <a:pt x="0" y="442339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52925" y="1806222"/>
            <a:ext cx="405478" cy="184308"/>
          </a:xfrm>
          <a:custGeom>
            <a:avLst/>
            <a:gdLst/>
            <a:ahLst/>
            <a:cxnLst/>
            <a:rect l="l" t="t" r="r" b="b"/>
            <a:pathLst>
              <a:path w="405478" h="184308">
                <a:moveTo>
                  <a:pt x="36862" y="0"/>
                </a:moveTo>
                <a:lnTo>
                  <a:pt x="368617" y="0"/>
                </a:lnTo>
                <a:cubicBezTo>
                  <a:pt x="388975" y="0"/>
                  <a:pt x="405478" y="16504"/>
                  <a:pt x="405478" y="36862"/>
                </a:cubicBezTo>
                <a:lnTo>
                  <a:pt x="405478" y="147447"/>
                </a:lnTo>
                <a:cubicBezTo>
                  <a:pt x="405478" y="167805"/>
                  <a:pt x="388975" y="184308"/>
                  <a:pt x="368617" y="184308"/>
                </a:cubicBezTo>
                <a:lnTo>
                  <a:pt x="36862" y="184308"/>
                </a:lnTo>
                <a:cubicBezTo>
                  <a:pt x="16504" y="184308"/>
                  <a:pt x="0" y="167805"/>
                  <a:pt x="0" y="147447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12" name="Text 10"/>
          <p:cNvSpPr/>
          <p:nvPr/>
        </p:nvSpPr>
        <p:spPr>
          <a:xfrm>
            <a:off x="552925" y="1806222"/>
            <a:ext cx="460771" cy="184308"/>
          </a:xfrm>
          <a:prstGeom prst="rect">
            <a:avLst/>
          </a:prstGeom>
          <a:noFill/>
        </p:spPr>
        <p:txBody>
          <a:bodyPr wrap="square" lIns="73723" tIns="18431" rIns="73723" bIns="18431" rtlCol="0" anchor="ctr"/>
          <a:lstStyle/>
          <a:p>
            <a:pPr>
              <a:lnSpc>
                <a:spcPct val="110000"/>
              </a:lnSpc>
            </a:pPr>
            <a:r>
              <a:rPr lang="en-US" sz="87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habit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8527" y="1824653"/>
            <a:ext cx="276463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习惯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2925" y="2027392"/>
            <a:ext cx="2589533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描述步行频率的核心词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31444" y="1732499"/>
            <a:ext cx="2681687" cy="516063"/>
          </a:xfrm>
          <a:custGeom>
            <a:avLst/>
            <a:gdLst/>
            <a:ahLst/>
            <a:cxnLst/>
            <a:rect l="l" t="t" r="r" b="b"/>
            <a:pathLst>
              <a:path w="2681687" h="516063">
                <a:moveTo>
                  <a:pt x="73725" y="0"/>
                </a:moveTo>
                <a:lnTo>
                  <a:pt x="2607962" y="0"/>
                </a:lnTo>
                <a:cubicBezTo>
                  <a:pt x="2648679" y="0"/>
                  <a:pt x="2681687" y="33008"/>
                  <a:pt x="2681687" y="73725"/>
                </a:cubicBezTo>
                <a:lnTo>
                  <a:pt x="2681687" y="442339"/>
                </a:lnTo>
                <a:cubicBezTo>
                  <a:pt x="2681687" y="483056"/>
                  <a:pt x="2648679" y="516063"/>
                  <a:pt x="2607962" y="516063"/>
                </a:cubicBezTo>
                <a:lnTo>
                  <a:pt x="73725" y="516063"/>
                </a:lnTo>
                <a:cubicBezTo>
                  <a:pt x="33008" y="516063"/>
                  <a:pt x="0" y="483056"/>
                  <a:pt x="0" y="442339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3305168" y="1806222"/>
            <a:ext cx="1170358" cy="184308"/>
          </a:xfrm>
          <a:custGeom>
            <a:avLst/>
            <a:gdLst/>
            <a:ahLst/>
            <a:cxnLst/>
            <a:rect l="l" t="t" r="r" b="b"/>
            <a:pathLst>
              <a:path w="1170358" h="184308">
                <a:moveTo>
                  <a:pt x="36862" y="0"/>
                </a:moveTo>
                <a:lnTo>
                  <a:pt x="1133497" y="0"/>
                </a:lnTo>
                <a:cubicBezTo>
                  <a:pt x="1153855" y="0"/>
                  <a:pt x="1170358" y="16504"/>
                  <a:pt x="1170358" y="36862"/>
                </a:cubicBezTo>
                <a:lnTo>
                  <a:pt x="1170358" y="147447"/>
                </a:lnTo>
                <a:cubicBezTo>
                  <a:pt x="1170358" y="167805"/>
                  <a:pt x="1153855" y="184308"/>
                  <a:pt x="1133497" y="184308"/>
                </a:cubicBezTo>
                <a:lnTo>
                  <a:pt x="36862" y="184308"/>
                </a:lnTo>
                <a:cubicBezTo>
                  <a:pt x="16504" y="184308"/>
                  <a:pt x="0" y="167805"/>
                  <a:pt x="0" y="147447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17" name="Text 15"/>
          <p:cNvSpPr/>
          <p:nvPr/>
        </p:nvSpPr>
        <p:spPr>
          <a:xfrm>
            <a:off x="3305168" y="1806222"/>
            <a:ext cx="1225651" cy="184308"/>
          </a:xfrm>
          <a:prstGeom prst="rect">
            <a:avLst/>
          </a:prstGeom>
          <a:noFill/>
        </p:spPr>
        <p:txBody>
          <a:bodyPr wrap="square" lIns="73723" tIns="18431" rIns="73723" bIns="18431" rtlCol="0" anchor="ctr"/>
          <a:lstStyle/>
          <a:p>
            <a:pPr>
              <a:lnSpc>
                <a:spcPct val="110000"/>
              </a:lnSpc>
            </a:pPr>
            <a:r>
              <a:rPr lang="en-US" sz="87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low-impact exercise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48817" y="1824653"/>
            <a:ext cx="608218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低强度运动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05168" y="2027392"/>
            <a:ext cx="2589533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专业描述步行特点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9202" y="2322286"/>
            <a:ext cx="2681687" cy="516063"/>
          </a:xfrm>
          <a:custGeom>
            <a:avLst/>
            <a:gdLst/>
            <a:ahLst/>
            <a:cxnLst/>
            <a:rect l="l" t="t" r="r" b="b"/>
            <a:pathLst>
              <a:path w="2681687" h="516063">
                <a:moveTo>
                  <a:pt x="73725" y="0"/>
                </a:moveTo>
                <a:lnTo>
                  <a:pt x="2607962" y="0"/>
                </a:lnTo>
                <a:cubicBezTo>
                  <a:pt x="2648679" y="0"/>
                  <a:pt x="2681687" y="33008"/>
                  <a:pt x="2681687" y="73725"/>
                </a:cubicBezTo>
                <a:lnTo>
                  <a:pt x="2681687" y="442339"/>
                </a:lnTo>
                <a:cubicBezTo>
                  <a:pt x="2681687" y="483056"/>
                  <a:pt x="2648679" y="516063"/>
                  <a:pt x="2607962" y="516063"/>
                </a:cubicBezTo>
                <a:lnTo>
                  <a:pt x="73725" y="516063"/>
                </a:lnTo>
                <a:cubicBezTo>
                  <a:pt x="33008" y="516063"/>
                  <a:pt x="0" y="483056"/>
                  <a:pt x="0" y="442339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552925" y="2396009"/>
            <a:ext cx="396263" cy="184308"/>
          </a:xfrm>
          <a:custGeom>
            <a:avLst/>
            <a:gdLst/>
            <a:ahLst/>
            <a:cxnLst/>
            <a:rect l="l" t="t" r="r" b="b"/>
            <a:pathLst>
              <a:path w="396263" h="184308">
                <a:moveTo>
                  <a:pt x="36862" y="0"/>
                </a:moveTo>
                <a:lnTo>
                  <a:pt x="359401" y="0"/>
                </a:lnTo>
                <a:cubicBezTo>
                  <a:pt x="379760" y="0"/>
                  <a:pt x="396263" y="16504"/>
                  <a:pt x="396263" y="36862"/>
                </a:cubicBezTo>
                <a:lnTo>
                  <a:pt x="396263" y="147447"/>
                </a:lnTo>
                <a:cubicBezTo>
                  <a:pt x="396263" y="167805"/>
                  <a:pt x="379760" y="184308"/>
                  <a:pt x="359401" y="184308"/>
                </a:cubicBezTo>
                <a:lnTo>
                  <a:pt x="36862" y="184308"/>
                </a:lnTo>
                <a:cubicBezTo>
                  <a:pt x="16504" y="184308"/>
                  <a:pt x="0" y="167805"/>
                  <a:pt x="0" y="147447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22" name="Text 20"/>
          <p:cNvSpPr/>
          <p:nvPr/>
        </p:nvSpPr>
        <p:spPr>
          <a:xfrm>
            <a:off x="552925" y="2396009"/>
            <a:ext cx="451556" cy="184308"/>
          </a:xfrm>
          <a:prstGeom prst="rect">
            <a:avLst/>
          </a:prstGeom>
          <a:noFill/>
        </p:spPr>
        <p:txBody>
          <a:bodyPr wrap="square" lIns="73723" tIns="18431" rIns="73723" bIns="18431" rtlCol="0" anchor="ctr"/>
          <a:lstStyle/>
          <a:p>
            <a:pPr>
              <a:lnSpc>
                <a:spcPct val="110000"/>
              </a:lnSpc>
            </a:pPr>
            <a:r>
              <a:rPr lang="en-US" sz="87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stroll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3488" y="2414440"/>
            <a:ext cx="276463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漫步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2925" y="2617179"/>
            <a:ext cx="2589533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比walk更悠闲、地道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31444" y="2322286"/>
            <a:ext cx="2681687" cy="516063"/>
          </a:xfrm>
          <a:custGeom>
            <a:avLst/>
            <a:gdLst/>
            <a:ahLst/>
            <a:cxnLst/>
            <a:rect l="l" t="t" r="r" b="b"/>
            <a:pathLst>
              <a:path w="2681687" h="516063">
                <a:moveTo>
                  <a:pt x="73725" y="0"/>
                </a:moveTo>
                <a:lnTo>
                  <a:pt x="2607962" y="0"/>
                </a:lnTo>
                <a:cubicBezTo>
                  <a:pt x="2648679" y="0"/>
                  <a:pt x="2681687" y="33008"/>
                  <a:pt x="2681687" y="73725"/>
                </a:cubicBezTo>
                <a:lnTo>
                  <a:pt x="2681687" y="442339"/>
                </a:lnTo>
                <a:cubicBezTo>
                  <a:pt x="2681687" y="483056"/>
                  <a:pt x="2648679" y="516063"/>
                  <a:pt x="2607962" y="516063"/>
                </a:cubicBezTo>
                <a:lnTo>
                  <a:pt x="73725" y="516063"/>
                </a:lnTo>
                <a:cubicBezTo>
                  <a:pt x="33008" y="516063"/>
                  <a:pt x="0" y="483056"/>
                  <a:pt x="0" y="442339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3305168" y="2396009"/>
            <a:ext cx="792526" cy="184308"/>
          </a:xfrm>
          <a:custGeom>
            <a:avLst/>
            <a:gdLst/>
            <a:ahLst/>
            <a:cxnLst/>
            <a:rect l="l" t="t" r="r" b="b"/>
            <a:pathLst>
              <a:path w="792526" h="184308">
                <a:moveTo>
                  <a:pt x="36862" y="0"/>
                </a:moveTo>
                <a:lnTo>
                  <a:pt x="755664" y="0"/>
                </a:lnTo>
                <a:cubicBezTo>
                  <a:pt x="776023" y="0"/>
                  <a:pt x="792526" y="16504"/>
                  <a:pt x="792526" y="36862"/>
                </a:cubicBezTo>
                <a:lnTo>
                  <a:pt x="792526" y="147447"/>
                </a:lnTo>
                <a:cubicBezTo>
                  <a:pt x="792526" y="167805"/>
                  <a:pt x="776023" y="184308"/>
                  <a:pt x="755664" y="184308"/>
                </a:cubicBezTo>
                <a:lnTo>
                  <a:pt x="36862" y="184308"/>
                </a:lnTo>
                <a:cubicBezTo>
                  <a:pt x="16504" y="184308"/>
                  <a:pt x="0" y="167805"/>
                  <a:pt x="0" y="147447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27" name="Text 25"/>
          <p:cNvSpPr/>
          <p:nvPr/>
        </p:nvSpPr>
        <p:spPr>
          <a:xfrm>
            <a:off x="3305168" y="2396009"/>
            <a:ext cx="847819" cy="184308"/>
          </a:xfrm>
          <a:prstGeom prst="rect">
            <a:avLst/>
          </a:prstGeom>
          <a:noFill/>
        </p:spPr>
        <p:txBody>
          <a:bodyPr wrap="square" lIns="73723" tIns="18431" rIns="73723" bIns="18431" rtlCol="0" anchor="ctr"/>
          <a:lstStyle/>
          <a:p>
            <a:pPr>
              <a:lnSpc>
                <a:spcPct val="110000"/>
              </a:lnSpc>
            </a:pPr>
            <a:r>
              <a:rPr lang="en-US" sz="87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multisensory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70409" y="2414440"/>
            <a:ext cx="497633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多感官的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05168" y="2617179"/>
            <a:ext cx="2589533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高级词汇，分析公园体验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9202" y="2912073"/>
            <a:ext cx="2681687" cy="516063"/>
          </a:xfrm>
          <a:custGeom>
            <a:avLst/>
            <a:gdLst/>
            <a:ahLst/>
            <a:cxnLst/>
            <a:rect l="l" t="t" r="r" b="b"/>
            <a:pathLst>
              <a:path w="2681687" h="516063">
                <a:moveTo>
                  <a:pt x="73725" y="0"/>
                </a:moveTo>
                <a:lnTo>
                  <a:pt x="2607962" y="0"/>
                </a:lnTo>
                <a:cubicBezTo>
                  <a:pt x="2648679" y="0"/>
                  <a:pt x="2681687" y="33008"/>
                  <a:pt x="2681687" y="73725"/>
                </a:cubicBezTo>
                <a:lnTo>
                  <a:pt x="2681687" y="442339"/>
                </a:lnTo>
                <a:cubicBezTo>
                  <a:pt x="2681687" y="483056"/>
                  <a:pt x="2648679" y="516063"/>
                  <a:pt x="2607962" y="516063"/>
                </a:cubicBezTo>
                <a:lnTo>
                  <a:pt x="73725" y="516063"/>
                </a:lnTo>
                <a:cubicBezTo>
                  <a:pt x="33008" y="516063"/>
                  <a:pt x="0" y="483056"/>
                  <a:pt x="0" y="442339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552925" y="2985796"/>
            <a:ext cx="589787" cy="184308"/>
          </a:xfrm>
          <a:custGeom>
            <a:avLst/>
            <a:gdLst/>
            <a:ahLst/>
            <a:cxnLst/>
            <a:rect l="l" t="t" r="r" b="b"/>
            <a:pathLst>
              <a:path w="589787" h="184308">
                <a:moveTo>
                  <a:pt x="36862" y="0"/>
                </a:moveTo>
                <a:lnTo>
                  <a:pt x="552925" y="0"/>
                </a:lnTo>
                <a:cubicBezTo>
                  <a:pt x="573283" y="0"/>
                  <a:pt x="589787" y="16504"/>
                  <a:pt x="589787" y="36862"/>
                </a:cubicBezTo>
                <a:lnTo>
                  <a:pt x="589787" y="147447"/>
                </a:lnTo>
                <a:cubicBezTo>
                  <a:pt x="589787" y="167805"/>
                  <a:pt x="573283" y="184308"/>
                  <a:pt x="552925" y="184308"/>
                </a:cubicBezTo>
                <a:lnTo>
                  <a:pt x="36862" y="184308"/>
                </a:lnTo>
                <a:cubicBezTo>
                  <a:pt x="16504" y="184308"/>
                  <a:pt x="0" y="167805"/>
                  <a:pt x="0" y="147447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32" name="Text 30"/>
          <p:cNvSpPr/>
          <p:nvPr/>
        </p:nvSpPr>
        <p:spPr>
          <a:xfrm>
            <a:off x="552925" y="2985796"/>
            <a:ext cx="645079" cy="184308"/>
          </a:xfrm>
          <a:prstGeom prst="rect">
            <a:avLst/>
          </a:prstGeom>
          <a:noFill/>
        </p:spPr>
        <p:txBody>
          <a:bodyPr wrap="square" lIns="73723" tIns="18431" rIns="73723" bIns="18431" rtlCol="0" anchor="ctr"/>
          <a:lstStyle/>
          <a:p>
            <a:pPr>
              <a:lnSpc>
                <a:spcPct val="110000"/>
              </a:lnSpc>
            </a:pPr>
            <a:r>
              <a:rPr lang="en-US" sz="87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soothing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12116" y="3004227"/>
            <a:ext cx="387048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舒缓的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2925" y="3206966"/>
            <a:ext cx="2589533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描述自然环境的心理效果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31444" y="2912073"/>
            <a:ext cx="2681687" cy="516063"/>
          </a:xfrm>
          <a:custGeom>
            <a:avLst/>
            <a:gdLst/>
            <a:ahLst/>
            <a:cxnLst/>
            <a:rect l="l" t="t" r="r" b="b"/>
            <a:pathLst>
              <a:path w="2681687" h="516063">
                <a:moveTo>
                  <a:pt x="73725" y="0"/>
                </a:moveTo>
                <a:lnTo>
                  <a:pt x="2607962" y="0"/>
                </a:lnTo>
                <a:cubicBezTo>
                  <a:pt x="2648679" y="0"/>
                  <a:pt x="2681687" y="33008"/>
                  <a:pt x="2681687" y="73725"/>
                </a:cubicBezTo>
                <a:lnTo>
                  <a:pt x="2681687" y="442339"/>
                </a:lnTo>
                <a:cubicBezTo>
                  <a:pt x="2681687" y="483056"/>
                  <a:pt x="2648679" y="516063"/>
                  <a:pt x="2607962" y="516063"/>
                </a:cubicBezTo>
                <a:lnTo>
                  <a:pt x="73725" y="516063"/>
                </a:lnTo>
                <a:cubicBezTo>
                  <a:pt x="33008" y="516063"/>
                  <a:pt x="0" y="483056"/>
                  <a:pt x="0" y="442339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3305168" y="2985796"/>
            <a:ext cx="783311" cy="184308"/>
          </a:xfrm>
          <a:custGeom>
            <a:avLst/>
            <a:gdLst/>
            <a:ahLst/>
            <a:cxnLst/>
            <a:rect l="l" t="t" r="r" b="b"/>
            <a:pathLst>
              <a:path w="783311" h="184308">
                <a:moveTo>
                  <a:pt x="36862" y="0"/>
                </a:moveTo>
                <a:lnTo>
                  <a:pt x="746449" y="0"/>
                </a:lnTo>
                <a:cubicBezTo>
                  <a:pt x="766807" y="0"/>
                  <a:pt x="783311" y="16504"/>
                  <a:pt x="783311" y="36862"/>
                </a:cubicBezTo>
                <a:lnTo>
                  <a:pt x="783311" y="147447"/>
                </a:lnTo>
                <a:cubicBezTo>
                  <a:pt x="783311" y="167805"/>
                  <a:pt x="766807" y="184308"/>
                  <a:pt x="746449" y="184308"/>
                </a:cubicBezTo>
                <a:lnTo>
                  <a:pt x="36862" y="184308"/>
                </a:lnTo>
                <a:cubicBezTo>
                  <a:pt x="16504" y="184308"/>
                  <a:pt x="0" y="167805"/>
                  <a:pt x="0" y="147447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37" name="Text 35"/>
          <p:cNvSpPr/>
          <p:nvPr/>
        </p:nvSpPr>
        <p:spPr>
          <a:xfrm>
            <a:off x="3305168" y="2985796"/>
            <a:ext cx="838603" cy="184308"/>
          </a:xfrm>
          <a:prstGeom prst="rect">
            <a:avLst/>
          </a:prstGeom>
          <a:noFill/>
        </p:spPr>
        <p:txBody>
          <a:bodyPr wrap="square" lIns="73723" tIns="18431" rIns="73723" bIns="18431" rtlCol="0" anchor="ctr"/>
          <a:lstStyle/>
          <a:p>
            <a:pPr>
              <a:lnSpc>
                <a:spcPct val="110000"/>
              </a:lnSpc>
            </a:pPr>
            <a:r>
              <a:rPr lang="en-US" sz="87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breathtaking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166522" y="3004227"/>
            <a:ext cx="691156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breathtaking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305168" y="3206966"/>
            <a:ext cx="2589533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描述理想步行地点的壮观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79202" y="3501859"/>
            <a:ext cx="2681687" cy="516063"/>
          </a:xfrm>
          <a:custGeom>
            <a:avLst/>
            <a:gdLst/>
            <a:ahLst/>
            <a:cxnLst/>
            <a:rect l="l" t="t" r="r" b="b"/>
            <a:pathLst>
              <a:path w="2681687" h="516063">
                <a:moveTo>
                  <a:pt x="73725" y="0"/>
                </a:moveTo>
                <a:lnTo>
                  <a:pt x="2607962" y="0"/>
                </a:lnTo>
                <a:cubicBezTo>
                  <a:pt x="2648679" y="0"/>
                  <a:pt x="2681687" y="33008"/>
                  <a:pt x="2681687" y="73725"/>
                </a:cubicBezTo>
                <a:lnTo>
                  <a:pt x="2681687" y="442339"/>
                </a:lnTo>
                <a:cubicBezTo>
                  <a:pt x="2681687" y="483056"/>
                  <a:pt x="2648679" y="516063"/>
                  <a:pt x="2607962" y="516063"/>
                </a:cubicBezTo>
                <a:lnTo>
                  <a:pt x="73725" y="516063"/>
                </a:lnTo>
                <a:cubicBezTo>
                  <a:pt x="33008" y="516063"/>
                  <a:pt x="0" y="483056"/>
                  <a:pt x="0" y="442339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552925" y="3575583"/>
            <a:ext cx="801741" cy="184308"/>
          </a:xfrm>
          <a:custGeom>
            <a:avLst/>
            <a:gdLst/>
            <a:ahLst/>
            <a:cxnLst/>
            <a:rect l="l" t="t" r="r" b="b"/>
            <a:pathLst>
              <a:path w="801741" h="184308">
                <a:moveTo>
                  <a:pt x="36862" y="0"/>
                </a:moveTo>
                <a:lnTo>
                  <a:pt x="764880" y="0"/>
                </a:lnTo>
                <a:cubicBezTo>
                  <a:pt x="785238" y="0"/>
                  <a:pt x="801741" y="16504"/>
                  <a:pt x="801741" y="36862"/>
                </a:cubicBezTo>
                <a:lnTo>
                  <a:pt x="801741" y="147447"/>
                </a:lnTo>
                <a:cubicBezTo>
                  <a:pt x="801741" y="167805"/>
                  <a:pt x="785238" y="184308"/>
                  <a:pt x="764880" y="184308"/>
                </a:cubicBezTo>
                <a:lnTo>
                  <a:pt x="36862" y="184308"/>
                </a:lnTo>
                <a:cubicBezTo>
                  <a:pt x="16504" y="184308"/>
                  <a:pt x="0" y="167805"/>
                  <a:pt x="0" y="147447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42" name="Text 40"/>
          <p:cNvSpPr/>
          <p:nvPr/>
        </p:nvSpPr>
        <p:spPr>
          <a:xfrm>
            <a:off x="552925" y="3575583"/>
            <a:ext cx="857034" cy="184308"/>
          </a:xfrm>
          <a:prstGeom prst="rect">
            <a:avLst/>
          </a:prstGeom>
          <a:noFill/>
        </p:spPr>
        <p:txBody>
          <a:bodyPr wrap="square" lIns="73723" tIns="18431" rIns="73723" bIns="18431" rtlCol="0" anchor="ctr"/>
          <a:lstStyle/>
          <a:p>
            <a:pPr>
              <a:lnSpc>
                <a:spcPct val="110000"/>
              </a:lnSpc>
            </a:pPr>
            <a:r>
              <a:rPr lang="en-US" sz="87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roam around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425222" y="3594014"/>
            <a:ext cx="497633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四处游荡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52925" y="3796753"/>
            <a:ext cx="2589533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描述童年户外活动的自由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231444" y="3501859"/>
            <a:ext cx="2681687" cy="516063"/>
          </a:xfrm>
          <a:custGeom>
            <a:avLst/>
            <a:gdLst/>
            <a:ahLst/>
            <a:cxnLst/>
            <a:rect l="l" t="t" r="r" b="b"/>
            <a:pathLst>
              <a:path w="2681687" h="516063">
                <a:moveTo>
                  <a:pt x="73725" y="0"/>
                </a:moveTo>
                <a:lnTo>
                  <a:pt x="2607962" y="0"/>
                </a:lnTo>
                <a:cubicBezTo>
                  <a:pt x="2648679" y="0"/>
                  <a:pt x="2681687" y="33008"/>
                  <a:pt x="2681687" y="73725"/>
                </a:cubicBezTo>
                <a:lnTo>
                  <a:pt x="2681687" y="442339"/>
                </a:lnTo>
                <a:cubicBezTo>
                  <a:pt x="2681687" y="483056"/>
                  <a:pt x="2648679" y="516063"/>
                  <a:pt x="2607962" y="516063"/>
                </a:cubicBezTo>
                <a:lnTo>
                  <a:pt x="73725" y="516063"/>
                </a:lnTo>
                <a:cubicBezTo>
                  <a:pt x="33008" y="516063"/>
                  <a:pt x="0" y="483056"/>
                  <a:pt x="0" y="442339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3305168" y="3575583"/>
            <a:ext cx="857034" cy="184308"/>
          </a:xfrm>
          <a:custGeom>
            <a:avLst/>
            <a:gdLst/>
            <a:ahLst/>
            <a:cxnLst/>
            <a:rect l="l" t="t" r="r" b="b"/>
            <a:pathLst>
              <a:path w="857034" h="184308">
                <a:moveTo>
                  <a:pt x="36862" y="0"/>
                </a:moveTo>
                <a:lnTo>
                  <a:pt x="820172" y="0"/>
                </a:lnTo>
                <a:cubicBezTo>
                  <a:pt x="840530" y="0"/>
                  <a:pt x="857034" y="16504"/>
                  <a:pt x="857034" y="36862"/>
                </a:cubicBezTo>
                <a:lnTo>
                  <a:pt x="857034" y="147447"/>
                </a:lnTo>
                <a:cubicBezTo>
                  <a:pt x="857034" y="167805"/>
                  <a:pt x="840530" y="184308"/>
                  <a:pt x="820172" y="184308"/>
                </a:cubicBezTo>
                <a:lnTo>
                  <a:pt x="36862" y="184308"/>
                </a:lnTo>
                <a:cubicBezTo>
                  <a:pt x="16504" y="184308"/>
                  <a:pt x="0" y="167805"/>
                  <a:pt x="0" y="147447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47" name="Text 45"/>
          <p:cNvSpPr/>
          <p:nvPr/>
        </p:nvSpPr>
        <p:spPr>
          <a:xfrm>
            <a:off x="3305168" y="3575583"/>
            <a:ext cx="912327" cy="184308"/>
          </a:xfrm>
          <a:prstGeom prst="rect">
            <a:avLst/>
          </a:prstGeom>
          <a:noFill/>
        </p:spPr>
        <p:txBody>
          <a:bodyPr wrap="square" lIns="73723" tIns="18431" rIns="73723" bIns="18431" rtlCol="0" anchor="ctr"/>
          <a:lstStyle/>
          <a:p>
            <a:pPr>
              <a:lnSpc>
                <a:spcPct val="110000"/>
              </a:lnSpc>
            </a:pPr>
            <a:r>
              <a:rPr lang="en-US" sz="87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crisp and cool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236501" y="3594014"/>
            <a:ext cx="497633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清爽凉爽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305168" y="3796753"/>
            <a:ext cx="2589533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描述理想步行天气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68617" y="4220662"/>
            <a:ext cx="5649052" cy="2266993"/>
          </a:xfrm>
          <a:custGeom>
            <a:avLst/>
            <a:gdLst/>
            <a:ahLst/>
            <a:cxnLst/>
            <a:rect l="l" t="t" r="r" b="b"/>
            <a:pathLst>
              <a:path w="5649052" h="2266993">
                <a:moveTo>
                  <a:pt x="36862" y="0"/>
                </a:moveTo>
                <a:lnTo>
                  <a:pt x="5612190" y="0"/>
                </a:lnTo>
                <a:cubicBezTo>
                  <a:pt x="5632549" y="0"/>
                  <a:pt x="5649052" y="16504"/>
                  <a:pt x="5649052" y="36862"/>
                </a:cubicBezTo>
                <a:lnTo>
                  <a:pt x="5649052" y="2193271"/>
                </a:lnTo>
                <a:cubicBezTo>
                  <a:pt x="5649052" y="2233986"/>
                  <a:pt x="5616045" y="2266993"/>
                  <a:pt x="5575330" y="2266993"/>
                </a:cubicBezTo>
                <a:lnTo>
                  <a:pt x="73723" y="2266993"/>
                </a:lnTo>
                <a:cubicBezTo>
                  <a:pt x="33007" y="2266993"/>
                  <a:pt x="0" y="2233986"/>
                  <a:pt x="0" y="2193271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646" dist="921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8617" y="4220662"/>
            <a:ext cx="5649052" cy="36862"/>
          </a:xfrm>
          <a:custGeom>
            <a:avLst/>
            <a:gdLst/>
            <a:ahLst/>
            <a:cxnLst/>
            <a:rect l="l" t="t" r="r" b="b"/>
            <a:pathLst>
              <a:path w="5649052" h="36862">
                <a:moveTo>
                  <a:pt x="36862" y="0"/>
                </a:moveTo>
                <a:lnTo>
                  <a:pt x="5612190" y="0"/>
                </a:lnTo>
                <a:cubicBezTo>
                  <a:pt x="5632549" y="0"/>
                  <a:pt x="5649052" y="16504"/>
                  <a:pt x="5649052" y="36862"/>
                </a:cubicBezTo>
                <a:lnTo>
                  <a:pt x="5649052" y="36862"/>
                </a:lnTo>
                <a:lnTo>
                  <a:pt x="0" y="36862"/>
                </a:ln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52" name="Shape 50"/>
          <p:cNvSpPr/>
          <p:nvPr/>
        </p:nvSpPr>
        <p:spPr>
          <a:xfrm>
            <a:off x="479202" y="4349678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368617" h="368617">
                <a:moveTo>
                  <a:pt x="73723" y="0"/>
                </a:moveTo>
                <a:lnTo>
                  <a:pt x="294893" y="0"/>
                </a:lnTo>
                <a:cubicBezTo>
                  <a:pt x="335610" y="0"/>
                  <a:pt x="368617" y="33007"/>
                  <a:pt x="368617" y="73723"/>
                </a:cubicBezTo>
                <a:lnTo>
                  <a:pt x="368617" y="294893"/>
                </a:lnTo>
                <a:cubicBezTo>
                  <a:pt x="368617" y="335610"/>
                  <a:pt x="335610" y="368617"/>
                  <a:pt x="294893" y="368617"/>
                </a:cubicBezTo>
                <a:lnTo>
                  <a:pt x="73723" y="368617"/>
                </a:lnTo>
                <a:cubicBezTo>
                  <a:pt x="33007" y="368617"/>
                  <a:pt x="0" y="335610"/>
                  <a:pt x="0" y="294893"/>
                </a:cubicBezTo>
                <a:lnTo>
                  <a:pt x="0" y="73723"/>
                </a:lnTo>
                <a:cubicBezTo>
                  <a:pt x="0" y="33034"/>
                  <a:pt x="33034" y="0"/>
                  <a:pt x="73723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53" name="Shape 51"/>
          <p:cNvSpPr/>
          <p:nvPr/>
        </p:nvSpPr>
        <p:spPr>
          <a:xfrm>
            <a:off x="572508" y="4451048"/>
            <a:ext cx="186612" cy="165878"/>
          </a:xfrm>
          <a:custGeom>
            <a:avLst/>
            <a:gdLst/>
            <a:ahLst/>
            <a:cxnLst/>
            <a:rect l="l" t="t" r="r" b="b"/>
            <a:pathLst>
              <a:path w="186612" h="165878">
                <a:moveTo>
                  <a:pt x="124408" y="46653"/>
                </a:moveTo>
                <a:cubicBezTo>
                  <a:pt x="124408" y="78144"/>
                  <a:pt x="96546" y="103673"/>
                  <a:pt x="62204" y="103673"/>
                </a:cubicBezTo>
                <a:cubicBezTo>
                  <a:pt x="53554" y="103673"/>
                  <a:pt x="45325" y="102054"/>
                  <a:pt x="37841" y="99138"/>
                </a:cubicBezTo>
                <a:lnTo>
                  <a:pt x="11404" y="113134"/>
                </a:lnTo>
                <a:cubicBezTo>
                  <a:pt x="8391" y="114721"/>
                  <a:pt x="4698" y="114170"/>
                  <a:pt x="2268" y="111773"/>
                </a:cubicBezTo>
                <a:cubicBezTo>
                  <a:pt x="-162" y="109376"/>
                  <a:pt x="-713" y="105650"/>
                  <a:pt x="907" y="102637"/>
                </a:cubicBezTo>
                <a:lnTo>
                  <a:pt x="12441" y="80865"/>
                </a:lnTo>
                <a:cubicBezTo>
                  <a:pt x="4633" y="71340"/>
                  <a:pt x="0" y="59483"/>
                  <a:pt x="0" y="46653"/>
                </a:cubicBezTo>
                <a:cubicBezTo>
                  <a:pt x="0" y="15162"/>
                  <a:pt x="27862" y="-10367"/>
                  <a:pt x="62204" y="-10367"/>
                </a:cubicBezTo>
                <a:cubicBezTo>
                  <a:pt x="96546" y="-10367"/>
                  <a:pt x="124408" y="15162"/>
                  <a:pt x="124408" y="46653"/>
                </a:cubicBezTo>
                <a:close/>
                <a:moveTo>
                  <a:pt x="124408" y="165878"/>
                </a:moveTo>
                <a:cubicBezTo>
                  <a:pt x="93922" y="165878"/>
                  <a:pt x="68554" y="145758"/>
                  <a:pt x="63241" y="119224"/>
                </a:cubicBezTo>
                <a:cubicBezTo>
                  <a:pt x="102118" y="118739"/>
                  <a:pt x="135909" y="91071"/>
                  <a:pt x="139635" y="53554"/>
                </a:cubicBezTo>
                <a:cubicBezTo>
                  <a:pt x="166623" y="59774"/>
                  <a:pt x="186612" y="82161"/>
                  <a:pt x="186612" y="108857"/>
                </a:cubicBezTo>
                <a:cubicBezTo>
                  <a:pt x="186612" y="121687"/>
                  <a:pt x="181979" y="133544"/>
                  <a:pt x="174171" y="143069"/>
                </a:cubicBezTo>
                <a:lnTo>
                  <a:pt x="185705" y="164841"/>
                </a:lnTo>
                <a:cubicBezTo>
                  <a:pt x="187293" y="167854"/>
                  <a:pt x="186742" y="171547"/>
                  <a:pt x="184344" y="173977"/>
                </a:cubicBezTo>
                <a:cubicBezTo>
                  <a:pt x="181947" y="176407"/>
                  <a:pt x="178221" y="176958"/>
                  <a:pt x="175208" y="175338"/>
                </a:cubicBezTo>
                <a:lnTo>
                  <a:pt x="148771" y="161342"/>
                </a:lnTo>
                <a:cubicBezTo>
                  <a:pt x="141287" y="164258"/>
                  <a:pt x="133058" y="165878"/>
                  <a:pt x="124408" y="16587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921542" y="4404971"/>
            <a:ext cx="829388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实用短语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79202" y="4792018"/>
            <a:ext cx="2681687" cy="479202"/>
          </a:xfrm>
          <a:custGeom>
            <a:avLst/>
            <a:gdLst/>
            <a:ahLst/>
            <a:cxnLst/>
            <a:rect l="l" t="t" r="r" b="b"/>
            <a:pathLst>
              <a:path w="2681687" h="479202">
                <a:moveTo>
                  <a:pt x="73725" y="0"/>
                </a:moveTo>
                <a:lnTo>
                  <a:pt x="2607962" y="0"/>
                </a:lnTo>
                <a:cubicBezTo>
                  <a:pt x="2648679" y="0"/>
                  <a:pt x="2681687" y="33008"/>
                  <a:pt x="2681687" y="73725"/>
                </a:cubicBezTo>
                <a:lnTo>
                  <a:pt x="2681687" y="405477"/>
                </a:lnTo>
                <a:cubicBezTo>
                  <a:pt x="2681687" y="446194"/>
                  <a:pt x="2648679" y="479202"/>
                  <a:pt x="2607962" y="479202"/>
                </a:cubicBezTo>
                <a:lnTo>
                  <a:pt x="73725" y="479202"/>
                </a:lnTo>
                <a:cubicBezTo>
                  <a:pt x="33008" y="479202"/>
                  <a:pt x="0" y="446194"/>
                  <a:pt x="0" y="405477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559837" y="4884172"/>
            <a:ext cx="124408" cy="110585"/>
          </a:xfrm>
          <a:custGeom>
            <a:avLst/>
            <a:gdLst/>
            <a:ahLst/>
            <a:cxnLst/>
            <a:rect l="l" t="t" r="r" b="b"/>
            <a:pathLst>
              <a:path w="124408" h="110585">
                <a:moveTo>
                  <a:pt x="66848" y="-4082"/>
                </a:moveTo>
                <a:cubicBezTo>
                  <a:pt x="65962" y="-5810"/>
                  <a:pt x="64170" y="-6912"/>
                  <a:pt x="62226" y="-6912"/>
                </a:cubicBezTo>
                <a:cubicBezTo>
                  <a:pt x="60282" y="-6912"/>
                  <a:pt x="58489" y="-5810"/>
                  <a:pt x="57604" y="-4082"/>
                </a:cubicBezTo>
                <a:lnTo>
                  <a:pt x="41707" y="27063"/>
                </a:lnTo>
                <a:lnTo>
                  <a:pt x="7171" y="32549"/>
                </a:lnTo>
                <a:cubicBezTo>
                  <a:pt x="5248" y="32852"/>
                  <a:pt x="3650" y="34212"/>
                  <a:pt x="3045" y="36070"/>
                </a:cubicBezTo>
                <a:cubicBezTo>
                  <a:pt x="2441" y="37927"/>
                  <a:pt x="2937" y="39957"/>
                  <a:pt x="4298" y="41340"/>
                </a:cubicBezTo>
                <a:lnTo>
                  <a:pt x="29007" y="66070"/>
                </a:lnTo>
                <a:lnTo>
                  <a:pt x="23564" y="100606"/>
                </a:lnTo>
                <a:cubicBezTo>
                  <a:pt x="23262" y="102529"/>
                  <a:pt x="24061" y="104473"/>
                  <a:pt x="25638" y="105617"/>
                </a:cubicBezTo>
                <a:cubicBezTo>
                  <a:pt x="27214" y="106762"/>
                  <a:pt x="29288" y="106935"/>
                  <a:pt x="31037" y="106049"/>
                </a:cubicBezTo>
                <a:lnTo>
                  <a:pt x="62226" y="90196"/>
                </a:lnTo>
                <a:lnTo>
                  <a:pt x="93393" y="106049"/>
                </a:lnTo>
                <a:cubicBezTo>
                  <a:pt x="95120" y="106935"/>
                  <a:pt x="97215" y="106762"/>
                  <a:pt x="98792" y="105617"/>
                </a:cubicBezTo>
                <a:cubicBezTo>
                  <a:pt x="100369" y="104473"/>
                  <a:pt x="101168" y="102550"/>
                  <a:pt x="100866" y="100606"/>
                </a:cubicBezTo>
                <a:lnTo>
                  <a:pt x="95401" y="66070"/>
                </a:lnTo>
                <a:lnTo>
                  <a:pt x="120110" y="41340"/>
                </a:lnTo>
                <a:cubicBezTo>
                  <a:pt x="121492" y="39957"/>
                  <a:pt x="121968" y="37927"/>
                  <a:pt x="121363" y="36070"/>
                </a:cubicBezTo>
                <a:cubicBezTo>
                  <a:pt x="120758" y="34212"/>
                  <a:pt x="119181" y="32852"/>
                  <a:pt x="117237" y="32549"/>
                </a:cubicBezTo>
                <a:lnTo>
                  <a:pt x="82723" y="27063"/>
                </a:lnTo>
                <a:lnTo>
                  <a:pt x="66848" y="-4082"/>
                </a:lnTo>
                <a:close/>
              </a:path>
            </a:pathLst>
          </a:custGeom>
          <a:solidFill>
            <a:srgbClr val="8AA3A1"/>
          </a:solidFill>
        </p:spPr>
      </p:sp>
      <p:sp>
        <p:nvSpPr>
          <p:cNvPr id="57" name="Text 55"/>
          <p:cNvSpPr/>
          <p:nvPr/>
        </p:nvSpPr>
        <p:spPr>
          <a:xfrm>
            <a:off x="764880" y="4865741"/>
            <a:ext cx="1096635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make it a habit to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64880" y="5050050"/>
            <a:ext cx="1087420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养成...的习惯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231444" y="4792018"/>
            <a:ext cx="2681687" cy="479202"/>
          </a:xfrm>
          <a:custGeom>
            <a:avLst/>
            <a:gdLst/>
            <a:ahLst/>
            <a:cxnLst/>
            <a:rect l="l" t="t" r="r" b="b"/>
            <a:pathLst>
              <a:path w="2681687" h="479202">
                <a:moveTo>
                  <a:pt x="73725" y="0"/>
                </a:moveTo>
                <a:lnTo>
                  <a:pt x="2607962" y="0"/>
                </a:lnTo>
                <a:cubicBezTo>
                  <a:pt x="2648679" y="0"/>
                  <a:pt x="2681687" y="33008"/>
                  <a:pt x="2681687" y="73725"/>
                </a:cubicBezTo>
                <a:lnTo>
                  <a:pt x="2681687" y="405477"/>
                </a:lnTo>
                <a:cubicBezTo>
                  <a:pt x="2681687" y="446194"/>
                  <a:pt x="2648679" y="479202"/>
                  <a:pt x="2607962" y="479202"/>
                </a:cubicBezTo>
                <a:lnTo>
                  <a:pt x="73725" y="479202"/>
                </a:lnTo>
                <a:cubicBezTo>
                  <a:pt x="33008" y="479202"/>
                  <a:pt x="0" y="446194"/>
                  <a:pt x="0" y="405477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60" name="Shape 58"/>
          <p:cNvSpPr/>
          <p:nvPr/>
        </p:nvSpPr>
        <p:spPr>
          <a:xfrm>
            <a:off x="3312079" y="4884172"/>
            <a:ext cx="124408" cy="110585"/>
          </a:xfrm>
          <a:custGeom>
            <a:avLst/>
            <a:gdLst/>
            <a:ahLst/>
            <a:cxnLst/>
            <a:rect l="l" t="t" r="r" b="b"/>
            <a:pathLst>
              <a:path w="124408" h="110585">
                <a:moveTo>
                  <a:pt x="66848" y="-4082"/>
                </a:moveTo>
                <a:cubicBezTo>
                  <a:pt x="65962" y="-5810"/>
                  <a:pt x="64170" y="-6912"/>
                  <a:pt x="62226" y="-6912"/>
                </a:cubicBezTo>
                <a:cubicBezTo>
                  <a:pt x="60282" y="-6912"/>
                  <a:pt x="58489" y="-5810"/>
                  <a:pt x="57604" y="-4082"/>
                </a:cubicBezTo>
                <a:lnTo>
                  <a:pt x="41707" y="27063"/>
                </a:lnTo>
                <a:lnTo>
                  <a:pt x="7171" y="32549"/>
                </a:lnTo>
                <a:cubicBezTo>
                  <a:pt x="5248" y="32852"/>
                  <a:pt x="3650" y="34212"/>
                  <a:pt x="3045" y="36070"/>
                </a:cubicBezTo>
                <a:cubicBezTo>
                  <a:pt x="2441" y="37927"/>
                  <a:pt x="2937" y="39957"/>
                  <a:pt x="4298" y="41340"/>
                </a:cubicBezTo>
                <a:lnTo>
                  <a:pt x="29007" y="66070"/>
                </a:lnTo>
                <a:lnTo>
                  <a:pt x="23564" y="100606"/>
                </a:lnTo>
                <a:cubicBezTo>
                  <a:pt x="23262" y="102529"/>
                  <a:pt x="24061" y="104473"/>
                  <a:pt x="25638" y="105617"/>
                </a:cubicBezTo>
                <a:cubicBezTo>
                  <a:pt x="27214" y="106762"/>
                  <a:pt x="29288" y="106935"/>
                  <a:pt x="31037" y="106049"/>
                </a:cubicBezTo>
                <a:lnTo>
                  <a:pt x="62226" y="90196"/>
                </a:lnTo>
                <a:lnTo>
                  <a:pt x="93393" y="106049"/>
                </a:lnTo>
                <a:cubicBezTo>
                  <a:pt x="95120" y="106935"/>
                  <a:pt x="97215" y="106762"/>
                  <a:pt x="98792" y="105617"/>
                </a:cubicBezTo>
                <a:cubicBezTo>
                  <a:pt x="100369" y="104473"/>
                  <a:pt x="101168" y="102550"/>
                  <a:pt x="100866" y="100606"/>
                </a:cubicBezTo>
                <a:lnTo>
                  <a:pt x="95401" y="66070"/>
                </a:lnTo>
                <a:lnTo>
                  <a:pt x="120110" y="41340"/>
                </a:lnTo>
                <a:cubicBezTo>
                  <a:pt x="121492" y="39957"/>
                  <a:pt x="121968" y="37927"/>
                  <a:pt x="121363" y="36070"/>
                </a:cubicBezTo>
                <a:cubicBezTo>
                  <a:pt x="120758" y="34212"/>
                  <a:pt x="119181" y="32852"/>
                  <a:pt x="117237" y="32549"/>
                </a:cubicBezTo>
                <a:lnTo>
                  <a:pt x="82723" y="27063"/>
                </a:lnTo>
                <a:lnTo>
                  <a:pt x="66848" y="-4082"/>
                </a:lnTo>
                <a:close/>
              </a:path>
            </a:pathLst>
          </a:custGeom>
          <a:solidFill>
            <a:srgbClr val="8AA3A1"/>
          </a:solidFill>
        </p:spPr>
      </p:sp>
      <p:sp>
        <p:nvSpPr>
          <p:cNvPr id="61" name="Text 59"/>
          <p:cNvSpPr/>
          <p:nvPr/>
        </p:nvSpPr>
        <p:spPr>
          <a:xfrm>
            <a:off x="3517122" y="4865741"/>
            <a:ext cx="1658776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get off the bus a stop early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517122" y="5050050"/>
            <a:ext cx="1649560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提前一站下车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79202" y="5344943"/>
            <a:ext cx="2681687" cy="479202"/>
          </a:xfrm>
          <a:custGeom>
            <a:avLst/>
            <a:gdLst/>
            <a:ahLst/>
            <a:cxnLst/>
            <a:rect l="l" t="t" r="r" b="b"/>
            <a:pathLst>
              <a:path w="2681687" h="479202">
                <a:moveTo>
                  <a:pt x="73725" y="0"/>
                </a:moveTo>
                <a:lnTo>
                  <a:pt x="2607962" y="0"/>
                </a:lnTo>
                <a:cubicBezTo>
                  <a:pt x="2648679" y="0"/>
                  <a:pt x="2681687" y="33008"/>
                  <a:pt x="2681687" y="73725"/>
                </a:cubicBezTo>
                <a:lnTo>
                  <a:pt x="2681687" y="405477"/>
                </a:lnTo>
                <a:cubicBezTo>
                  <a:pt x="2681687" y="446194"/>
                  <a:pt x="2648679" y="479202"/>
                  <a:pt x="2607962" y="479202"/>
                </a:cubicBezTo>
                <a:lnTo>
                  <a:pt x="73725" y="479202"/>
                </a:lnTo>
                <a:cubicBezTo>
                  <a:pt x="33008" y="479202"/>
                  <a:pt x="0" y="446194"/>
                  <a:pt x="0" y="405477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64" name="Shape 62"/>
          <p:cNvSpPr/>
          <p:nvPr/>
        </p:nvSpPr>
        <p:spPr>
          <a:xfrm>
            <a:off x="559837" y="5437098"/>
            <a:ext cx="124408" cy="110585"/>
          </a:xfrm>
          <a:custGeom>
            <a:avLst/>
            <a:gdLst/>
            <a:ahLst/>
            <a:cxnLst/>
            <a:rect l="l" t="t" r="r" b="b"/>
            <a:pathLst>
              <a:path w="124408" h="110585">
                <a:moveTo>
                  <a:pt x="66848" y="-4082"/>
                </a:moveTo>
                <a:cubicBezTo>
                  <a:pt x="65962" y="-5810"/>
                  <a:pt x="64170" y="-6912"/>
                  <a:pt x="62226" y="-6912"/>
                </a:cubicBezTo>
                <a:cubicBezTo>
                  <a:pt x="60282" y="-6912"/>
                  <a:pt x="58489" y="-5810"/>
                  <a:pt x="57604" y="-4082"/>
                </a:cubicBezTo>
                <a:lnTo>
                  <a:pt x="41707" y="27063"/>
                </a:lnTo>
                <a:lnTo>
                  <a:pt x="7171" y="32549"/>
                </a:lnTo>
                <a:cubicBezTo>
                  <a:pt x="5248" y="32852"/>
                  <a:pt x="3650" y="34212"/>
                  <a:pt x="3045" y="36070"/>
                </a:cubicBezTo>
                <a:cubicBezTo>
                  <a:pt x="2441" y="37927"/>
                  <a:pt x="2937" y="39957"/>
                  <a:pt x="4298" y="41340"/>
                </a:cubicBezTo>
                <a:lnTo>
                  <a:pt x="29007" y="66070"/>
                </a:lnTo>
                <a:lnTo>
                  <a:pt x="23564" y="100606"/>
                </a:lnTo>
                <a:cubicBezTo>
                  <a:pt x="23262" y="102529"/>
                  <a:pt x="24061" y="104473"/>
                  <a:pt x="25638" y="105617"/>
                </a:cubicBezTo>
                <a:cubicBezTo>
                  <a:pt x="27214" y="106762"/>
                  <a:pt x="29288" y="106935"/>
                  <a:pt x="31037" y="106049"/>
                </a:cubicBezTo>
                <a:lnTo>
                  <a:pt x="62226" y="90196"/>
                </a:lnTo>
                <a:lnTo>
                  <a:pt x="93393" y="106049"/>
                </a:lnTo>
                <a:cubicBezTo>
                  <a:pt x="95120" y="106935"/>
                  <a:pt x="97215" y="106762"/>
                  <a:pt x="98792" y="105617"/>
                </a:cubicBezTo>
                <a:cubicBezTo>
                  <a:pt x="100369" y="104473"/>
                  <a:pt x="101168" y="102550"/>
                  <a:pt x="100866" y="100606"/>
                </a:cubicBezTo>
                <a:lnTo>
                  <a:pt x="95401" y="66070"/>
                </a:lnTo>
                <a:lnTo>
                  <a:pt x="120110" y="41340"/>
                </a:lnTo>
                <a:cubicBezTo>
                  <a:pt x="121492" y="39957"/>
                  <a:pt x="121968" y="37927"/>
                  <a:pt x="121363" y="36070"/>
                </a:cubicBezTo>
                <a:cubicBezTo>
                  <a:pt x="120758" y="34212"/>
                  <a:pt x="119181" y="32852"/>
                  <a:pt x="117237" y="32549"/>
                </a:cubicBezTo>
                <a:lnTo>
                  <a:pt x="82723" y="27063"/>
                </a:lnTo>
                <a:lnTo>
                  <a:pt x="66848" y="-4082"/>
                </a:lnTo>
                <a:close/>
              </a:path>
            </a:pathLst>
          </a:custGeom>
          <a:solidFill>
            <a:srgbClr val="8AA3A1"/>
          </a:solidFill>
        </p:spPr>
      </p:sp>
      <p:sp>
        <p:nvSpPr>
          <p:cNvPr id="65" name="Text 63"/>
          <p:cNvSpPr/>
          <p:nvPr/>
        </p:nvSpPr>
        <p:spPr>
          <a:xfrm>
            <a:off x="764880" y="5418667"/>
            <a:ext cx="1990531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escape from the concrete jungle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64880" y="5602975"/>
            <a:ext cx="1981315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逃离水泥丛林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231444" y="5344943"/>
            <a:ext cx="2681687" cy="479202"/>
          </a:xfrm>
          <a:custGeom>
            <a:avLst/>
            <a:gdLst/>
            <a:ahLst/>
            <a:cxnLst/>
            <a:rect l="l" t="t" r="r" b="b"/>
            <a:pathLst>
              <a:path w="2681687" h="479202">
                <a:moveTo>
                  <a:pt x="73725" y="0"/>
                </a:moveTo>
                <a:lnTo>
                  <a:pt x="2607962" y="0"/>
                </a:lnTo>
                <a:cubicBezTo>
                  <a:pt x="2648679" y="0"/>
                  <a:pt x="2681687" y="33008"/>
                  <a:pt x="2681687" y="73725"/>
                </a:cubicBezTo>
                <a:lnTo>
                  <a:pt x="2681687" y="405477"/>
                </a:lnTo>
                <a:cubicBezTo>
                  <a:pt x="2681687" y="446194"/>
                  <a:pt x="2648679" y="479202"/>
                  <a:pt x="2607962" y="479202"/>
                </a:cubicBezTo>
                <a:lnTo>
                  <a:pt x="73725" y="479202"/>
                </a:lnTo>
                <a:cubicBezTo>
                  <a:pt x="33008" y="479202"/>
                  <a:pt x="0" y="446194"/>
                  <a:pt x="0" y="405477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68" name="Shape 66"/>
          <p:cNvSpPr/>
          <p:nvPr/>
        </p:nvSpPr>
        <p:spPr>
          <a:xfrm>
            <a:off x="3312079" y="5437098"/>
            <a:ext cx="124408" cy="110585"/>
          </a:xfrm>
          <a:custGeom>
            <a:avLst/>
            <a:gdLst/>
            <a:ahLst/>
            <a:cxnLst/>
            <a:rect l="l" t="t" r="r" b="b"/>
            <a:pathLst>
              <a:path w="124408" h="110585">
                <a:moveTo>
                  <a:pt x="66848" y="-4082"/>
                </a:moveTo>
                <a:cubicBezTo>
                  <a:pt x="65962" y="-5810"/>
                  <a:pt x="64170" y="-6912"/>
                  <a:pt x="62226" y="-6912"/>
                </a:cubicBezTo>
                <a:cubicBezTo>
                  <a:pt x="60282" y="-6912"/>
                  <a:pt x="58489" y="-5810"/>
                  <a:pt x="57604" y="-4082"/>
                </a:cubicBezTo>
                <a:lnTo>
                  <a:pt x="41707" y="27063"/>
                </a:lnTo>
                <a:lnTo>
                  <a:pt x="7171" y="32549"/>
                </a:lnTo>
                <a:cubicBezTo>
                  <a:pt x="5248" y="32852"/>
                  <a:pt x="3650" y="34212"/>
                  <a:pt x="3045" y="36070"/>
                </a:cubicBezTo>
                <a:cubicBezTo>
                  <a:pt x="2441" y="37927"/>
                  <a:pt x="2937" y="39957"/>
                  <a:pt x="4298" y="41340"/>
                </a:cubicBezTo>
                <a:lnTo>
                  <a:pt x="29007" y="66070"/>
                </a:lnTo>
                <a:lnTo>
                  <a:pt x="23564" y="100606"/>
                </a:lnTo>
                <a:cubicBezTo>
                  <a:pt x="23262" y="102529"/>
                  <a:pt x="24061" y="104473"/>
                  <a:pt x="25638" y="105617"/>
                </a:cubicBezTo>
                <a:cubicBezTo>
                  <a:pt x="27214" y="106762"/>
                  <a:pt x="29288" y="106935"/>
                  <a:pt x="31037" y="106049"/>
                </a:cubicBezTo>
                <a:lnTo>
                  <a:pt x="62226" y="90196"/>
                </a:lnTo>
                <a:lnTo>
                  <a:pt x="93393" y="106049"/>
                </a:lnTo>
                <a:cubicBezTo>
                  <a:pt x="95120" y="106935"/>
                  <a:pt x="97215" y="106762"/>
                  <a:pt x="98792" y="105617"/>
                </a:cubicBezTo>
                <a:cubicBezTo>
                  <a:pt x="100369" y="104473"/>
                  <a:pt x="101168" y="102550"/>
                  <a:pt x="100866" y="100606"/>
                </a:cubicBezTo>
                <a:lnTo>
                  <a:pt x="95401" y="66070"/>
                </a:lnTo>
                <a:lnTo>
                  <a:pt x="120110" y="41340"/>
                </a:lnTo>
                <a:cubicBezTo>
                  <a:pt x="121492" y="39957"/>
                  <a:pt x="121968" y="37927"/>
                  <a:pt x="121363" y="36070"/>
                </a:cubicBezTo>
                <a:cubicBezTo>
                  <a:pt x="120758" y="34212"/>
                  <a:pt x="119181" y="32852"/>
                  <a:pt x="117237" y="32549"/>
                </a:cubicBezTo>
                <a:lnTo>
                  <a:pt x="82723" y="27063"/>
                </a:lnTo>
                <a:lnTo>
                  <a:pt x="66848" y="-4082"/>
                </a:lnTo>
                <a:close/>
              </a:path>
            </a:pathLst>
          </a:custGeom>
          <a:solidFill>
            <a:srgbClr val="8AA3A1"/>
          </a:solidFill>
        </p:spPr>
      </p:sp>
      <p:sp>
        <p:nvSpPr>
          <p:cNvPr id="69" name="Text 67"/>
          <p:cNvSpPr/>
          <p:nvPr/>
        </p:nvSpPr>
        <p:spPr>
          <a:xfrm>
            <a:off x="3517122" y="5418667"/>
            <a:ext cx="1428390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for the mind to wander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3517122" y="5602975"/>
            <a:ext cx="1419175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让思绪漫游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79202" y="5897868"/>
            <a:ext cx="2681687" cy="479202"/>
          </a:xfrm>
          <a:custGeom>
            <a:avLst/>
            <a:gdLst/>
            <a:ahLst/>
            <a:cxnLst/>
            <a:rect l="l" t="t" r="r" b="b"/>
            <a:pathLst>
              <a:path w="2681687" h="479202">
                <a:moveTo>
                  <a:pt x="73725" y="0"/>
                </a:moveTo>
                <a:lnTo>
                  <a:pt x="2607962" y="0"/>
                </a:lnTo>
                <a:cubicBezTo>
                  <a:pt x="2648679" y="0"/>
                  <a:pt x="2681687" y="33008"/>
                  <a:pt x="2681687" y="73725"/>
                </a:cubicBezTo>
                <a:lnTo>
                  <a:pt x="2681687" y="405477"/>
                </a:lnTo>
                <a:cubicBezTo>
                  <a:pt x="2681687" y="446194"/>
                  <a:pt x="2648679" y="479202"/>
                  <a:pt x="2607962" y="479202"/>
                </a:cubicBezTo>
                <a:lnTo>
                  <a:pt x="73725" y="479202"/>
                </a:lnTo>
                <a:cubicBezTo>
                  <a:pt x="33008" y="479202"/>
                  <a:pt x="0" y="446194"/>
                  <a:pt x="0" y="405477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72" name="Shape 70"/>
          <p:cNvSpPr/>
          <p:nvPr/>
        </p:nvSpPr>
        <p:spPr>
          <a:xfrm>
            <a:off x="559837" y="5990023"/>
            <a:ext cx="124408" cy="110585"/>
          </a:xfrm>
          <a:custGeom>
            <a:avLst/>
            <a:gdLst/>
            <a:ahLst/>
            <a:cxnLst/>
            <a:rect l="l" t="t" r="r" b="b"/>
            <a:pathLst>
              <a:path w="124408" h="110585">
                <a:moveTo>
                  <a:pt x="66848" y="-4082"/>
                </a:moveTo>
                <a:cubicBezTo>
                  <a:pt x="65962" y="-5810"/>
                  <a:pt x="64170" y="-6912"/>
                  <a:pt x="62226" y="-6912"/>
                </a:cubicBezTo>
                <a:cubicBezTo>
                  <a:pt x="60282" y="-6912"/>
                  <a:pt x="58489" y="-5810"/>
                  <a:pt x="57604" y="-4082"/>
                </a:cubicBezTo>
                <a:lnTo>
                  <a:pt x="41707" y="27063"/>
                </a:lnTo>
                <a:lnTo>
                  <a:pt x="7171" y="32549"/>
                </a:lnTo>
                <a:cubicBezTo>
                  <a:pt x="5248" y="32852"/>
                  <a:pt x="3650" y="34212"/>
                  <a:pt x="3045" y="36070"/>
                </a:cubicBezTo>
                <a:cubicBezTo>
                  <a:pt x="2441" y="37927"/>
                  <a:pt x="2937" y="39957"/>
                  <a:pt x="4298" y="41340"/>
                </a:cubicBezTo>
                <a:lnTo>
                  <a:pt x="29007" y="66070"/>
                </a:lnTo>
                <a:lnTo>
                  <a:pt x="23564" y="100606"/>
                </a:lnTo>
                <a:cubicBezTo>
                  <a:pt x="23262" y="102529"/>
                  <a:pt x="24061" y="104473"/>
                  <a:pt x="25638" y="105617"/>
                </a:cubicBezTo>
                <a:cubicBezTo>
                  <a:pt x="27214" y="106762"/>
                  <a:pt x="29288" y="106935"/>
                  <a:pt x="31037" y="106049"/>
                </a:cubicBezTo>
                <a:lnTo>
                  <a:pt x="62226" y="90196"/>
                </a:lnTo>
                <a:lnTo>
                  <a:pt x="93393" y="106049"/>
                </a:lnTo>
                <a:cubicBezTo>
                  <a:pt x="95120" y="106935"/>
                  <a:pt x="97215" y="106762"/>
                  <a:pt x="98792" y="105617"/>
                </a:cubicBezTo>
                <a:cubicBezTo>
                  <a:pt x="100369" y="104473"/>
                  <a:pt x="101168" y="102550"/>
                  <a:pt x="100866" y="100606"/>
                </a:cubicBezTo>
                <a:lnTo>
                  <a:pt x="95401" y="66070"/>
                </a:lnTo>
                <a:lnTo>
                  <a:pt x="120110" y="41340"/>
                </a:lnTo>
                <a:cubicBezTo>
                  <a:pt x="121492" y="39957"/>
                  <a:pt x="121968" y="37927"/>
                  <a:pt x="121363" y="36070"/>
                </a:cubicBezTo>
                <a:cubicBezTo>
                  <a:pt x="120758" y="34212"/>
                  <a:pt x="119181" y="32852"/>
                  <a:pt x="117237" y="32549"/>
                </a:cubicBezTo>
                <a:lnTo>
                  <a:pt x="82723" y="27063"/>
                </a:lnTo>
                <a:lnTo>
                  <a:pt x="66848" y="-4082"/>
                </a:lnTo>
                <a:close/>
              </a:path>
            </a:pathLst>
          </a:custGeom>
          <a:solidFill>
            <a:srgbClr val="8AA3A1"/>
          </a:solidFill>
        </p:spPr>
      </p:sp>
      <p:sp>
        <p:nvSpPr>
          <p:cNvPr id="73" name="Text 71"/>
          <p:cNvSpPr/>
          <p:nvPr/>
        </p:nvSpPr>
        <p:spPr>
          <a:xfrm>
            <a:off x="764880" y="5971592"/>
            <a:ext cx="1502113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I've always dreamed of...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764880" y="6155900"/>
            <a:ext cx="1492898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我一直梦想...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3231444" y="5897868"/>
            <a:ext cx="2681687" cy="479202"/>
          </a:xfrm>
          <a:custGeom>
            <a:avLst/>
            <a:gdLst/>
            <a:ahLst/>
            <a:cxnLst/>
            <a:rect l="l" t="t" r="r" b="b"/>
            <a:pathLst>
              <a:path w="2681687" h="479202">
                <a:moveTo>
                  <a:pt x="73725" y="0"/>
                </a:moveTo>
                <a:lnTo>
                  <a:pt x="2607962" y="0"/>
                </a:lnTo>
                <a:cubicBezTo>
                  <a:pt x="2648679" y="0"/>
                  <a:pt x="2681687" y="33008"/>
                  <a:pt x="2681687" y="73725"/>
                </a:cubicBezTo>
                <a:lnTo>
                  <a:pt x="2681687" y="405477"/>
                </a:lnTo>
                <a:cubicBezTo>
                  <a:pt x="2681687" y="446194"/>
                  <a:pt x="2648679" y="479202"/>
                  <a:pt x="2607962" y="479202"/>
                </a:cubicBezTo>
                <a:lnTo>
                  <a:pt x="73725" y="479202"/>
                </a:lnTo>
                <a:cubicBezTo>
                  <a:pt x="33008" y="479202"/>
                  <a:pt x="0" y="446194"/>
                  <a:pt x="0" y="405477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76" name="Shape 74"/>
          <p:cNvSpPr/>
          <p:nvPr/>
        </p:nvSpPr>
        <p:spPr>
          <a:xfrm>
            <a:off x="3312079" y="5990023"/>
            <a:ext cx="124408" cy="110585"/>
          </a:xfrm>
          <a:custGeom>
            <a:avLst/>
            <a:gdLst/>
            <a:ahLst/>
            <a:cxnLst/>
            <a:rect l="l" t="t" r="r" b="b"/>
            <a:pathLst>
              <a:path w="124408" h="110585">
                <a:moveTo>
                  <a:pt x="66848" y="-4082"/>
                </a:moveTo>
                <a:cubicBezTo>
                  <a:pt x="65962" y="-5810"/>
                  <a:pt x="64170" y="-6912"/>
                  <a:pt x="62226" y="-6912"/>
                </a:cubicBezTo>
                <a:cubicBezTo>
                  <a:pt x="60282" y="-6912"/>
                  <a:pt x="58489" y="-5810"/>
                  <a:pt x="57604" y="-4082"/>
                </a:cubicBezTo>
                <a:lnTo>
                  <a:pt x="41707" y="27063"/>
                </a:lnTo>
                <a:lnTo>
                  <a:pt x="7171" y="32549"/>
                </a:lnTo>
                <a:cubicBezTo>
                  <a:pt x="5248" y="32852"/>
                  <a:pt x="3650" y="34212"/>
                  <a:pt x="3045" y="36070"/>
                </a:cubicBezTo>
                <a:cubicBezTo>
                  <a:pt x="2441" y="37927"/>
                  <a:pt x="2937" y="39957"/>
                  <a:pt x="4298" y="41340"/>
                </a:cubicBezTo>
                <a:lnTo>
                  <a:pt x="29007" y="66070"/>
                </a:lnTo>
                <a:lnTo>
                  <a:pt x="23564" y="100606"/>
                </a:lnTo>
                <a:cubicBezTo>
                  <a:pt x="23262" y="102529"/>
                  <a:pt x="24061" y="104473"/>
                  <a:pt x="25638" y="105617"/>
                </a:cubicBezTo>
                <a:cubicBezTo>
                  <a:pt x="27214" y="106762"/>
                  <a:pt x="29288" y="106935"/>
                  <a:pt x="31037" y="106049"/>
                </a:cubicBezTo>
                <a:lnTo>
                  <a:pt x="62226" y="90196"/>
                </a:lnTo>
                <a:lnTo>
                  <a:pt x="93393" y="106049"/>
                </a:lnTo>
                <a:cubicBezTo>
                  <a:pt x="95120" y="106935"/>
                  <a:pt x="97215" y="106762"/>
                  <a:pt x="98792" y="105617"/>
                </a:cubicBezTo>
                <a:cubicBezTo>
                  <a:pt x="100369" y="104473"/>
                  <a:pt x="101168" y="102550"/>
                  <a:pt x="100866" y="100606"/>
                </a:cubicBezTo>
                <a:lnTo>
                  <a:pt x="95401" y="66070"/>
                </a:lnTo>
                <a:lnTo>
                  <a:pt x="120110" y="41340"/>
                </a:lnTo>
                <a:cubicBezTo>
                  <a:pt x="121492" y="39957"/>
                  <a:pt x="121968" y="37927"/>
                  <a:pt x="121363" y="36070"/>
                </a:cubicBezTo>
                <a:cubicBezTo>
                  <a:pt x="120758" y="34212"/>
                  <a:pt x="119181" y="32852"/>
                  <a:pt x="117237" y="32549"/>
                </a:cubicBezTo>
                <a:lnTo>
                  <a:pt x="82723" y="27063"/>
                </a:lnTo>
                <a:lnTo>
                  <a:pt x="66848" y="-4082"/>
                </a:lnTo>
                <a:close/>
              </a:path>
            </a:pathLst>
          </a:custGeom>
          <a:solidFill>
            <a:srgbClr val="8AA3A1"/>
          </a:solidFill>
        </p:spPr>
      </p:sp>
      <p:sp>
        <p:nvSpPr>
          <p:cNvPr id="77" name="Text 75"/>
          <p:cNvSpPr/>
          <p:nvPr/>
        </p:nvSpPr>
        <p:spPr>
          <a:xfrm>
            <a:off x="3517122" y="5971592"/>
            <a:ext cx="1833868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city lights reflect on the water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3517122" y="6155900"/>
            <a:ext cx="1824653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城市灯光倒映水面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168139" y="1161143"/>
            <a:ext cx="5649052" cy="3428136"/>
          </a:xfrm>
          <a:custGeom>
            <a:avLst/>
            <a:gdLst/>
            <a:ahLst/>
            <a:cxnLst/>
            <a:rect l="l" t="t" r="r" b="b"/>
            <a:pathLst>
              <a:path w="5649052" h="3428136">
                <a:moveTo>
                  <a:pt x="36862" y="0"/>
                </a:moveTo>
                <a:lnTo>
                  <a:pt x="5612190" y="0"/>
                </a:lnTo>
                <a:cubicBezTo>
                  <a:pt x="5632549" y="0"/>
                  <a:pt x="5649052" y="16504"/>
                  <a:pt x="5649052" y="36862"/>
                </a:cubicBezTo>
                <a:lnTo>
                  <a:pt x="5649052" y="3354397"/>
                </a:lnTo>
                <a:cubicBezTo>
                  <a:pt x="5649052" y="3395122"/>
                  <a:pt x="5616038" y="3428136"/>
                  <a:pt x="5575313" y="3428136"/>
                </a:cubicBezTo>
                <a:lnTo>
                  <a:pt x="73739" y="3428136"/>
                </a:lnTo>
                <a:cubicBezTo>
                  <a:pt x="33014" y="3428136"/>
                  <a:pt x="0" y="3395122"/>
                  <a:pt x="0" y="3354397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646" dist="921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6168139" y="1161143"/>
            <a:ext cx="5649052" cy="36862"/>
          </a:xfrm>
          <a:custGeom>
            <a:avLst/>
            <a:gdLst/>
            <a:ahLst/>
            <a:cxnLst/>
            <a:rect l="l" t="t" r="r" b="b"/>
            <a:pathLst>
              <a:path w="5649052" h="36862">
                <a:moveTo>
                  <a:pt x="36862" y="0"/>
                </a:moveTo>
                <a:lnTo>
                  <a:pt x="5612190" y="0"/>
                </a:lnTo>
                <a:cubicBezTo>
                  <a:pt x="5632549" y="0"/>
                  <a:pt x="5649052" y="16504"/>
                  <a:pt x="5649052" y="36862"/>
                </a:cubicBezTo>
                <a:lnTo>
                  <a:pt x="5649052" y="36862"/>
                </a:lnTo>
                <a:lnTo>
                  <a:pt x="0" y="36862"/>
                </a:ln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81" name="Shape 79"/>
          <p:cNvSpPr/>
          <p:nvPr/>
        </p:nvSpPr>
        <p:spPr>
          <a:xfrm>
            <a:off x="6278724" y="1290159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368617" h="368617">
                <a:moveTo>
                  <a:pt x="73723" y="0"/>
                </a:moveTo>
                <a:lnTo>
                  <a:pt x="294893" y="0"/>
                </a:lnTo>
                <a:cubicBezTo>
                  <a:pt x="335610" y="0"/>
                  <a:pt x="368617" y="33007"/>
                  <a:pt x="368617" y="73723"/>
                </a:cubicBezTo>
                <a:lnTo>
                  <a:pt x="368617" y="294893"/>
                </a:lnTo>
                <a:cubicBezTo>
                  <a:pt x="368617" y="335610"/>
                  <a:pt x="335610" y="368617"/>
                  <a:pt x="294893" y="368617"/>
                </a:cubicBezTo>
                <a:lnTo>
                  <a:pt x="73723" y="368617"/>
                </a:lnTo>
                <a:cubicBezTo>
                  <a:pt x="33007" y="368617"/>
                  <a:pt x="0" y="335610"/>
                  <a:pt x="0" y="294893"/>
                </a:cubicBezTo>
                <a:lnTo>
                  <a:pt x="0" y="73723"/>
                </a:lnTo>
                <a:cubicBezTo>
                  <a:pt x="0" y="33034"/>
                  <a:pt x="33034" y="0"/>
                  <a:pt x="73723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82" name="Shape 80"/>
          <p:cNvSpPr/>
          <p:nvPr/>
        </p:nvSpPr>
        <p:spPr>
          <a:xfrm>
            <a:off x="6392765" y="1391528"/>
            <a:ext cx="145143" cy="165878"/>
          </a:xfrm>
          <a:custGeom>
            <a:avLst/>
            <a:gdLst/>
            <a:ahLst/>
            <a:cxnLst/>
            <a:rect l="l" t="t" r="r" b="b"/>
            <a:pathLst>
              <a:path w="145143" h="165878">
                <a:moveTo>
                  <a:pt x="145143" y="66675"/>
                </a:moveTo>
                <a:cubicBezTo>
                  <a:pt x="140348" y="69850"/>
                  <a:pt x="134840" y="72409"/>
                  <a:pt x="129106" y="74451"/>
                </a:cubicBezTo>
                <a:cubicBezTo>
                  <a:pt x="113879" y="79893"/>
                  <a:pt x="93889" y="82939"/>
                  <a:pt x="72571" y="82939"/>
                </a:cubicBezTo>
                <a:cubicBezTo>
                  <a:pt x="51254" y="82939"/>
                  <a:pt x="31232" y="79861"/>
                  <a:pt x="16037" y="74451"/>
                </a:cubicBezTo>
                <a:cubicBezTo>
                  <a:pt x="10335" y="72409"/>
                  <a:pt x="4795" y="69850"/>
                  <a:pt x="0" y="66675"/>
                </a:cubicBezTo>
                <a:lnTo>
                  <a:pt x="0" y="93306"/>
                </a:lnTo>
                <a:cubicBezTo>
                  <a:pt x="0" y="107626"/>
                  <a:pt x="32495" y="119224"/>
                  <a:pt x="72571" y="119224"/>
                </a:cubicBezTo>
                <a:cubicBezTo>
                  <a:pt x="112648" y="119224"/>
                  <a:pt x="145143" y="107626"/>
                  <a:pt x="145143" y="93306"/>
                </a:cubicBezTo>
                <a:lnTo>
                  <a:pt x="145143" y="66675"/>
                </a:lnTo>
                <a:close/>
                <a:moveTo>
                  <a:pt x="145143" y="41469"/>
                </a:moveTo>
                <a:lnTo>
                  <a:pt x="145143" y="25918"/>
                </a:lnTo>
                <a:cubicBezTo>
                  <a:pt x="145143" y="11598"/>
                  <a:pt x="112648" y="0"/>
                  <a:pt x="72571" y="0"/>
                </a:cubicBezTo>
                <a:cubicBezTo>
                  <a:pt x="32495" y="0"/>
                  <a:pt x="0" y="11598"/>
                  <a:pt x="0" y="25918"/>
                </a:cubicBezTo>
                <a:lnTo>
                  <a:pt x="0" y="41469"/>
                </a:lnTo>
                <a:cubicBezTo>
                  <a:pt x="0" y="55789"/>
                  <a:pt x="32495" y="67388"/>
                  <a:pt x="72571" y="67388"/>
                </a:cubicBezTo>
                <a:cubicBezTo>
                  <a:pt x="112648" y="67388"/>
                  <a:pt x="145143" y="55789"/>
                  <a:pt x="145143" y="41469"/>
                </a:cubicBezTo>
                <a:close/>
                <a:moveTo>
                  <a:pt x="129106" y="126287"/>
                </a:moveTo>
                <a:cubicBezTo>
                  <a:pt x="113911" y="131698"/>
                  <a:pt x="93922" y="134776"/>
                  <a:pt x="72571" y="134776"/>
                </a:cubicBezTo>
                <a:cubicBezTo>
                  <a:pt x="51221" y="134776"/>
                  <a:pt x="31232" y="131698"/>
                  <a:pt x="16037" y="126287"/>
                </a:cubicBezTo>
                <a:cubicBezTo>
                  <a:pt x="10335" y="124246"/>
                  <a:pt x="4795" y="121687"/>
                  <a:pt x="0" y="118512"/>
                </a:cubicBezTo>
                <a:lnTo>
                  <a:pt x="0" y="139959"/>
                </a:lnTo>
                <a:cubicBezTo>
                  <a:pt x="0" y="154279"/>
                  <a:pt x="32495" y="165878"/>
                  <a:pt x="72571" y="165878"/>
                </a:cubicBezTo>
                <a:cubicBezTo>
                  <a:pt x="112648" y="165878"/>
                  <a:pt x="145143" y="154279"/>
                  <a:pt x="145143" y="139959"/>
                </a:cubicBezTo>
                <a:lnTo>
                  <a:pt x="145143" y="118512"/>
                </a:lnTo>
                <a:cubicBezTo>
                  <a:pt x="140348" y="121687"/>
                  <a:pt x="134840" y="124246"/>
                  <a:pt x="129106" y="12628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3" name="Text 81"/>
          <p:cNvSpPr/>
          <p:nvPr/>
        </p:nvSpPr>
        <p:spPr>
          <a:xfrm>
            <a:off x="6721065" y="1345451"/>
            <a:ext cx="645079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语料库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278724" y="1732499"/>
            <a:ext cx="5427882" cy="488417"/>
          </a:xfrm>
          <a:custGeom>
            <a:avLst/>
            <a:gdLst/>
            <a:ahLst/>
            <a:cxnLst/>
            <a:rect l="l" t="t" r="r" b="b"/>
            <a:pathLst>
              <a:path w="5427882" h="488417">
                <a:moveTo>
                  <a:pt x="73722" y="0"/>
                </a:moveTo>
                <a:lnTo>
                  <a:pt x="5354160" y="0"/>
                </a:lnTo>
                <a:cubicBezTo>
                  <a:pt x="5394876" y="0"/>
                  <a:pt x="5427882" y="33006"/>
                  <a:pt x="5427882" y="73722"/>
                </a:cubicBezTo>
                <a:lnTo>
                  <a:pt x="5427882" y="414696"/>
                </a:lnTo>
                <a:cubicBezTo>
                  <a:pt x="5427882" y="455411"/>
                  <a:pt x="5394876" y="488417"/>
                  <a:pt x="5354160" y="488417"/>
                </a:cubicBezTo>
                <a:lnTo>
                  <a:pt x="73722" y="488417"/>
                </a:lnTo>
                <a:cubicBezTo>
                  <a:pt x="33006" y="488417"/>
                  <a:pt x="0" y="455411"/>
                  <a:pt x="0" y="414696"/>
                </a:cubicBezTo>
                <a:lnTo>
                  <a:pt x="0" y="73722"/>
                </a:lnTo>
                <a:cubicBezTo>
                  <a:pt x="0" y="33034"/>
                  <a:pt x="33034" y="0"/>
                  <a:pt x="73722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85" name="Text 83"/>
          <p:cNvSpPr/>
          <p:nvPr/>
        </p:nvSpPr>
        <p:spPr>
          <a:xfrm>
            <a:off x="6352448" y="1806222"/>
            <a:ext cx="5344943" cy="1750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"I try to incorporate walking into my daily routine."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352448" y="2002050"/>
            <a:ext cx="5335728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描述步行习惯的开头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6278724" y="2296943"/>
            <a:ext cx="5427882" cy="488417"/>
          </a:xfrm>
          <a:custGeom>
            <a:avLst/>
            <a:gdLst/>
            <a:ahLst/>
            <a:cxnLst/>
            <a:rect l="l" t="t" r="r" b="b"/>
            <a:pathLst>
              <a:path w="5427882" h="488417">
                <a:moveTo>
                  <a:pt x="73722" y="0"/>
                </a:moveTo>
                <a:lnTo>
                  <a:pt x="5354160" y="0"/>
                </a:lnTo>
                <a:cubicBezTo>
                  <a:pt x="5394876" y="0"/>
                  <a:pt x="5427882" y="33006"/>
                  <a:pt x="5427882" y="73722"/>
                </a:cubicBezTo>
                <a:lnTo>
                  <a:pt x="5427882" y="414696"/>
                </a:lnTo>
                <a:cubicBezTo>
                  <a:pt x="5427882" y="455411"/>
                  <a:pt x="5394876" y="488417"/>
                  <a:pt x="5354160" y="488417"/>
                </a:cubicBezTo>
                <a:lnTo>
                  <a:pt x="73722" y="488417"/>
                </a:lnTo>
                <a:cubicBezTo>
                  <a:pt x="33006" y="488417"/>
                  <a:pt x="0" y="455411"/>
                  <a:pt x="0" y="414696"/>
                </a:cubicBezTo>
                <a:lnTo>
                  <a:pt x="0" y="73722"/>
                </a:lnTo>
                <a:cubicBezTo>
                  <a:pt x="0" y="33034"/>
                  <a:pt x="33034" y="0"/>
                  <a:pt x="73722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88" name="Text 86"/>
          <p:cNvSpPr/>
          <p:nvPr/>
        </p:nvSpPr>
        <p:spPr>
          <a:xfrm>
            <a:off x="6352448" y="2370667"/>
            <a:ext cx="5344943" cy="1750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"Walking wasn't a conscious activity; it was just part of playing."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6352448" y="2566494"/>
            <a:ext cx="5335728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童年步行与现在的对比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6278724" y="2861388"/>
            <a:ext cx="5427882" cy="488417"/>
          </a:xfrm>
          <a:custGeom>
            <a:avLst/>
            <a:gdLst/>
            <a:ahLst/>
            <a:cxnLst/>
            <a:rect l="l" t="t" r="r" b="b"/>
            <a:pathLst>
              <a:path w="5427882" h="488417">
                <a:moveTo>
                  <a:pt x="73722" y="0"/>
                </a:moveTo>
                <a:lnTo>
                  <a:pt x="5354160" y="0"/>
                </a:lnTo>
                <a:cubicBezTo>
                  <a:pt x="5394876" y="0"/>
                  <a:pt x="5427882" y="33006"/>
                  <a:pt x="5427882" y="73722"/>
                </a:cubicBezTo>
                <a:lnTo>
                  <a:pt x="5427882" y="414696"/>
                </a:lnTo>
                <a:cubicBezTo>
                  <a:pt x="5427882" y="455411"/>
                  <a:pt x="5394876" y="488417"/>
                  <a:pt x="5354160" y="488417"/>
                </a:cubicBezTo>
                <a:lnTo>
                  <a:pt x="73722" y="488417"/>
                </a:lnTo>
                <a:cubicBezTo>
                  <a:pt x="33006" y="488417"/>
                  <a:pt x="0" y="455411"/>
                  <a:pt x="0" y="414696"/>
                </a:cubicBezTo>
                <a:lnTo>
                  <a:pt x="0" y="73722"/>
                </a:lnTo>
                <a:cubicBezTo>
                  <a:pt x="0" y="33034"/>
                  <a:pt x="33034" y="0"/>
                  <a:pt x="73722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91" name="Text 89"/>
          <p:cNvSpPr/>
          <p:nvPr/>
        </p:nvSpPr>
        <p:spPr>
          <a:xfrm>
            <a:off x="6352448" y="2935111"/>
            <a:ext cx="5344943" cy="1750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"Parks offer a respite from urban noise and crowds."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6352448" y="3130939"/>
            <a:ext cx="5335728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解释公园吸引力的核心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6278724" y="3425832"/>
            <a:ext cx="5427882" cy="488417"/>
          </a:xfrm>
          <a:custGeom>
            <a:avLst/>
            <a:gdLst/>
            <a:ahLst/>
            <a:cxnLst/>
            <a:rect l="l" t="t" r="r" b="b"/>
            <a:pathLst>
              <a:path w="5427882" h="488417">
                <a:moveTo>
                  <a:pt x="73722" y="0"/>
                </a:moveTo>
                <a:lnTo>
                  <a:pt x="5354160" y="0"/>
                </a:lnTo>
                <a:cubicBezTo>
                  <a:pt x="5394876" y="0"/>
                  <a:pt x="5427882" y="33006"/>
                  <a:pt x="5427882" y="73722"/>
                </a:cubicBezTo>
                <a:lnTo>
                  <a:pt x="5427882" y="414696"/>
                </a:lnTo>
                <a:cubicBezTo>
                  <a:pt x="5427882" y="455411"/>
                  <a:pt x="5394876" y="488417"/>
                  <a:pt x="5354160" y="488417"/>
                </a:cubicBezTo>
                <a:lnTo>
                  <a:pt x="73722" y="488417"/>
                </a:lnTo>
                <a:cubicBezTo>
                  <a:pt x="33006" y="488417"/>
                  <a:pt x="0" y="455411"/>
                  <a:pt x="0" y="414696"/>
                </a:cubicBezTo>
                <a:lnTo>
                  <a:pt x="0" y="73722"/>
                </a:lnTo>
                <a:cubicBezTo>
                  <a:pt x="0" y="33034"/>
                  <a:pt x="33034" y="0"/>
                  <a:pt x="73722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94" name="Text 92"/>
          <p:cNvSpPr/>
          <p:nvPr/>
        </p:nvSpPr>
        <p:spPr>
          <a:xfrm>
            <a:off x="6352448" y="3499556"/>
            <a:ext cx="5344943" cy="1750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"Somewhere with stunning natural scenery."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6352448" y="3695383"/>
            <a:ext cx="5335728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描述理想步行地点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6278724" y="3990277"/>
            <a:ext cx="5427882" cy="488417"/>
          </a:xfrm>
          <a:custGeom>
            <a:avLst/>
            <a:gdLst/>
            <a:ahLst/>
            <a:cxnLst/>
            <a:rect l="l" t="t" r="r" b="b"/>
            <a:pathLst>
              <a:path w="5427882" h="488417">
                <a:moveTo>
                  <a:pt x="73722" y="0"/>
                </a:moveTo>
                <a:lnTo>
                  <a:pt x="5354160" y="0"/>
                </a:lnTo>
                <a:cubicBezTo>
                  <a:pt x="5394876" y="0"/>
                  <a:pt x="5427882" y="33006"/>
                  <a:pt x="5427882" y="73722"/>
                </a:cubicBezTo>
                <a:lnTo>
                  <a:pt x="5427882" y="414696"/>
                </a:lnTo>
                <a:cubicBezTo>
                  <a:pt x="5427882" y="455411"/>
                  <a:pt x="5394876" y="488417"/>
                  <a:pt x="5354160" y="488417"/>
                </a:cubicBezTo>
                <a:lnTo>
                  <a:pt x="73722" y="488417"/>
                </a:lnTo>
                <a:cubicBezTo>
                  <a:pt x="33006" y="488417"/>
                  <a:pt x="0" y="455411"/>
                  <a:pt x="0" y="414696"/>
                </a:cubicBezTo>
                <a:lnTo>
                  <a:pt x="0" y="73722"/>
                </a:lnTo>
                <a:cubicBezTo>
                  <a:pt x="0" y="33034"/>
                  <a:pt x="33034" y="0"/>
                  <a:pt x="73722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97" name="Text 95"/>
          <p:cNvSpPr/>
          <p:nvPr/>
        </p:nvSpPr>
        <p:spPr>
          <a:xfrm>
            <a:off x="6352448" y="4064000"/>
            <a:ext cx="5344943" cy="1750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"It was a simple walk near my home, but very refreshing."</a:t>
            </a:r>
            <a:endParaRPr lang="en-US" sz="1600" dirty="0"/>
          </a:p>
        </p:txBody>
      </p:sp>
      <p:sp>
        <p:nvSpPr>
          <p:cNvPr id="98" name="Text 96"/>
          <p:cNvSpPr/>
          <p:nvPr/>
        </p:nvSpPr>
        <p:spPr>
          <a:xfrm>
            <a:off x="6352448" y="4259828"/>
            <a:ext cx="5335728" cy="14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描述近期步行经历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6168139" y="4665306"/>
            <a:ext cx="5649052" cy="1806222"/>
          </a:xfrm>
          <a:custGeom>
            <a:avLst/>
            <a:gdLst/>
            <a:ahLst/>
            <a:cxnLst/>
            <a:rect l="l" t="t" r="r" b="b"/>
            <a:pathLst>
              <a:path w="5649052" h="1806222">
                <a:moveTo>
                  <a:pt x="73730" y="0"/>
                </a:moveTo>
                <a:lnTo>
                  <a:pt x="5575322" y="0"/>
                </a:lnTo>
                <a:cubicBezTo>
                  <a:pt x="5616042" y="0"/>
                  <a:pt x="5649052" y="33010"/>
                  <a:pt x="5649052" y="73730"/>
                </a:cubicBezTo>
                <a:lnTo>
                  <a:pt x="5649052" y="1732492"/>
                </a:lnTo>
                <a:cubicBezTo>
                  <a:pt x="5649052" y="1773212"/>
                  <a:pt x="5616042" y="1806222"/>
                  <a:pt x="5575322" y="1806222"/>
                </a:cubicBezTo>
                <a:lnTo>
                  <a:pt x="73730" y="1806222"/>
                </a:lnTo>
                <a:cubicBezTo>
                  <a:pt x="33010" y="1806222"/>
                  <a:pt x="0" y="1773212"/>
                  <a:pt x="0" y="1732492"/>
                </a:cubicBezTo>
                <a:lnTo>
                  <a:pt x="0" y="73730"/>
                </a:lnTo>
                <a:cubicBezTo>
                  <a:pt x="0" y="33037"/>
                  <a:pt x="33037" y="0"/>
                  <a:pt x="7373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100" name="Shape 98"/>
          <p:cNvSpPr/>
          <p:nvPr/>
        </p:nvSpPr>
        <p:spPr>
          <a:xfrm>
            <a:off x="6278724" y="4775891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368617" h="368617">
                <a:moveTo>
                  <a:pt x="73723" y="0"/>
                </a:moveTo>
                <a:lnTo>
                  <a:pt x="294893" y="0"/>
                </a:lnTo>
                <a:cubicBezTo>
                  <a:pt x="335610" y="0"/>
                  <a:pt x="368617" y="33007"/>
                  <a:pt x="368617" y="73723"/>
                </a:cubicBezTo>
                <a:lnTo>
                  <a:pt x="368617" y="294893"/>
                </a:lnTo>
                <a:cubicBezTo>
                  <a:pt x="368617" y="335610"/>
                  <a:pt x="335610" y="368617"/>
                  <a:pt x="294893" y="368617"/>
                </a:cubicBezTo>
                <a:lnTo>
                  <a:pt x="73723" y="368617"/>
                </a:lnTo>
                <a:cubicBezTo>
                  <a:pt x="33007" y="368617"/>
                  <a:pt x="0" y="335610"/>
                  <a:pt x="0" y="294893"/>
                </a:cubicBezTo>
                <a:lnTo>
                  <a:pt x="0" y="73723"/>
                </a:lnTo>
                <a:cubicBezTo>
                  <a:pt x="0" y="33034"/>
                  <a:pt x="33034" y="0"/>
                  <a:pt x="73723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101" name="Shape 99"/>
          <p:cNvSpPr/>
          <p:nvPr/>
        </p:nvSpPr>
        <p:spPr>
          <a:xfrm>
            <a:off x="6382398" y="4877261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82939" y="165878"/>
                </a:moveTo>
                <a:cubicBezTo>
                  <a:pt x="128714" y="165878"/>
                  <a:pt x="165878" y="128714"/>
                  <a:pt x="165878" y="82939"/>
                </a:cubicBezTo>
                <a:cubicBezTo>
                  <a:pt x="165878" y="37164"/>
                  <a:pt x="128714" y="0"/>
                  <a:pt x="82939" y="0"/>
                </a:cubicBezTo>
                <a:cubicBezTo>
                  <a:pt x="37164" y="0"/>
                  <a:pt x="0" y="37164"/>
                  <a:pt x="0" y="82939"/>
                </a:cubicBezTo>
                <a:cubicBezTo>
                  <a:pt x="0" y="128714"/>
                  <a:pt x="37164" y="165878"/>
                  <a:pt x="82939" y="165878"/>
                </a:cubicBezTo>
                <a:close/>
                <a:moveTo>
                  <a:pt x="82939" y="57020"/>
                </a:moveTo>
                <a:cubicBezTo>
                  <a:pt x="77204" y="57020"/>
                  <a:pt x="72571" y="61653"/>
                  <a:pt x="72571" y="67388"/>
                </a:cubicBezTo>
                <a:cubicBezTo>
                  <a:pt x="72571" y="71697"/>
                  <a:pt x="69105" y="75163"/>
                  <a:pt x="64796" y="75163"/>
                </a:cubicBezTo>
                <a:cubicBezTo>
                  <a:pt x="60487" y="75163"/>
                  <a:pt x="57020" y="71697"/>
                  <a:pt x="57020" y="67388"/>
                </a:cubicBezTo>
                <a:cubicBezTo>
                  <a:pt x="57020" y="53068"/>
                  <a:pt x="68619" y="41469"/>
                  <a:pt x="82939" y="41469"/>
                </a:cubicBezTo>
                <a:cubicBezTo>
                  <a:pt x="97259" y="41469"/>
                  <a:pt x="108857" y="53068"/>
                  <a:pt x="108857" y="67388"/>
                </a:cubicBezTo>
                <a:cubicBezTo>
                  <a:pt x="108857" y="82680"/>
                  <a:pt x="97194" y="89159"/>
                  <a:pt x="90714" y="91524"/>
                </a:cubicBezTo>
                <a:lnTo>
                  <a:pt x="90714" y="92755"/>
                </a:lnTo>
                <a:cubicBezTo>
                  <a:pt x="90714" y="97064"/>
                  <a:pt x="87248" y="100531"/>
                  <a:pt x="82939" y="100531"/>
                </a:cubicBezTo>
                <a:cubicBezTo>
                  <a:pt x="78630" y="100531"/>
                  <a:pt x="75163" y="97064"/>
                  <a:pt x="75163" y="92755"/>
                </a:cubicBezTo>
                <a:lnTo>
                  <a:pt x="75163" y="90131"/>
                </a:lnTo>
                <a:cubicBezTo>
                  <a:pt x="75163" y="83490"/>
                  <a:pt x="79958" y="78727"/>
                  <a:pt x="84915" y="77107"/>
                </a:cubicBezTo>
                <a:cubicBezTo>
                  <a:pt x="86989" y="76427"/>
                  <a:pt x="89192" y="75325"/>
                  <a:pt x="90811" y="73770"/>
                </a:cubicBezTo>
                <a:cubicBezTo>
                  <a:pt x="92205" y="72409"/>
                  <a:pt x="93306" y="70530"/>
                  <a:pt x="93306" y="67420"/>
                </a:cubicBezTo>
                <a:cubicBezTo>
                  <a:pt x="93306" y="61686"/>
                  <a:pt x="88673" y="57053"/>
                  <a:pt x="82939" y="57053"/>
                </a:cubicBezTo>
                <a:close/>
                <a:moveTo>
                  <a:pt x="72571" y="119224"/>
                </a:moveTo>
                <a:cubicBezTo>
                  <a:pt x="72571" y="113503"/>
                  <a:pt x="77217" y="108857"/>
                  <a:pt x="82939" y="108857"/>
                </a:cubicBezTo>
                <a:cubicBezTo>
                  <a:pt x="88661" y="108857"/>
                  <a:pt x="93306" y="113503"/>
                  <a:pt x="93306" y="119224"/>
                </a:cubicBezTo>
                <a:cubicBezTo>
                  <a:pt x="93306" y="124946"/>
                  <a:pt x="88661" y="129592"/>
                  <a:pt x="82939" y="129592"/>
                </a:cubicBezTo>
                <a:cubicBezTo>
                  <a:pt x="77217" y="129592"/>
                  <a:pt x="72571" y="124946"/>
                  <a:pt x="72571" y="11922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2" name="Text 100"/>
          <p:cNvSpPr/>
          <p:nvPr/>
        </p:nvSpPr>
        <p:spPr>
          <a:xfrm>
            <a:off x="6721065" y="4831184"/>
            <a:ext cx="1124281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5个核心小题</a:t>
            </a: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6278724" y="5218231"/>
            <a:ext cx="184308" cy="184308"/>
          </a:xfrm>
          <a:custGeom>
            <a:avLst/>
            <a:gdLst/>
            <a:ahLst/>
            <a:cxnLst/>
            <a:rect l="l" t="t" r="r" b="b"/>
            <a:pathLst>
              <a:path w="184308" h="184308">
                <a:moveTo>
                  <a:pt x="92154" y="0"/>
                </a:moveTo>
                <a:lnTo>
                  <a:pt x="92154" y="0"/>
                </a:lnTo>
                <a:cubicBezTo>
                  <a:pt x="143015" y="0"/>
                  <a:pt x="184308" y="41293"/>
                  <a:pt x="184308" y="92154"/>
                </a:cubicBezTo>
                <a:lnTo>
                  <a:pt x="184308" y="92154"/>
                </a:lnTo>
                <a:cubicBezTo>
                  <a:pt x="184308" y="143015"/>
                  <a:pt x="143015" y="184308"/>
                  <a:pt x="92154" y="184308"/>
                </a:cubicBezTo>
                <a:lnTo>
                  <a:pt x="92154" y="184308"/>
                </a:lnTo>
                <a:cubicBezTo>
                  <a:pt x="41293" y="184308"/>
                  <a:pt x="0" y="143015"/>
                  <a:pt x="0" y="92154"/>
                </a:cubicBezTo>
                <a:lnTo>
                  <a:pt x="0" y="92154"/>
                </a:lnTo>
                <a:cubicBezTo>
                  <a:pt x="0" y="41293"/>
                  <a:pt x="41293" y="0"/>
                  <a:pt x="92154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104" name="Text 102"/>
          <p:cNvSpPr/>
          <p:nvPr/>
        </p:nvSpPr>
        <p:spPr>
          <a:xfrm>
            <a:off x="6251078" y="5218231"/>
            <a:ext cx="239601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6536756" y="5218231"/>
            <a:ext cx="1142712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Do you walk a lot?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6278724" y="5457832"/>
            <a:ext cx="184308" cy="184308"/>
          </a:xfrm>
          <a:custGeom>
            <a:avLst/>
            <a:gdLst/>
            <a:ahLst/>
            <a:cxnLst/>
            <a:rect l="l" t="t" r="r" b="b"/>
            <a:pathLst>
              <a:path w="184308" h="184308">
                <a:moveTo>
                  <a:pt x="92154" y="0"/>
                </a:moveTo>
                <a:lnTo>
                  <a:pt x="92154" y="0"/>
                </a:lnTo>
                <a:cubicBezTo>
                  <a:pt x="143015" y="0"/>
                  <a:pt x="184308" y="41293"/>
                  <a:pt x="184308" y="92154"/>
                </a:cubicBezTo>
                <a:lnTo>
                  <a:pt x="184308" y="92154"/>
                </a:lnTo>
                <a:cubicBezTo>
                  <a:pt x="184308" y="143015"/>
                  <a:pt x="143015" y="184308"/>
                  <a:pt x="92154" y="184308"/>
                </a:cubicBezTo>
                <a:lnTo>
                  <a:pt x="92154" y="184308"/>
                </a:lnTo>
                <a:cubicBezTo>
                  <a:pt x="41293" y="184308"/>
                  <a:pt x="0" y="143015"/>
                  <a:pt x="0" y="92154"/>
                </a:cubicBezTo>
                <a:lnTo>
                  <a:pt x="0" y="92154"/>
                </a:lnTo>
                <a:cubicBezTo>
                  <a:pt x="0" y="41293"/>
                  <a:pt x="41293" y="0"/>
                  <a:pt x="92154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107" name="Text 105"/>
          <p:cNvSpPr/>
          <p:nvPr/>
        </p:nvSpPr>
        <p:spPr>
          <a:xfrm>
            <a:off x="6251078" y="5457832"/>
            <a:ext cx="239601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6536756" y="5457832"/>
            <a:ext cx="2184054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Did you often go outside as a child?</a:t>
            </a:r>
            <a:endParaRPr lang="en-US" sz="1600" dirty="0"/>
          </a:p>
        </p:txBody>
      </p:sp>
      <p:sp>
        <p:nvSpPr>
          <p:cNvPr id="109" name="Shape 107"/>
          <p:cNvSpPr/>
          <p:nvPr/>
        </p:nvSpPr>
        <p:spPr>
          <a:xfrm>
            <a:off x="6278724" y="5697433"/>
            <a:ext cx="184308" cy="184308"/>
          </a:xfrm>
          <a:custGeom>
            <a:avLst/>
            <a:gdLst/>
            <a:ahLst/>
            <a:cxnLst/>
            <a:rect l="l" t="t" r="r" b="b"/>
            <a:pathLst>
              <a:path w="184308" h="184308">
                <a:moveTo>
                  <a:pt x="92154" y="0"/>
                </a:moveTo>
                <a:lnTo>
                  <a:pt x="92154" y="0"/>
                </a:lnTo>
                <a:cubicBezTo>
                  <a:pt x="143015" y="0"/>
                  <a:pt x="184308" y="41293"/>
                  <a:pt x="184308" y="92154"/>
                </a:cubicBezTo>
                <a:lnTo>
                  <a:pt x="184308" y="92154"/>
                </a:lnTo>
                <a:cubicBezTo>
                  <a:pt x="184308" y="143015"/>
                  <a:pt x="143015" y="184308"/>
                  <a:pt x="92154" y="184308"/>
                </a:cubicBezTo>
                <a:lnTo>
                  <a:pt x="92154" y="184308"/>
                </a:lnTo>
                <a:cubicBezTo>
                  <a:pt x="41293" y="184308"/>
                  <a:pt x="0" y="143015"/>
                  <a:pt x="0" y="92154"/>
                </a:cubicBezTo>
                <a:lnTo>
                  <a:pt x="0" y="92154"/>
                </a:lnTo>
                <a:cubicBezTo>
                  <a:pt x="0" y="41293"/>
                  <a:pt x="41293" y="0"/>
                  <a:pt x="92154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110" name="Text 108"/>
          <p:cNvSpPr/>
          <p:nvPr/>
        </p:nvSpPr>
        <p:spPr>
          <a:xfrm>
            <a:off x="6251078" y="5697433"/>
            <a:ext cx="239601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11" name="Text 109"/>
          <p:cNvSpPr/>
          <p:nvPr/>
        </p:nvSpPr>
        <p:spPr>
          <a:xfrm>
            <a:off x="6536756" y="5697433"/>
            <a:ext cx="2211701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Why do people like to walk in parks?</a:t>
            </a:r>
            <a:endParaRPr lang="en-US" sz="1600" dirty="0"/>
          </a:p>
        </p:txBody>
      </p:sp>
      <p:sp>
        <p:nvSpPr>
          <p:cNvPr id="112" name="Shape 110"/>
          <p:cNvSpPr/>
          <p:nvPr/>
        </p:nvSpPr>
        <p:spPr>
          <a:xfrm>
            <a:off x="6278724" y="5937034"/>
            <a:ext cx="184308" cy="184308"/>
          </a:xfrm>
          <a:custGeom>
            <a:avLst/>
            <a:gdLst/>
            <a:ahLst/>
            <a:cxnLst/>
            <a:rect l="l" t="t" r="r" b="b"/>
            <a:pathLst>
              <a:path w="184308" h="184308">
                <a:moveTo>
                  <a:pt x="92154" y="0"/>
                </a:moveTo>
                <a:lnTo>
                  <a:pt x="92154" y="0"/>
                </a:lnTo>
                <a:cubicBezTo>
                  <a:pt x="143015" y="0"/>
                  <a:pt x="184308" y="41293"/>
                  <a:pt x="184308" y="92154"/>
                </a:cubicBezTo>
                <a:lnTo>
                  <a:pt x="184308" y="92154"/>
                </a:lnTo>
                <a:cubicBezTo>
                  <a:pt x="184308" y="143015"/>
                  <a:pt x="143015" y="184308"/>
                  <a:pt x="92154" y="184308"/>
                </a:cubicBezTo>
                <a:lnTo>
                  <a:pt x="92154" y="184308"/>
                </a:lnTo>
                <a:cubicBezTo>
                  <a:pt x="41293" y="184308"/>
                  <a:pt x="0" y="143015"/>
                  <a:pt x="0" y="92154"/>
                </a:cubicBezTo>
                <a:lnTo>
                  <a:pt x="0" y="92154"/>
                </a:lnTo>
                <a:cubicBezTo>
                  <a:pt x="0" y="41293"/>
                  <a:pt x="41293" y="0"/>
                  <a:pt x="92154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113" name="Text 111"/>
          <p:cNvSpPr/>
          <p:nvPr/>
        </p:nvSpPr>
        <p:spPr>
          <a:xfrm>
            <a:off x="6251078" y="5937034"/>
            <a:ext cx="239601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114" name="Text 112"/>
          <p:cNvSpPr/>
          <p:nvPr/>
        </p:nvSpPr>
        <p:spPr>
          <a:xfrm>
            <a:off x="6536756" y="5937034"/>
            <a:ext cx="2552671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Where would you like to take a long walk?</a:t>
            </a:r>
            <a:endParaRPr lang="en-US" sz="1600" dirty="0"/>
          </a:p>
        </p:txBody>
      </p:sp>
      <p:sp>
        <p:nvSpPr>
          <p:cNvPr id="115" name="Shape 113"/>
          <p:cNvSpPr/>
          <p:nvPr/>
        </p:nvSpPr>
        <p:spPr>
          <a:xfrm>
            <a:off x="6278724" y="6176635"/>
            <a:ext cx="184308" cy="184308"/>
          </a:xfrm>
          <a:custGeom>
            <a:avLst/>
            <a:gdLst/>
            <a:ahLst/>
            <a:cxnLst/>
            <a:rect l="l" t="t" r="r" b="b"/>
            <a:pathLst>
              <a:path w="184308" h="184308">
                <a:moveTo>
                  <a:pt x="92154" y="0"/>
                </a:moveTo>
                <a:lnTo>
                  <a:pt x="92154" y="0"/>
                </a:lnTo>
                <a:cubicBezTo>
                  <a:pt x="143015" y="0"/>
                  <a:pt x="184308" y="41293"/>
                  <a:pt x="184308" y="92154"/>
                </a:cubicBezTo>
                <a:lnTo>
                  <a:pt x="184308" y="92154"/>
                </a:lnTo>
                <a:cubicBezTo>
                  <a:pt x="184308" y="143015"/>
                  <a:pt x="143015" y="184308"/>
                  <a:pt x="92154" y="184308"/>
                </a:cubicBezTo>
                <a:lnTo>
                  <a:pt x="92154" y="184308"/>
                </a:lnTo>
                <a:cubicBezTo>
                  <a:pt x="41293" y="184308"/>
                  <a:pt x="0" y="143015"/>
                  <a:pt x="0" y="92154"/>
                </a:cubicBezTo>
                <a:lnTo>
                  <a:pt x="0" y="92154"/>
                </a:lnTo>
                <a:cubicBezTo>
                  <a:pt x="0" y="41293"/>
                  <a:pt x="41293" y="0"/>
                  <a:pt x="92154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116" name="Text 114"/>
          <p:cNvSpPr/>
          <p:nvPr/>
        </p:nvSpPr>
        <p:spPr>
          <a:xfrm>
            <a:off x="6251078" y="6176635"/>
            <a:ext cx="239601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</a:t>
            </a:r>
            <a:endParaRPr lang="en-US" sz="1600" dirty="0"/>
          </a:p>
        </p:txBody>
      </p:sp>
      <p:sp>
        <p:nvSpPr>
          <p:cNvPr id="117" name="Text 115"/>
          <p:cNvSpPr/>
          <p:nvPr/>
        </p:nvSpPr>
        <p:spPr>
          <a:xfrm>
            <a:off x="6536756" y="6176635"/>
            <a:ext cx="2147193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Where did you go for a walk lately?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TOPIC 03 · TEACHING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Walking 散步 | 答题思路与高分答案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4A87D"/>
          </a:solidFill>
        </p:spPr>
      </p:sp>
      <p:sp>
        <p:nvSpPr>
          <p:cNvPr id="5" name="Shape 3"/>
          <p:cNvSpPr/>
          <p:nvPr/>
        </p:nvSpPr>
        <p:spPr>
          <a:xfrm>
            <a:off x="317500" y="1158875"/>
            <a:ext cx="3770313" cy="3222625"/>
          </a:xfrm>
          <a:custGeom>
            <a:avLst/>
            <a:gdLst/>
            <a:ahLst/>
            <a:cxnLst/>
            <a:rect l="l" t="t" r="r" b="b"/>
            <a:pathLst>
              <a:path w="3770313" h="3222625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59139"/>
                </a:lnTo>
                <a:cubicBezTo>
                  <a:pt x="3770312" y="3194201"/>
                  <a:pt x="3741889" y="3222625"/>
                  <a:pt x="3706827" y="3222625"/>
                </a:cubicBezTo>
                <a:lnTo>
                  <a:pt x="63486" y="3222625"/>
                </a:lnTo>
                <a:cubicBezTo>
                  <a:pt x="28424" y="3222625"/>
                  <a:pt x="0" y="3194201"/>
                  <a:pt x="0" y="3159139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7500" y="11588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7" name="Shape 5"/>
          <p:cNvSpPr/>
          <p:nvPr/>
        </p:nvSpPr>
        <p:spPr>
          <a:xfrm>
            <a:off x="444500" y="130365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8" name="Text 6"/>
          <p:cNvSpPr/>
          <p:nvPr/>
        </p:nvSpPr>
        <p:spPr>
          <a:xfrm>
            <a:off x="408781" y="1303655"/>
            <a:ext cx="38893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5500" y="1256030"/>
            <a:ext cx="912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步行习惯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5500" y="1478280"/>
            <a:ext cx="904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量化+融入生活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4500" y="1672590"/>
            <a:ext cx="3516313" cy="603250"/>
          </a:xfrm>
          <a:custGeom>
            <a:avLst/>
            <a:gdLst/>
            <a:ahLst/>
            <a:cxnLst/>
            <a:rect l="l" t="t" r="r" b="b"/>
            <a:pathLst>
              <a:path w="3516313" h="603250">
                <a:moveTo>
                  <a:pt x="63498" y="0"/>
                </a:moveTo>
                <a:lnTo>
                  <a:pt x="3452814" y="0"/>
                </a:lnTo>
                <a:cubicBezTo>
                  <a:pt x="3487883" y="0"/>
                  <a:pt x="3516313" y="28429"/>
                  <a:pt x="3516313" y="63498"/>
                </a:cubicBezTo>
                <a:lnTo>
                  <a:pt x="3516313" y="539752"/>
                </a:lnTo>
                <a:cubicBezTo>
                  <a:pt x="3516313" y="574821"/>
                  <a:pt x="3487883" y="603250"/>
                  <a:pt x="345281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539750" y="1722120"/>
            <a:ext cx="3389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答题思路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750" y="1990090"/>
            <a:ext cx="3389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量化习惯（如"每天"），并将其融入生活方式中解释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2438" y="2294890"/>
            <a:ext cx="3508375" cy="936625"/>
          </a:xfrm>
          <a:custGeom>
            <a:avLst/>
            <a:gdLst/>
            <a:ahLst/>
            <a:cxnLst/>
            <a:rect l="l" t="t" r="r" b="b"/>
            <a:pathLst>
              <a:path w="3508375" h="936625">
                <a:moveTo>
                  <a:pt x="15875" y="0"/>
                </a:moveTo>
                <a:lnTo>
                  <a:pt x="3444872" y="0"/>
                </a:lnTo>
                <a:cubicBezTo>
                  <a:pt x="3479944" y="0"/>
                  <a:pt x="3508375" y="28431"/>
                  <a:pt x="3508375" y="63503"/>
                </a:cubicBezTo>
                <a:lnTo>
                  <a:pt x="3508375" y="873122"/>
                </a:lnTo>
                <a:cubicBezTo>
                  <a:pt x="3508375" y="908194"/>
                  <a:pt x="3479944" y="936625"/>
                  <a:pt x="3444872" y="936625"/>
                </a:cubicBezTo>
                <a:lnTo>
                  <a:pt x="15875" y="936625"/>
                </a:lnTo>
                <a:cubicBezTo>
                  <a:pt x="7113" y="936625"/>
                  <a:pt x="0" y="929512"/>
                  <a:pt x="0" y="9207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2438" y="2294890"/>
            <a:ext cx="15875" cy="936625"/>
          </a:xfrm>
          <a:custGeom>
            <a:avLst/>
            <a:gdLst/>
            <a:ahLst/>
            <a:cxnLst/>
            <a:rect l="l" t="t" r="r" b="b"/>
            <a:pathLst>
              <a:path w="15875" h="936625">
                <a:moveTo>
                  <a:pt x="15875" y="0"/>
                </a:moveTo>
                <a:lnTo>
                  <a:pt x="15875" y="0"/>
                </a:lnTo>
                <a:lnTo>
                  <a:pt x="15875" y="936625"/>
                </a:lnTo>
                <a:lnTo>
                  <a:pt x="15875" y="936625"/>
                </a:lnTo>
                <a:cubicBezTo>
                  <a:pt x="7113" y="936625"/>
                  <a:pt x="0" y="929512"/>
                  <a:pt x="0" y="9207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16" name="Text 14"/>
          <p:cNvSpPr/>
          <p:nvPr/>
        </p:nvSpPr>
        <p:spPr>
          <a:xfrm>
            <a:off x="555625" y="2390140"/>
            <a:ext cx="3373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高分答案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5625" y="2612390"/>
            <a:ext cx="3373438" cy="523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"Yes, I'd say I do. I've made it a habit to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walk for at least 30 minutes a day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, often by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getting off the bus a stop early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or taking a post-dinner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stroll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."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2438" y="3326765"/>
            <a:ext cx="3508375" cy="539750"/>
          </a:xfrm>
          <a:custGeom>
            <a:avLst/>
            <a:gdLst/>
            <a:ahLst/>
            <a:cxnLst/>
            <a:rect l="l" t="t" r="r" b="b"/>
            <a:pathLst>
              <a:path w="3508375" h="539750">
                <a:moveTo>
                  <a:pt x="15875" y="0"/>
                </a:moveTo>
                <a:lnTo>
                  <a:pt x="3444873" y="0"/>
                </a:lnTo>
                <a:cubicBezTo>
                  <a:pt x="3479944" y="0"/>
                  <a:pt x="3508375" y="28431"/>
                  <a:pt x="3508375" y="63502"/>
                </a:cubicBezTo>
                <a:lnTo>
                  <a:pt x="3508375" y="476248"/>
                </a:lnTo>
                <a:cubicBezTo>
                  <a:pt x="3508375" y="511319"/>
                  <a:pt x="3479944" y="539750"/>
                  <a:pt x="3444873" y="539750"/>
                </a:cubicBezTo>
                <a:lnTo>
                  <a:pt x="15875" y="539750"/>
                </a:lnTo>
                <a:cubicBezTo>
                  <a:pt x="7113" y="539750"/>
                  <a:pt x="0" y="532637"/>
                  <a:pt x="0" y="523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19" name="Shape 17"/>
          <p:cNvSpPr/>
          <p:nvPr/>
        </p:nvSpPr>
        <p:spPr>
          <a:xfrm>
            <a:off x="452438" y="3326765"/>
            <a:ext cx="15875" cy="539750"/>
          </a:xfrm>
          <a:custGeom>
            <a:avLst/>
            <a:gdLst/>
            <a:ahLst/>
            <a:cxnLst/>
            <a:rect l="l" t="t" r="r" b="b"/>
            <a:pathLst>
              <a:path w="15875" h="539750">
                <a:moveTo>
                  <a:pt x="15875" y="0"/>
                </a:moveTo>
                <a:lnTo>
                  <a:pt x="15875" y="0"/>
                </a:lnTo>
                <a:lnTo>
                  <a:pt x="15875" y="539750"/>
                </a:lnTo>
                <a:lnTo>
                  <a:pt x="15875" y="539750"/>
                </a:lnTo>
                <a:cubicBezTo>
                  <a:pt x="7113" y="539750"/>
                  <a:pt x="0" y="532637"/>
                  <a:pt x="0" y="523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20" name="Text 18"/>
          <p:cNvSpPr/>
          <p:nvPr/>
        </p:nvSpPr>
        <p:spPr>
          <a:xfrm>
            <a:off x="523875" y="3390265"/>
            <a:ext cx="3436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常见问题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3875" y="3612515"/>
            <a:ext cx="3436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模糊回答"Sometimes."或"A little."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12084" y="1158875"/>
            <a:ext cx="3770313" cy="3222625"/>
          </a:xfrm>
          <a:custGeom>
            <a:avLst/>
            <a:gdLst/>
            <a:ahLst/>
            <a:cxnLst/>
            <a:rect l="l" t="t" r="r" b="b"/>
            <a:pathLst>
              <a:path w="3770313" h="3222625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59139"/>
                </a:lnTo>
                <a:cubicBezTo>
                  <a:pt x="3770312" y="3194201"/>
                  <a:pt x="3741889" y="3222625"/>
                  <a:pt x="3706827" y="3222625"/>
                </a:cubicBezTo>
                <a:lnTo>
                  <a:pt x="63486" y="3222625"/>
                </a:lnTo>
                <a:cubicBezTo>
                  <a:pt x="28424" y="3222625"/>
                  <a:pt x="0" y="3194201"/>
                  <a:pt x="0" y="3159139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12084" y="11588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24" name="Shape 22"/>
          <p:cNvSpPr/>
          <p:nvPr/>
        </p:nvSpPr>
        <p:spPr>
          <a:xfrm>
            <a:off x="4339084" y="130365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25" name="Text 23"/>
          <p:cNvSpPr/>
          <p:nvPr/>
        </p:nvSpPr>
        <p:spPr>
          <a:xfrm>
            <a:off x="4303365" y="1303655"/>
            <a:ext cx="38893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20084" y="1256030"/>
            <a:ext cx="1039812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童年回忆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20084" y="1478280"/>
            <a:ext cx="1031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时代差异+自由感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39084" y="1672590"/>
            <a:ext cx="3516313" cy="603250"/>
          </a:xfrm>
          <a:custGeom>
            <a:avLst/>
            <a:gdLst/>
            <a:ahLst/>
            <a:cxnLst/>
            <a:rect l="l" t="t" r="r" b="b"/>
            <a:pathLst>
              <a:path w="3516313" h="603250">
                <a:moveTo>
                  <a:pt x="63498" y="0"/>
                </a:moveTo>
                <a:lnTo>
                  <a:pt x="3452814" y="0"/>
                </a:lnTo>
                <a:cubicBezTo>
                  <a:pt x="3487883" y="0"/>
                  <a:pt x="3516313" y="28429"/>
                  <a:pt x="3516313" y="63498"/>
                </a:cubicBezTo>
                <a:lnTo>
                  <a:pt x="3516313" y="539752"/>
                </a:lnTo>
                <a:cubicBezTo>
                  <a:pt x="3516313" y="574821"/>
                  <a:pt x="3487883" y="603250"/>
                  <a:pt x="345281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4434334" y="1722120"/>
            <a:ext cx="3389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答题思路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34334" y="1990090"/>
            <a:ext cx="3389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回忆童年，对比当时与现在的环境或动机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47021" y="2294890"/>
            <a:ext cx="3508375" cy="1111250"/>
          </a:xfrm>
          <a:custGeom>
            <a:avLst/>
            <a:gdLst/>
            <a:ahLst/>
            <a:cxnLst/>
            <a:rect l="l" t="t" r="r" b="b"/>
            <a:pathLst>
              <a:path w="3508375" h="1111250">
                <a:moveTo>
                  <a:pt x="15875" y="0"/>
                </a:moveTo>
                <a:lnTo>
                  <a:pt x="3444878" y="0"/>
                </a:lnTo>
                <a:cubicBezTo>
                  <a:pt x="3479947" y="0"/>
                  <a:pt x="3508375" y="28428"/>
                  <a:pt x="3508375" y="63497"/>
                </a:cubicBezTo>
                <a:lnTo>
                  <a:pt x="3508375" y="1047753"/>
                </a:lnTo>
                <a:cubicBezTo>
                  <a:pt x="3508375" y="1082822"/>
                  <a:pt x="3479947" y="1111250"/>
                  <a:pt x="3444878" y="1111250"/>
                </a:cubicBezTo>
                <a:lnTo>
                  <a:pt x="15875" y="1111250"/>
                </a:lnTo>
                <a:cubicBezTo>
                  <a:pt x="7107" y="1111250"/>
                  <a:pt x="0" y="1104143"/>
                  <a:pt x="0" y="10953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4347021" y="2294890"/>
            <a:ext cx="15875" cy="1111250"/>
          </a:xfrm>
          <a:custGeom>
            <a:avLst/>
            <a:gdLst/>
            <a:ahLst/>
            <a:cxnLst/>
            <a:rect l="l" t="t" r="r" b="b"/>
            <a:pathLst>
              <a:path w="15875" h="1111250">
                <a:moveTo>
                  <a:pt x="15875" y="0"/>
                </a:moveTo>
                <a:lnTo>
                  <a:pt x="15875" y="0"/>
                </a:lnTo>
                <a:lnTo>
                  <a:pt x="15875" y="1111250"/>
                </a:lnTo>
                <a:lnTo>
                  <a:pt x="15875" y="1111250"/>
                </a:lnTo>
                <a:cubicBezTo>
                  <a:pt x="7113" y="1111250"/>
                  <a:pt x="0" y="1104137"/>
                  <a:pt x="0" y="10953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33" name="Text 31"/>
          <p:cNvSpPr/>
          <p:nvPr/>
        </p:nvSpPr>
        <p:spPr>
          <a:xfrm>
            <a:off x="4450209" y="2390140"/>
            <a:ext cx="3373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高分答案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50209" y="2612390"/>
            <a:ext cx="3373438" cy="698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"Much more often! Back then, playing outside was our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default entertainment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. We'd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roam around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the neighborhood until dusk. It wasn't 'exercise'—it was just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pure, unstructured fun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."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47021" y="3333750"/>
            <a:ext cx="3508375" cy="539750"/>
          </a:xfrm>
          <a:custGeom>
            <a:avLst/>
            <a:gdLst/>
            <a:ahLst/>
            <a:cxnLst/>
            <a:rect l="l" t="t" r="r" b="b"/>
            <a:pathLst>
              <a:path w="3508375" h="539750">
                <a:moveTo>
                  <a:pt x="15875" y="0"/>
                </a:moveTo>
                <a:lnTo>
                  <a:pt x="3444873" y="0"/>
                </a:lnTo>
                <a:cubicBezTo>
                  <a:pt x="3479944" y="0"/>
                  <a:pt x="3508375" y="28431"/>
                  <a:pt x="3508375" y="63502"/>
                </a:cubicBezTo>
                <a:lnTo>
                  <a:pt x="3508375" y="476248"/>
                </a:lnTo>
                <a:cubicBezTo>
                  <a:pt x="3508375" y="511319"/>
                  <a:pt x="3479944" y="539750"/>
                  <a:pt x="3444873" y="539750"/>
                </a:cubicBezTo>
                <a:lnTo>
                  <a:pt x="15875" y="539750"/>
                </a:lnTo>
                <a:cubicBezTo>
                  <a:pt x="7113" y="539750"/>
                  <a:pt x="0" y="532637"/>
                  <a:pt x="0" y="523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36" name="Shape 34"/>
          <p:cNvSpPr/>
          <p:nvPr/>
        </p:nvSpPr>
        <p:spPr>
          <a:xfrm>
            <a:off x="4347021" y="3333750"/>
            <a:ext cx="15875" cy="539750"/>
          </a:xfrm>
          <a:custGeom>
            <a:avLst/>
            <a:gdLst/>
            <a:ahLst/>
            <a:cxnLst/>
            <a:rect l="l" t="t" r="r" b="b"/>
            <a:pathLst>
              <a:path w="15875" h="539750">
                <a:moveTo>
                  <a:pt x="15875" y="0"/>
                </a:moveTo>
                <a:lnTo>
                  <a:pt x="15875" y="0"/>
                </a:lnTo>
                <a:lnTo>
                  <a:pt x="15875" y="539750"/>
                </a:lnTo>
                <a:lnTo>
                  <a:pt x="15875" y="539750"/>
                </a:lnTo>
                <a:cubicBezTo>
                  <a:pt x="7113" y="539750"/>
                  <a:pt x="0" y="532637"/>
                  <a:pt x="0" y="523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37" name="Text 35"/>
          <p:cNvSpPr/>
          <p:nvPr/>
        </p:nvSpPr>
        <p:spPr>
          <a:xfrm>
            <a:off x="4418459" y="3397250"/>
            <a:ext cx="3436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常见问题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18459" y="3619500"/>
            <a:ext cx="3436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仅回答"Yes"或"No"，缺乏画面感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06792" y="1158875"/>
            <a:ext cx="3770313" cy="3222625"/>
          </a:xfrm>
          <a:custGeom>
            <a:avLst/>
            <a:gdLst/>
            <a:ahLst/>
            <a:cxnLst/>
            <a:rect l="l" t="t" r="r" b="b"/>
            <a:pathLst>
              <a:path w="3770313" h="3222625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59139"/>
                </a:lnTo>
                <a:cubicBezTo>
                  <a:pt x="3770312" y="3194201"/>
                  <a:pt x="3741889" y="3222625"/>
                  <a:pt x="3706827" y="3222625"/>
                </a:cubicBezTo>
                <a:lnTo>
                  <a:pt x="63486" y="3222625"/>
                </a:lnTo>
                <a:cubicBezTo>
                  <a:pt x="28424" y="3222625"/>
                  <a:pt x="0" y="3194201"/>
                  <a:pt x="0" y="3159139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06792" y="11588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41" name="Shape 39"/>
          <p:cNvSpPr/>
          <p:nvPr/>
        </p:nvSpPr>
        <p:spPr>
          <a:xfrm>
            <a:off x="8233792" y="130365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42" name="Text 40"/>
          <p:cNvSpPr/>
          <p:nvPr/>
        </p:nvSpPr>
        <p:spPr>
          <a:xfrm>
            <a:off x="8198073" y="1303655"/>
            <a:ext cx="38893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14792" y="1256030"/>
            <a:ext cx="706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公园偏好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14792" y="1478280"/>
            <a:ext cx="698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多角度分析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33792" y="1672590"/>
            <a:ext cx="3516313" cy="603250"/>
          </a:xfrm>
          <a:custGeom>
            <a:avLst/>
            <a:gdLst/>
            <a:ahLst/>
            <a:cxnLst/>
            <a:rect l="l" t="t" r="r" b="b"/>
            <a:pathLst>
              <a:path w="3516313" h="603250">
                <a:moveTo>
                  <a:pt x="63498" y="0"/>
                </a:moveTo>
                <a:lnTo>
                  <a:pt x="3452814" y="0"/>
                </a:lnTo>
                <a:cubicBezTo>
                  <a:pt x="3487883" y="0"/>
                  <a:pt x="3516313" y="28429"/>
                  <a:pt x="3516313" y="63498"/>
                </a:cubicBezTo>
                <a:lnTo>
                  <a:pt x="3516313" y="539752"/>
                </a:lnTo>
                <a:cubicBezTo>
                  <a:pt x="3516313" y="574821"/>
                  <a:pt x="3487883" y="603250"/>
                  <a:pt x="345281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8329042" y="1722120"/>
            <a:ext cx="3389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答题思路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29042" y="1990090"/>
            <a:ext cx="3389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从感官（视觉、听觉）、心理和社交等多个层面分析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41729" y="2294890"/>
            <a:ext cx="3508375" cy="1111250"/>
          </a:xfrm>
          <a:custGeom>
            <a:avLst/>
            <a:gdLst/>
            <a:ahLst/>
            <a:cxnLst/>
            <a:rect l="l" t="t" r="r" b="b"/>
            <a:pathLst>
              <a:path w="3508375" h="1111250">
                <a:moveTo>
                  <a:pt x="15875" y="0"/>
                </a:moveTo>
                <a:lnTo>
                  <a:pt x="3444878" y="0"/>
                </a:lnTo>
                <a:cubicBezTo>
                  <a:pt x="3479947" y="0"/>
                  <a:pt x="3508375" y="28428"/>
                  <a:pt x="3508375" y="63497"/>
                </a:cubicBezTo>
                <a:lnTo>
                  <a:pt x="3508375" y="1047753"/>
                </a:lnTo>
                <a:cubicBezTo>
                  <a:pt x="3508375" y="1082822"/>
                  <a:pt x="3479947" y="1111250"/>
                  <a:pt x="3444878" y="1111250"/>
                </a:cubicBezTo>
                <a:lnTo>
                  <a:pt x="15875" y="1111250"/>
                </a:lnTo>
                <a:cubicBezTo>
                  <a:pt x="7107" y="1111250"/>
                  <a:pt x="0" y="1104143"/>
                  <a:pt x="0" y="10953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8241729" y="2294890"/>
            <a:ext cx="15875" cy="1111250"/>
          </a:xfrm>
          <a:custGeom>
            <a:avLst/>
            <a:gdLst/>
            <a:ahLst/>
            <a:cxnLst/>
            <a:rect l="l" t="t" r="r" b="b"/>
            <a:pathLst>
              <a:path w="15875" h="1111250">
                <a:moveTo>
                  <a:pt x="15875" y="0"/>
                </a:moveTo>
                <a:lnTo>
                  <a:pt x="15875" y="0"/>
                </a:lnTo>
                <a:lnTo>
                  <a:pt x="15875" y="1111250"/>
                </a:lnTo>
                <a:lnTo>
                  <a:pt x="15875" y="1111250"/>
                </a:lnTo>
                <a:cubicBezTo>
                  <a:pt x="7113" y="1111250"/>
                  <a:pt x="0" y="1104137"/>
                  <a:pt x="0" y="10953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50" name="Text 48"/>
          <p:cNvSpPr/>
          <p:nvPr/>
        </p:nvSpPr>
        <p:spPr>
          <a:xfrm>
            <a:off x="8344917" y="2390140"/>
            <a:ext cx="3373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高分答案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44917" y="2612390"/>
            <a:ext cx="3373438" cy="698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"I think parks offer a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multisensory escape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. Visually, the greenery is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soothing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; audibly, it's away from traffic noise. Psychologically, it provides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open space for the mind to wander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."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41729" y="3333750"/>
            <a:ext cx="3508375" cy="539750"/>
          </a:xfrm>
          <a:custGeom>
            <a:avLst/>
            <a:gdLst/>
            <a:ahLst/>
            <a:cxnLst/>
            <a:rect l="l" t="t" r="r" b="b"/>
            <a:pathLst>
              <a:path w="3508375" h="539750">
                <a:moveTo>
                  <a:pt x="15875" y="0"/>
                </a:moveTo>
                <a:lnTo>
                  <a:pt x="3444873" y="0"/>
                </a:lnTo>
                <a:cubicBezTo>
                  <a:pt x="3479944" y="0"/>
                  <a:pt x="3508375" y="28431"/>
                  <a:pt x="3508375" y="63502"/>
                </a:cubicBezTo>
                <a:lnTo>
                  <a:pt x="3508375" y="476248"/>
                </a:lnTo>
                <a:cubicBezTo>
                  <a:pt x="3508375" y="511319"/>
                  <a:pt x="3479944" y="539750"/>
                  <a:pt x="3444873" y="539750"/>
                </a:cubicBezTo>
                <a:lnTo>
                  <a:pt x="15875" y="539750"/>
                </a:lnTo>
                <a:cubicBezTo>
                  <a:pt x="7113" y="539750"/>
                  <a:pt x="0" y="532637"/>
                  <a:pt x="0" y="523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53" name="Shape 51"/>
          <p:cNvSpPr/>
          <p:nvPr/>
        </p:nvSpPr>
        <p:spPr>
          <a:xfrm>
            <a:off x="8241729" y="3333750"/>
            <a:ext cx="15875" cy="539750"/>
          </a:xfrm>
          <a:custGeom>
            <a:avLst/>
            <a:gdLst/>
            <a:ahLst/>
            <a:cxnLst/>
            <a:rect l="l" t="t" r="r" b="b"/>
            <a:pathLst>
              <a:path w="15875" h="539750">
                <a:moveTo>
                  <a:pt x="15875" y="0"/>
                </a:moveTo>
                <a:lnTo>
                  <a:pt x="15875" y="0"/>
                </a:lnTo>
                <a:lnTo>
                  <a:pt x="15875" y="539750"/>
                </a:lnTo>
                <a:lnTo>
                  <a:pt x="15875" y="539750"/>
                </a:lnTo>
                <a:cubicBezTo>
                  <a:pt x="7113" y="539750"/>
                  <a:pt x="0" y="532637"/>
                  <a:pt x="0" y="523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54" name="Text 52"/>
          <p:cNvSpPr/>
          <p:nvPr/>
        </p:nvSpPr>
        <p:spPr>
          <a:xfrm>
            <a:off x="8313167" y="3397250"/>
            <a:ext cx="3436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常见问题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13167" y="3619500"/>
            <a:ext cx="3436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原因单一"Because it's beautiful."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17500" y="3990975"/>
            <a:ext cx="5715000" cy="3270250"/>
          </a:xfrm>
          <a:custGeom>
            <a:avLst/>
            <a:gdLst/>
            <a:ahLst/>
            <a:cxnLst/>
            <a:rect l="l" t="t" r="r" b="b"/>
            <a:pathLst>
              <a:path w="5715000" h="32702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206742"/>
                </a:lnTo>
                <a:cubicBezTo>
                  <a:pt x="5715000" y="3241816"/>
                  <a:pt x="5686566" y="3270250"/>
                  <a:pt x="5651492" y="3270250"/>
                </a:cubicBezTo>
                <a:lnTo>
                  <a:pt x="63508" y="3270250"/>
                </a:lnTo>
                <a:cubicBezTo>
                  <a:pt x="28434" y="3270250"/>
                  <a:pt x="0" y="3241816"/>
                  <a:pt x="0" y="320674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17500" y="4006215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58" name="Shape 56"/>
          <p:cNvSpPr/>
          <p:nvPr/>
        </p:nvSpPr>
        <p:spPr>
          <a:xfrm>
            <a:off x="444500" y="418147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59" name="Text 57"/>
          <p:cNvSpPr/>
          <p:nvPr/>
        </p:nvSpPr>
        <p:spPr>
          <a:xfrm>
            <a:off x="408781" y="4181475"/>
            <a:ext cx="38893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Q4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25500" y="4133850"/>
            <a:ext cx="1166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理想地点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25500" y="4356100"/>
            <a:ext cx="1158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特色地点+感官描绘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44500" y="4443730"/>
            <a:ext cx="5461000" cy="603250"/>
          </a:xfrm>
          <a:custGeom>
            <a:avLst/>
            <a:gdLst/>
            <a:ahLst/>
            <a:cxnLst/>
            <a:rect l="l" t="t" r="r" b="b"/>
            <a:pathLst>
              <a:path w="5461000" h="603250">
                <a:moveTo>
                  <a:pt x="63498" y="0"/>
                </a:moveTo>
                <a:lnTo>
                  <a:pt x="5397502" y="0"/>
                </a:lnTo>
                <a:cubicBezTo>
                  <a:pt x="5432571" y="0"/>
                  <a:pt x="5461000" y="28429"/>
                  <a:pt x="5461000" y="63498"/>
                </a:cubicBezTo>
                <a:lnTo>
                  <a:pt x="5461000" y="539752"/>
                </a:lnTo>
                <a:cubicBezTo>
                  <a:pt x="5461000" y="574821"/>
                  <a:pt x="5432571" y="603250"/>
                  <a:pt x="539750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C4A87D">
              <a:alpha val="5098"/>
            </a:srgbClr>
          </a:solidFill>
        </p:spPr>
      </p:sp>
      <p:sp>
        <p:nvSpPr>
          <p:cNvPr id="63" name="Text 61"/>
          <p:cNvSpPr/>
          <p:nvPr/>
        </p:nvSpPr>
        <p:spPr>
          <a:xfrm>
            <a:off x="539750" y="4538980"/>
            <a:ext cx="5334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答题思路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39750" y="4761230"/>
            <a:ext cx="5334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选择有特色的地点，描述其吸引你的独特氛围或景色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52438" y="5020310"/>
            <a:ext cx="5453063" cy="936625"/>
          </a:xfrm>
          <a:custGeom>
            <a:avLst/>
            <a:gdLst/>
            <a:ahLst/>
            <a:cxnLst/>
            <a:rect l="l" t="t" r="r" b="b"/>
            <a:pathLst>
              <a:path w="5453063" h="936625">
                <a:moveTo>
                  <a:pt x="15875" y="0"/>
                </a:moveTo>
                <a:lnTo>
                  <a:pt x="5389559" y="0"/>
                </a:lnTo>
                <a:cubicBezTo>
                  <a:pt x="5424631" y="0"/>
                  <a:pt x="5453062" y="28431"/>
                  <a:pt x="5453062" y="63503"/>
                </a:cubicBezTo>
                <a:lnTo>
                  <a:pt x="5453063" y="873122"/>
                </a:lnTo>
                <a:cubicBezTo>
                  <a:pt x="5453062" y="908194"/>
                  <a:pt x="5424631" y="936625"/>
                  <a:pt x="5389559" y="936625"/>
                </a:cubicBezTo>
                <a:lnTo>
                  <a:pt x="15875" y="936625"/>
                </a:lnTo>
                <a:cubicBezTo>
                  <a:pt x="7113" y="936625"/>
                  <a:pt x="0" y="929512"/>
                  <a:pt x="0" y="9207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452438" y="5020310"/>
            <a:ext cx="15875" cy="936625"/>
          </a:xfrm>
          <a:custGeom>
            <a:avLst/>
            <a:gdLst/>
            <a:ahLst/>
            <a:cxnLst/>
            <a:rect l="l" t="t" r="r" b="b"/>
            <a:pathLst>
              <a:path w="15875" h="936625">
                <a:moveTo>
                  <a:pt x="15875" y="0"/>
                </a:moveTo>
                <a:lnTo>
                  <a:pt x="15875" y="0"/>
                </a:lnTo>
                <a:lnTo>
                  <a:pt x="15875" y="936625"/>
                </a:lnTo>
                <a:lnTo>
                  <a:pt x="15875" y="936625"/>
                </a:lnTo>
                <a:cubicBezTo>
                  <a:pt x="7113" y="936625"/>
                  <a:pt x="0" y="929512"/>
                  <a:pt x="0" y="9207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67" name="Text 65"/>
          <p:cNvSpPr/>
          <p:nvPr/>
        </p:nvSpPr>
        <p:spPr>
          <a:xfrm>
            <a:off x="555625" y="5115560"/>
            <a:ext cx="531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高分答案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55625" y="5337810"/>
            <a:ext cx="5318125" cy="523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I've always dreamed of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walking along the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cliff paths in Cornwall, England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. The idea of having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dramatic coastal views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on one side and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rolling green hills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on the other sounds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utterly breathtaking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."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52438" y="6052185"/>
            <a:ext cx="5453063" cy="762000"/>
          </a:xfrm>
          <a:custGeom>
            <a:avLst/>
            <a:gdLst/>
            <a:ahLst/>
            <a:cxnLst/>
            <a:rect l="l" t="t" r="r" b="b"/>
            <a:pathLst>
              <a:path w="5453063" h="762000">
                <a:moveTo>
                  <a:pt x="15875" y="0"/>
                </a:moveTo>
                <a:lnTo>
                  <a:pt x="5389565" y="0"/>
                </a:lnTo>
                <a:cubicBezTo>
                  <a:pt x="5424634" y="0"/>
                  <a:pt x="5453062" y="28429"/>
                  <a:pt x="5453062" y="63497"/>
                </a:cubicBezTo>
                <a:lnTo>
                  <a:pt x="5453063" y="698503"/>
                </a:lnTo>
                <a:cubicBezTo>
                  <a:pt x="5453062" y="733571"/>
                  <a:pt x="5424634" y="762000"/>
                  <a:pt x="5389565" y="762000"/>
                </a:cubicBezTo>
                <a:lnTo>
                  <a:pt x="15875" y="762000"/>
                </a:lnTo>
                <a:cubicBezTo>
                  <a:pt x="7107" y="762000"/>
                  <a:pt x="0" y="754893"/>
                  <a:pt x="0" y="74612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70" name="Shape 68"/>
          <p:cNvSpPr/>
          <p:nvPr/>
        </p:nvSpPr>
        <p:spPr>
          <a:xfrm>
            <a:off x="452438" y="6052185"/>
            <a:ext cx="15875" cy="762000"/>
          </a:xfrm>
          <a:custGeom>
            <a:avLst/>
            <a:gdLst/>
            <a:ahLst/>
            <a:cxnLst/>
            <a:rect l="l" t="t" r="r" b="b"/>
            <a:pathLst>
              <a:path w="15875" h="762000">
                <a:moveTo>
                  <a:pt x="15875" y="0"/>
                </a:moveTo>
                <a:lnTo>
                  <a:pt x="15875" y="0"/>
                </a:lnTo>
                <a:lnTo>
                  <a:pt x="15875" y="762000"/>
                </a:lnTo>
                <a:lnTo>
                  <a:pt x="15875" y="762000"/>
                </a:lnTo>
                <a:cubicBezTo>
                  <a:pt x="7113" y="762000"/>
                  <a:pt x="0" y="754887"/>
                  <a:pt x="0" y="74612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71" name="Text 69"/>
          <p:cNvSpPr/>
          <p:nvPr/>
        </p:nvSpPr>
        <p:spPr>
          <a:xfrm>
            <a:off x="523875" y="6115685"/>
            <a:ext cx="5381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常见问题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523875" y="6337935"/>
            <a:ext cx="5381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地点普通"In a park."或描述空洞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523875" y="6560185"/>
            <a:ext cx="5381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A63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✓ 改进：具体化特点或选择有名字、有特色的地点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159500" y="3990975"/>
            <a:ext cx="5715000" cy="3270250"/>
          </a:xfrm>
          <a:custGeom>
            <a:avLst/>
            <a:gdLst/>
            <a:ahLst/>
            <a:cxnLst/>
            <a:rect l="l" t="t" r="r" b="b"/>
            <a:pathLst>
              <a:path w="5715000" h="32702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206742"/>
                </a:lnTo>
                <a:cubicBezTo>
                  <a:pt x="5715000" y="3241816"/>
                  <a:pt x="5686566" y="3270250"/>
                  <a:pt x="5651492" y="3270250"/>
                </a:cubicBezTo>
                <a:lnTo>
                  <a:pt x="63508" y="3270250"/>
                </a:lnTo>
                <a:cubicBezTo>
                  <a:pt x="28434" y="3270250"/>
                  <a:pt x="0" y="3241816"/>
                  <a:pt x="0" y="320674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159500" y="4006215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76" name="Shape 74"/>
          <p:cNvSpPr/>
          <p:nvPr/>
        </p:nvSpPr>
        <p:spPr>
          <a:xfrm>
            <a:off x="6286500" y="418147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77" name="Text 75"/>
          <p:cNvSpPr/>
          <p:nvPr/>
        </p:nvSpPr>
        <p:spPr>
          <a:xfrm>
            <a:off x="6250781" y="4181475"/>
            <a:ext cx="38893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Q5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667500" y="4133850"/>
            <a:ext cx="833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近期经历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667500" y="4356100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完整场景构建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286500" y="4443730"/>
            <a:ext cx="5461000" cy="603250"/>
          </a:xfrm>
          <a:custGeom>
            <a:avLst/>
            <a:gdLst/>
            <a:ahLst/>
            <a:cxnLst/>
            <a:rect l="l" t="t" r="r" b="b"/>
            <a:pathLst>
              <a:path w="5461000" h="603250">
                <a:moveTo>
                  <a:pt x="63498" y="0"/>
                </a:moveTo>
                <a:lnTo>
                  <a:pt x="5397502" y="0"/>
                </a:lnTo>
                <a:cubicBezTo>
                  <a:pt x="5432571" y="0"/>
                  <a:pt x="5461000" y="28429"/>
                  <a:pt x="5461000" y="63498"/>
                </a:cubicBezTo>
                <a:lnTo>
                  <a:pt x="5461000" y="539752"/>
                </a:lnTo>
                <a:cubicBezTo>
                  <a:pt x="5461000" y="574821"/>
                  <a:pt x="5432571" y="603250"/>
                  <a:pt x="539750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81" name="Text 79"/>
          <p:cNvSpPr/>
          <p:nvPr/>
        </p:nvSpPr>
        <p:spPr>
          <a:xfrm>
            <a:off x="6381750" y="4538980"/>
            <a:ext cx="5334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答题思路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381750" y="4761230"/>
            <a:ext cx="5334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描述一次近期的具体散步，包括地点、天气或简单感受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294438" y="5020310"/>
            <a:ext cx="5453063" cy="936625"/>
          </a:xfrm>
          <a:custGeom>
            <a:avLst/>
            <a:gdLst/>
            <a:ahLst/>
            <a:cxnLst/>
            <a:rect l="l" t="t" r="r" b="b"/>
            <a:pathLst>
              <a:path w="5453063" h="936625">
                <a:moveTo>
                  <a:pt x="15875" y="0"/>
                </a:moveTo>
                <a:lnTo>
                  <a:pt x="5389559" y="0"/>
                </a:lnTo>
                <a:cubicBezTo>
                  <a:pt x="5424631" y="0"/>
                  <a:pt x="5453062" y="28431"/>
                  <a:pt x="5453062" y="63503"/>
                </a:cubicBezTo>
                <a:lnTo>
                  <a:pt x="5453063" y="873122"/>
                </a:lnTo>
                <a:cubicBezTo>
                  <a:pt x="5453062" y="908194"/>
                  <a:pt x="5424631" y="936625"/>
                  <a:pt x="5389559" y="936625"/>
                </a:cubicBezTo>
                <a:lnTo>
                  <a:pt x="15875" y="936625"/>
                </a:lnTo>
                <a:cubicBezTo>
                  <a:pt x="7113" y="936625"/>
                  <a:pt x="0" y="929512"/>
                  <a:pt x="0" y="9207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84" name="Shape 82"/>
          <p:cNvSpPr/>
          <p:nvPr/>
        </p:nvSpPr>
        <p:spPr>
          <a:xfrm>
            <a:off x="6294438" y="5020310"/>
            <a:ext cx="15875" cy="936625"/>
          </a:xfrm>
          <a:custGeom>
            <a:avLst/>
            <a:gdLst/>
            <a:ahLst/>
            <a:cxnLst/>
            <a:rect l="l" t="t" r="r" b="b"/>
            <a:pathLst>
              <a:path w="15875" h="936625">
                <a:moveTo>
                  <a:pt x="15875" y="0"/>
                </a:moveTo>
                <a:lnTo>
                  <a:pt x="15875" y="0"/>
                </a:lnTo>
                <a:lnTo>
                  <a:pt x="15875" y="936625"/>
                </a:lnTo>
                <a:lnTo>
                  <a:pt x="15875" y="936625"/>
                </a:lnTo>
                <a:cubicBezTo>
                  <a:pt x="7113" y="936625"/>
                  <a:pt x="0" y="929512"/>
                  <a:pt x="0" y="920750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85" name="Text 83"/>
          <p:cNvSpPr/>
          <p:nvPr/>
        </p:nvSpPr>
        <p:spPr>
          <a:xfrm>
            <a:off x="6397625" y="5115560"/>
            <a:ext cx="531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高分答案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397625" y="5337810"/>
            <a:ext cx="5318125" cy="523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"Just yesterday evening, I took a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leisurely walk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along the riverbank near my home. The weather was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crisp and cool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, and seeing the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city lights reflect on the water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was </a:t>
            </a:r>
            <a:r>
              <a:rPr lang="en-US" sz="1000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surprisingly calming</a:t>
            </a:r>
            <a:r>
              <a:rPr lang="en-US" sz="1000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."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6294438" y="6052185"/>
            <a:ext cx="5453063" cy="762000"/>
          </a:xfrm>
          <a:custGeom>
            <a:avLst/>
            <a:gdLst/>
            <a:ahLst/>
            <a:cxnLst/>
            <a:rect l="l" t="t" r="r" b="b"/>
            <a:pathLst>
              <a:path w="5453063" h="762000">
                <a:moveTo>
                  <a:pt x="15875" y="0"/>
                </a:moveTo>
                <a:lnTo>
                  <a:pt x="5389565" y="0"/>
                </a:lnTo>
                <a:cubicBezTo>
                  <a:pt x="5424634" y="0"/>
                  <a:pt x="5453062" y="28429"/>
                  <a:pt x="5453062" y="63497"/>
                </a:cubicBezTo>
                <a:lnTo>
                  <a:pt x="5453063" y="698503"/>
                </a:lnTo>
                <a:cubicBezTo>
                  <a:pt x="5453062" y="733571"/>
                  <a:pt x="5424634" y="762000"/>
                  <a:pt x="5389565" y="762000"/>
                </a:cubicBezTo>
                <a:lnTo>
                  <a:pt x="15875" y="762000"/>
                </a:lnTo>
                <a:cubicBezTo>
                  <a:pt x="7107" y="762000"/>
                  <a:pt x="0" y="754893"/>
                  <a:pt x="0" y="74612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88" name="Shape 86"/>
          <p:cNvSpPr/>
          <p:nvPr/>
        </p:nvSpPr>
        <p:spPr>
          <a:xfrm>
            <a:off x="6294438" y="6052185"/>
            <a:ext cx="15875" cy="762000"/>
          </a:xfrm>
          <a:custGeom>
            <a:avLst/>
            <a:gdLst/>
            <a:ahLst/>
            <a:cxnLst/>
            <a:rect l="l" t="t" r="r" b="b"/>
            <a:pathLst>
              <a:path w="15875" h="762000">
                <a:moveTo>
                  <a:pt x="15875" y="0"/>
                </a:moveTo>
                <a:lnTo>
                  <a:pt x="15875" y="0"/>
                </a:lnTo>
                <a:lnTo>
                  <a:pt x="15875" y="762000"/>
                </a:lnTo>
                <a:lnTo>
                  <a:pt x="15875" y="762000"/>
                </a:lnTo>
                <a:cubicBezTo>
                  <a:pt x="7113" y="762000"/>
                  <a:pt x="0" y="754887"/>
                  <a:pt x="0" y="74612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89" name="Text 87"/>
          <p:cNvSpPr/>
          <p:nvPr/>
        </p:nvSpPr>
        <p:spPr>
          <a:xfrm>
            <a:off x="6365875" y="6115685"/>
            <a:ext cx="5381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常见问题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6365875" y="6337935"/>
            <a:ext cx="5381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忘记用过去时，或只说"Nowhere special."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6365875" y="6560185"/>
            <a:ext cx="5381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A63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✓ 改进：加上时间、天气和细微感受，使其生动</a:t>
            </a:r>
            <a:endParaRPr lang="en-US" sz="1600" dirty="0"/>
          </a:p>
        </p:txBody>
      </p:sp>
      <p:sp>
        <p:nvSpPr>
          <p:cNvPr id="93" name="Text 45"/>
          <p:cNvSpPr/>
          <p:nvPr/>
        </p:nvSpPr>
        <p:spPr>
          <a:xfrm>
            <a:off x="1517015" y="1225550"/>
            <a:ext cx="255587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Do you walk a lot?</a:t>
            </a:r>
            <a:endParaRPr lang="en-US" sz="1200" b="1" dirty="0">
              <a:solidFill>
                <a:srgbClr val="2C5F5D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94" name="Text 45"/>
          <p:cNvSpPr/>
          <p:nvPr/>
        </p:nvSpPr>
        <p:spPr>
          <a:xfrm>
            <a:off x="5444490" y="1225550"/>
            <a:ext cx="255587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Did you often go outside as a child?</a:t>
            </a:r>
            <a:endParaRPr lang="en-US" sz="1200" b="1" dirty="0">
              <a:solidFill>
                <a:srgbClr val="2C5F5D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95" name="Text 45"/>
          <p:cNvSpPr/>
          <p:nvPr/>
        </p:nvSpPr>
        <p:spPr>
          <a:xfrm>
            <a:off x="9321165" y="1225550"/>
            <a:ext cx="255587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Why do people like to walk in parks?</a:t>
            </a:r>
            <a:endParaRPr lang="en-US" sz="1200" b="1" dirty="0">
              <a:solidFill>
                <a:srgbClr val="2C5F5D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96" name="Text 45"/>
          <p:cNvSpPr/>
          <p:nvPr/>
        </p:nvSpPr>
        <p:spPr>
          <a:xfrm>
            <a:off x="1517015" y="4088130"/>
            <a:ext cx="3139440" cy="2679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Where would you like to take a long walk?</a:t>
            </a:r>
            <a:endParaRPr lang="en-US" sz="1200" b="1" dirty="0">
              <a:solidFill>
                <a:srgbClr val="2C5F5D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97" name="Text 45"/>
          <p:cNvSpPr/>
          <p:nvPr/>
        </p:nvSpPr>
        <p:spPr>
          <a:xfrm>
            <a:off x="7462520" y="4088130"/>
            <a:ext cx="3139440" cy="2679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Where did you go for a walk lately?</a:t>
            </a:r>
            <a:endParaRPr lang="en-US" sz="1200" b="1" dirty="0">
              <a:solidFill>
                <a:srgbClr val="2C5F5D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TOPIC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Sports team 运动队 | 完整教学内容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50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4A87D"/>
          </a:solidFill>
        </p:spPr>
      </p:sp>
      <p:sp>
        <p:nvSpPr>
          <p:cNvPr id="5" name="Shape 3"/>
          <p:cNvSpPr/>
          <p:nvPr/>
        </p:nvSpPr>
        <p:spPr>
          <a:xfrm>
            <a:off x="317500" y="1143000"/>
            <a:ext cx="11557000" cy="635000"/>
          </a:xfrm>
          <a:custGeom>
            <a:avLst/>
            <a:gdLst/>
            <a:ahLst/>
            <a:cxnLst/>
            <a:rect l="l" t="t" r="r" b="b"/>
            <a:pathLst>
              <a:path w="11557000" h="825500">
                <a:moveTo>
                  <a:pt x="63497" y="0"/>
                </a:moveTo>
                <a:lnTo>
                  <a:pt x="11493503" y="0"/>
                </a:lnTo>
                <a:cubicBezTo>
                  <a:pt x="11528571" y="0"/>
                  <a:pt x="11557000" y="28429"/>
                  <a:pt x="11557000" y="63497"/>
                </a:cubicBezTo>
                <a:lnTo>
                  <a:pt x="11557000" y="762003"/>
                </a:lnTo>
                <a:cubicBezTo>
                  <a:pt x="11557000" y="797071"/>
                  <a:pt x="11528571" y="825500"/>
                  <a:pt x="11493503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6" name="Shape 4"/>
          <p:cNvSpPr/>
          <p:nvPr/>
        </p:nvSpPr>
        <p:spPr>
          <a:xfrm>
            <a:off x="461010" y="122682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7" name="Shape 5"/>
          <p:cNvSpPr/>
          <p:nvPr/>
        </p:nvSpPr>
        <p:spPr>
          <a:xfrm>
            <a:off x="566182" y="131476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43114" y="27347"/>
                </a:moveTo>
                <a:lnTo>
                  <a:pt x="79577" y="63810"/>
                </a:lnTo>
                <a:cubicBezTo>
                  <a:pt x="88041" y="52183"/>
                  <a:pt x="93018" y="37812"/>
                  <a:pt x="93018" y="22324"/>
                </a:cubicBezTo>
                <a:cubicBezTo>
                  <a:pt x="93018" y="15766"/>
                  <a:pt x="92134" y="9441"/>
                  <a:pt x="90460" y="3442"/>
                </a:cubicBezTo>
                <a:cubicBezTo>
                  <a:pt x="72786" y="7813"/>
                  <a:pt x="56694" y="16092"/>
                  <a:pt x="43114" y="27347"/>
                </a:cubicBezTo>
                <a:close/>
                <a:moveTo>
                  <a:pt x="27347" y="43114"/>
                </a:moveTo>
                <a:cubicBezTo>
                  <a:pt x="16092" y="56694"/>
                  <a:pt x="7813" y="72786"/>
                  <a:pt x="3442" y="90460"/>
                </a:cubicBezTo>
                <a:cubicBezTo>
                  <a:pt x="9441" y="92134"/>
                  <a:pt x="15766" y="93018"/>
                  <a:pt x="22324" y="93018"/>
                </a:cubicBezTo>
                <a:cubicBezTo>
                  <a:pt x="37812" y="93018"/>
                  <a:pt x="52136" y="88041"/>
                  <a:pt x="63810" y="79577"/>
                </a:cubicBezTo>
                <a:lnTo>
                  <a:pt x="27347" y="43114"/>
                </a:lnTo>
                <a:close/>
                <a:moveTo>
                  <a:pt x="119062" y="0"/>
                </a:moveTo>
                <a:cubicBezTo>
                  <a:pt x="116923" y="0"/>
                  <a:pt x="114784" y="47"/>
                  <a:pt x="112691" y="186"/>
                </a:cubicBezTo>
                <a:cubicBezTo>
                  <a:pt x="114412" y="7302"/>
                  <a:pt x="115342" y="14697"/>
                  <a:pt x="115342" y="22324"/>
                </a:cubicBezTo>
                <a:cubicBezTo>
                  <a:pt x="115342" y="43997"/>
                  <a:pt x="107947" y="63903"/>
                  <a:pt x="95529" y="79716"/>
                </a:cubicBezTo>
                <a:lnTo>
                  <a:pt x="119062" y="103296"/>
                </a:lnTo>
                <a:lnTo>
                  <a:pt x="195011" y="27347"/>
                </a:lnTo>
                <a:cubicBezTo>
                  <a:pt x="174361" y="10278"/>
                  <a:pt x="147944" y="0"/>
                  <a:pt x="119062" y="0"/>
                </a:cubicBezTo>
                <a:close/>
                <a:moveTo>
                  <a:pt x="22324" y="115342"/>
                </a:moveTo>
                <a:cubicBezTo>
                  <a:pt x="14697" y="115342"/>
                  <a:pt x="7255" y="114412"/>
                  <a:pt x="186" y="112691"/>
                </a:cubicBezTo>
                <a:cubicBezTo>
                  <a:pt x="93" y="114784"/>
                  <a:pt x="0" y="116923"/>
                  <a:pt x="0" y="119062"/>
                </a:cubicBezTo>
                <a:cubicBezTo>
                  <a:pt x="0" y="147944"/>
                  <a:pt x="10278" y="174361"/>
                  <a:pt x="27347" y="195011"/>
                </a:cubicBezTo>
                <a:lnTo>
                  <a:pt x="103296" y="119062"/>
                </a:lnTo>
                <a:lnTo>
                  <a:pt x="79716" y="95529"/>
                </a:lnTo>
                <a:cubicBezTo>
                  <a:pt x="63903" y="107947"/>
                  <a:pt x="43997" y="115342"/>
                  <a:pt x="22324" y="115342"/>
                </a:cubicBezTo>
                <a:close/>
                <a:moveTo>
                  <a:pt x="237939" y="125434"/>
                </a:moveTo>
                <a:cubicBezTo>
                  <a:pt x="238032" y="123341"/>
                  <a:pt x="238125" y="121202"/>
                  <a:pt x="238125" y="119062"/>
                </a:cubicBezTo>
                <a:cubicBezTo>
                  <a:pt x="238125" y="90181"/>
                  <a:pt x="227847" y="63764"/>
                  <a:pt x="210778" y="43114"/>
                </a:cubicBezTo>
                <a:lnTo>
                  <a:pt x="134829" y="119062"/>
                </a:lnTo>
                <a:lnTo>
                  <a:pt x="158409" y="142596"/>
                </a:lnTo>
                <a:cubicBezTo>
                  <a:pt x="174222" y="130178"/>
                  <a:pt x="194174" y="122783"/>
                  <a:pt x="215801" y="122783"/>
                </a:cubicBezTo>
                <a:cubicBezTo>
                  <a:pt x="223428" y="122783"/>
                  <a:pt x="230870" y="123713"/>
                  <a:pt x="237939" y="125434"/>
                </a:cubicBezTo>
                <a:close/>
                <a:moveTo>
                  <a:pt x="234637" y="147665"/>
                </a:moveTo>
                <a:cubicBezTo>
                  <a:pt x="228637" y="145991"/>
                  <a:pt x="222312" y="145107"/>
                  <a:pt x="215754" y="145107"/>
                </a:cubicBezTo>
                <a:cubicBezTo>
                  <a:pt x="200267" y="145107"/>
                  <a:pt x="185942" y="150084"/>
                  <a:pt x="174268" y="158548"/>
                </a:cubicBezTo>
                <a:lnTo>
                  <a:pt x="210731" y="195011"/>
                </a:lnTo>
                <a:cubicBezTo>
                  <a:pt x="221986" y="181431"/>
                  <a:pt x="230265" y="165339"/>
                  <a:pt x="234637" y="147665"/>
                </a:cubicBezTo>
                <a:close/>
                <a:moveTo>
                  <a:pt x="158548" y="174315"/>
                </a:moveTo>
                <a:cubicBezTo>
                  <a:pt x="150084" y="185942"/>
                  <a:pt x="145107" y="200313"/>
                  <a:pt x="145107" y="215801"/>
                </a:cubicBezTo>
                <a:cubicBezTo>
                  <a:pt x="145107" y="222359"/>
                  <a:pt x="145991" y="228684"/>
                  <a:pt x="147665" y="234683"/>
                </a:cubicBezTo>
                <a:cubicBezTo>
                  <a:pt x="165339" y="230312"/>
                  <a:pt x="181431" y="222033"/>
                  <a:pt x="195011" y="210778"/>
                </a:cubicBezTo>
                <a:lnTo>
                  <a:pt x="158548" y="174315"/>
                </a:lnTo>
                <a:close/>
                <a:moveTo>
                  <a:pt x="142596" y="158362"/>
                </a:moveTo>
                <a:lnTo>
                  <a:pt x="119062" y="134829"/>
                </a:lnTo>
                <a:lnTo>
                  <a:pt x="43114" y="210778"/>
                </a:lnTo>
                <a:cubicBezTo>
                  <a:pt x="63717" y="227847"/>
                  <a:pt x="90181" y="238125"/>
                  <a:pt x="119062" y="238125"/>
                </a:cubicBezTo>
                <a:cubicBezTo>
                  <a:pt x="121202" y="238125"/>
                  <a:pt x="123341" y="238078"/>
                  <a:pt x="125434" y="237939"/>
                </a:cubicBezTo>
                <a:cubicBezTo>
                  <a:pt x="123713" y="230823"/>
                  <a:pt x="122783" y="223428"/>
                  <a:pt x="122783" y="215801"/>
                </a:cubicBezTo>
                <a:cubicBezTo>
                  <a:pt x="122783" y="194128"/>
                  <a:pt x="130178" y="174222"/>
                  <a:pt x="142596" y="15840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047750" y="1210310"/>
            <a:ext cx="319087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核心题目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7750" y="1496060"/>
            <a:ext cx="31750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Have you ever been part of a sports team?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7500" y="1807845"/>
            <a:ext cx="5699125" cy="4294188"/>
          </a:xfrm>
          <a:custGeom>
            <a:avLst/>
            <a:gdLst/>
            <a:ahLst/>
            <a:cxnLst/>
            <a:rect l="l" t="t" r="r" b="b"/>
            <a:pathLst>
              <a:path w="5699125" h="4294188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4230676"/>
                </a:lnTo>
                <a:cubicBezTo>
                  <a:pt x="5699125" y="4265753"/>
                  <a:pt x="5670690" y="4294188"/>
                  <a:pt x="5635614" y="4294188"/>
                </a:cubicBezTo>
                <a:lnTo>
                  <a:pt x="63511" y="4294188"/>
                </a:lnTo>
                <a:cubicBezTo>
                  <a:pt x="28435" y="4294188"/>
                  <a:pt x="0" y="4265753"/>
                  <a:pt x="0" y="423067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500" y="1868805"/>
            <a:ext cx="5699125" cy="31750"/>
          </a:xfrm>
          <a:custGeom>
            <a:avLst/>
            <a:gdLst/>
            <a:ahLst/>
            <a:cxnLst/>
            <a:rect l="l" t="t" r="r" b="b"/>
            <a:pathLst>
              <a:path w="5699125" h="31750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12" name="Shape 10"/>
          <p:cNvSpPr/>
          <p:nvPr/>
        </p:nvSpPr>
        <p:spPr>
          <a:xfrm>
            <a:off x="476250" y="198247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13" name="Shape 11"/>
          <p:cNvSpPr/>
          <p:nvPr/>
        </p:nvSpPr>
        <p:spPr>
          <a:xfrm>
            <a:off x="571500" y="20777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952500" y="2045970"/>
            <a:ext cx="857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有经历版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6250" y="2490470"/>
            <a:ext cx="5381625" cy="666750"/>
          </a:xfrm>
          <a:custGeom>
            <a:avLst/>
            <a:gdLst/>
            <a:ahLst/>
            <a:cxnLst/>
            <a:rect l="l" t="t" r="r" b="b"/>
            <a:pathLst>
              <a:path w="5381625" h="666750">
                <a:moveTo>
                  <a:pt x="63501" y="0"/>
                </a:moveTo>
                <a:lnTo>
                  <a:pt x="5318124" y="0"/>
                </a:lnTo>
                <a:cubicBezTo>
                  <a:pt x="5353195" y="0"/>
                  <a:pt x="5381625" y="28430"/>
                  <a:pt x="5381625" y="63501"/>
                </a:cubicBezTo>
                <a:lnTo>
                  <a:pt x="5381625" y="603249"/>
                </a:lnTo>
                <a:cubicBezTo>
                  <a:pt x="5381625" y="638320"/>
                  <a:pt x="5353195" y="666750"/>
                  <a:pt x="5318124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571500" y="2585720"/>
            <a:ext cx="5254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核心词汇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2839720"/>
            <a:ext cx="698500" cy="222250"/>
          </a:xfrm>
          <a:custGeom>
            <a:avLst/>
            <a:gdLst/>
            <a:ahLst/>
            <a:cxnLst/>
            <a:rect l="l" t="t" r="r" b="b"/>
            <a:pathLst>
              <a:path w="698500" h="222250">
                <a:moveTo>
                  <a:pt x="111125" y="0"/>
                </a:moveTo>
                <a:lnTo>
                  <a:pt x="587375" y="0"/>
                </a:lnTo>
                <a:cubicBezTo>
                  <a:pt x="648707" y="0"/>
                  <a:pt x="698500" y="49793"/>
                  <a:pt x="698500" y="111125"/>
                </a:cubicBezTo>
                <a:lnTo>
                  <a:pt x="698500" y="111125"/>
                </a:lnTo>
                <a:cubicBezTo>
                  <a:pt x="698500" y="172457"/>
                  <a:pt x="648707" y="222250"/>
                  <a:pt x="58737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18" name="Text 16"/>
          <p:cNvSpPr/>
          <p:nvPr/>
        </p:nvSpPr>
        <p:spPr>
          <a:xfrm>
            <a:off x="571500" y="2839720"/>
            <a:ext cx="754063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teamwork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31764" y="2839720"/>
            <a:ext cx="666750" cy="222250"/>
          </a:xfrm>
          <a:custGeom>
            <a:avLst/>
            <a:gdLst/>
            <a:ahLst/>
            <a:cxnLst/>
            <a:rect l="l" t="t" r="r" b="b"/>
            <a:pathLst>
              <a:path w="666750" h="222250">
                <a:moveTo>
                  <a:pt x="111125" y="0"/>
                </a:moveTo>
                <a:lnTo>
                  <a:pt x="555625" y="0"/>
                </a:lnTo>
                <a:cubicBezTo>
                  <a:pt x="616957" y="0"/>
                  <a:pt x="666750" y="49793"/>
                  <a:pt x="666750" y="111125"/>
                </a:cubicBezTo>
                <a:lnTo>
                  <a:pt x="666750" y="111125"/>
                </a:lnTo>
                <a:cubicBezTo>
                  <a:pt x="666750" y="172457"/>
                  <a:pt x="616957" y="222250"/>
                  <a:pt x="5556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20" name="Text 18"/>
          <p:cNvSpPr/>
          <p:nvPr/>
        </p:nvSpPr>
        <p:spPr>
          <a:xfrm>
            <a:off x="1331764" y="2839720"/>
            <a:ext cx="722313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discipline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063502" y="2839720"/>
            <a:ext cx="825500" cy="222250"/>
          </a:xfrm>
          <a:custGeom>
            <a:avLst/>
            <a:gdLst/>
            <a:ahLst/>
            <a:cxnLst/>
            <a:rect l="l" t="t" r="r" b="b"/>
            <a:pathLst>
              <a:path w="825500" h="222250">
                <a:moveTo>
                  <a:pt x="111125" y="0"/>
                </a:moveTo>
                <a:lnTo>
                  <a:pt x="714375" y="0"/>
                </a:lnTo>
                <a:cubicBezTo>
                  <a:pt x="775707" y="0"/>
                  <a:pt x="825500" y="49793"/>
                  <a:pt x="825500" y="111125"/>
                </a:cubicBezTo>
                <a:lnTo>
                  <a:pt x="825500" y="111125"/>
                </a:lnTo>
                <a:cubicBezTo>
                  <a:pt x="825500" y="172457"/>
                  <a:pt x="775707" y="222250"/>
                  <a:pt x="71437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22" name="Text 20"/>
          <p:cNvSpPr/>
          <p:nvPr/>
        </p:nvSpPr>
        <p:spPr>
          <a:xfrm>
            <a:off x="2063502" y="2839720"/>
            <a:ext cx="881063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camaraderie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953246" y="2839720"/>
            <a:ext cx="674688" cy="222250"/>
          </a:xfrm>
          <a:custGeom>
            <a:avLst/>
            <a:gdLst/>
            <a:ahLst/>
            <a:cxnLst/>
            <a:rect l="l" t="t" r="r" b="b"/>
            <a:pathLst>
              <a:path w="674688" h="222250">
                <a:moveTo>
                  <a:pt x="111125" y="0"/>
                </a:moveTo>
                <a:lnTo>
                  <a:pt x="563563" y="0"/>
                </a:lnTo>
                <a:cubicBezTo>
                  <a:pt x="624894" y="0"/>
                  <a:pt x="674688" y="49793"/>
                  <a:pt x="674688" y="111125"/>
                </a:cubicBezTo>
                <a:lnTo>
                  <a:pt x="674688" y="111125"/>
                </a:lnTo>
                <a:cubicBezTo>
                  <a:pt x="674688" y="172457"/>
                  <a:pt x="624894" y="222250"/>
                  <a:pt x="56356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24" name="Text 22"/>
          <p:cNvSpPr/>
          <p:nvPr/>
        </p:nvSpPr>
        <p:spPr>
          <a:xfrm>
            <a:off x="2953246" y="2839720"/>
            <a:ext cx="730250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formative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6250" y="3252470"/>
            <a:ext cx="5381625" cy="793750"/>
          </a:xfrm>
          <a:custGeom>
            <a:avLst/>
            <a:gdLst/>
            <a:ahLst/>
            <a:cxnLst/>
            <a:rect l="l" t="t" r="r" b="b"/>
            <a:pathLst>
              <a:path w="5381625" h="79375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730250"/>
                </a:lnTo>
                <a:cubicBezTo>
                  <a:pt x="5381625" y="765297"/>
                  <a:pt x="5353172" y="793750"/>
                  <a:pt x="5318125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571500" y="3347720"/>
            <a:ext cx="5254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实用短语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" y="3601720"/>
            <a:ext cx="5246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</a:t>
            </a:r>
            <a:r>
              <a:rPr lang="en-US" sz="875" b="1" dirty="0">
                <a:solidFill>
                  <a:srgbClr val="2D374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invaluable lessons about...</a:t>
            </a:r>
            <a:r>
              <a:rPr lang="en-US" sz="875" dirty="0">
                <a:solidFill>
                  <a:srgbClr val="2D374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关于...的宝贵经验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1500" y="3792220"/>
            <a:ext cx="5246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</a:t>
            </a:r>
            <a:r>
              <a:rPr lang="en-US" sz="875" b="1" dirty="0">
                <a:solidFill>
                  <a:srgbClr val="2D374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handle victory and defeat</a:t>
            </a:r>
            <a:r>
              <a:rPr lang="en-US" sz="875" dirty="0">
                <a:solidFill>
                  <a:srgbClr val="2D374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应对胜负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6250" y="4141470"/>
            <a:ext cx="5381625" cy="603250"/>
          </a:xfrm>
          <a:custGeom>
            <a:avLst/>
            <a:gdLst/>
            <a:ahLst/>
            <a:cxnLst/>
            <a:rect l="l" t="t" r="r" b="b"/>
            <a:pathLst>
              <a:path w="5381625" h="603250">
                <a:moveTo>
                  <a:pt x="63498" y="0"/>
                </a:moveTo>
                <a:lnTo>
                  <a:pt x="5318127" y="0"/>
                </a:lnTo>
                <a:cubicBezTo>
                  <a:pt x="5353196" y="0"/>
                  <a:pt x="5381625" y="28429"/>
                  <a:pt x="5381625" y="63498"/>
                </a:cubicBezTo>
                <a:lnTo>
                  <a:pt x="5381625" y="539752"/>
                </a:lnTo>
                <a:cubicBezTo>
                  <a:pt x="5381625" y="574821"/>
                  <a:pt x="5353196" y="603250"/>
                  <a:pt x="5318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571500" y="4236720"/>
            <a:ext cx="5254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答题思路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1500" y="4490720"/>
            <a:ext cx="5246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重点不在运动技能，而在团队经历带来的</a:t>
            </a:r>
            <a:r>
              <a:rPr lang="en-US" sz="875" b="1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软技能和个人成长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4187" y="4839970"/>
            <a:ext cx="5373688" cy="920750"/>
          </a:xfrm>
          <a:custGeom>
            <a:avLst/>
            <a:gdLst/>
            <a:ahLst/>
            <a:cxnLst/>
            <a:rect l="l" t="t" r="r" b="b"/>
            <a:pathLst>
              <a:path w="5373688" h="920750">
                <a:moveTo>
                  <a:pt x="15875" y="0"/>
                </a:moveTo>
                <a:lnTo>
                  <a:pt x="5310183" y="0"/>
                </a:lnTo>
                <a:cubicBezTo>
                  <a:pt x="5345256" y="0"/>
                  <a:pt x="5373688" y="28432"/>
                  <a:pt x="5373688" y="63504"/>
                </a:cubicBezTo>
                <a:lnTo>
                  <a:pt x="5373688" y="857246"/>
                </a:lnTo>
                <a:cubicBezTo>
                  <a:pt x="5373688" y="892318"/>
                  <a:pt x="5345256" y="920750"/>
                  <a:pt x="5310183" y="920750"/>
                </a:cubicBezTo>
                <a:lnTo>
                  <a:pt x="15875" y="920750"/>
                </a:lnTo>
                <a:cubicBezTo>
                  <a:pt x="7113" y="920750"/>
                  <a:pt x="0" y="913637"/>
                  <a:pt x="0" y="904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84187" y="4839970"/>
            <a:ext cx="15875" cy="920750"/>
          </a:xfrm>
          <a:custGeom>
            <a:avLst/>
            <a:gdLst/>
            <a:ahLst/>
            <a:cxnLst/>
            <a:rect l="l" t="t" r="r" b="b"/>
            <a:pathLst>
              <a:path w="15875" h="920750">
                <a:moveTo>
                  <a:pt x="15875" y="0"/>
                </a:moveTo>
                <a:lnTo>
                  <a:pt x="15875" y="0"/>
                </a:lnTo>
                <a:lnTo>
                  <a:pt x="15875" y="920750"/>
                </a:lnTo>
                <a:lnTo>
                  <a:pt x="15875" y="920750"/>
                </a:lnTo>
                <a:cubicBezTo>
                  <a:pt x="7113" y="920750"/>
                  <a:pt x="0" y="913637"/>
                  <a:pt x="0" y="904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34" name="Text 32"/>
          <p:cNvSpPr/>
          <p:nvPr/>
        </p:nvSpPr>
        <p:spPr>
          <a:xfrm>
            <a:off x="587375" y="4935220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高分答案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87375" y="5125720"/>
            <a:ext cx="5230813" cy="539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"Yes, I played on my high school basketball team for three years. Beyond the sport itself, it taught me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invaluable lessons about teamwork, discipline under pressure, and how to handle both victory and defeat gracefully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. The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camaraderie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was unforgettable."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75375" y="1807845"/>
            <a:ext cx="5699125" cy="4294188"/>
          </a:xfrm>
          <a:custGeom>
            <a:avLst/>
            <a:gdLst/>
            <a:ahLst/>
            <a:cxnLst/>
            <a:rect l="l" t="t" r="r" b="b"/>
            <a:pathLst>
              <a:path w="5699125" h="4294188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4230676"/>
                </a:lnTo>
                <a:cubicBezTo>
                  <a:pt x="5699125" y="4265753"/>
                  <a:pt x="5670690" y="4294188"/>
                  <a:pt x="5635614" y="4294188"/>
                </a:cubicBezTo>
                <a:lnTo>
                  <a:pt x="63511" y="4294188"/>
                </a:lnTo>
                <a:cubicBezTo>
                  <a:pt x="28435" y="4294188"/>
                  <a:pt x="0" y="4265753"/>
                  <a:pt x="0" y="423067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5375" y="1868805"/>
            <a:ext cx="5699125" cy="31750"/>
          </a:xfrm>
          <a:custGeom>
            <a:avLst/>
            <a:gdLst/>
            <a:ahLst/>
            <a:cxnLst/>
            <a:rect l="l" t="t" r="r" b="b"/>
            <a:pathLst>
              <a:path w="5699125" h="31750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38" name="Shape 36"/>
          <p:cNvSpPr/>
          <p:nvPr/>
        </p:nvSpPr>
        <p:spPr>
          <a:xfrm>
            <a:off x="6334125" y="198247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39" name="Shape 37"/>
          <p:cNvSpPr/>
          <p:nvPr/>
        </p:nvSpPr>
        <p:spPr>
          <a:xfrm>
            <a:off x="6429375" y="20777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6810375" y="2045970"/>
            <a:ext cx="857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无经历版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34125" y="2490470"/>
            <a:ext cx="5381625" cy="666750"/>
          </a:xfrm>
          <a:custGeom>
            <a:avLst/>
            <a:gdLst/>
            <a:ahLst/>
            <a:cxnLst/>
            <a:rect l="l" t="t" r="r" b="b"/>
            <a:pathLst>
              <a:path w="5381625" h="666750">
                <a:moveTo>
                  <a:pt x="63501" y="0"/>
                </a:moveTo>
                <a:lnTo>
                  <a:pt x="5318124" y="0"/>
                </a:lnTo>
                <a:cubicBezTo>
                  <a:pt x="5353195" y="0"/>
                  <a:pt x="5381625" y="28430"/>
                  <a:pt x="5381625" y="63501"/>
                </a:cubicBezTo>
                <a:lnTo>
                  <a:pt x="5381625" y="603249"/>
                </a:lnTo>
                <a:cubicBezTo>
                  <a:pt x="5381625" y="638320"/>
                  <a:pt x="5353195" y="666750"/>
                  <a:pt x="5318124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6429375" y="2585720"/>
            <a:ext cx="5254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核心词汇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29375" y="2839720"/>
            <a:ext cx="849313" cy="222250"/>
          </a:xfrm>
          <a:custGeom>
            <a:avLst/>
            <a:gdLst/>
            <a:ahLst/>
            <a:cxnLst/>
            <a:rect l="l" t="t" r="r" b="b"/>
            <a:pathLst>
              <a:path w="849313" h="222250">
                <a:moveTo>
                  <a:pt x="111125" y="0"/>
                </a:moveTo>
                <a:lnTo>
                  <a:pt x="738188" y="0"/>
                </a:lnTo>
                <a:cubicBezTo>
                  <a:pt x="799519" y="0"/>
                  <a:pt x="849313" y="49793"/>
                  <a:pt x="849313" y="111125"/>
                </a:cubicBezTo>
                <a:lnTo>
                  <a:pt x="849313" y="111125"/>
                </a:lnTo>
                <a:cubicBezTo>
                  <a:pt x="849313" y="172457"/>
                  <a:pt x="799519" y="222250"/>
                  <a:pt x="73818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44" name="Text 42"/>
          <p:cNvSpPr/>
          <p:nvPr/>
        </p:nvSpPr>
        <p:spPr>
          <a:xfrm>
            <a:off x="6429375" y="2839720"/>
            <a:ext cx="904875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pickup game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339211" y="2839720"/>
            <a:ext cx="730250" cy="222250"/>
          </a:xfrm>
          <a:custGeom>
            <a:avLst/>
            <a:gdLst/>
            <a:ahLst/>
            <a:cxnLst/>
            <a:rect l="l" t="t" r="r" b="b"/>
            <a:pathLst>
              <a:path w="730250" h="222250">
                <a:moveTo>
                  <a:pt x="111125" y="0"/>
                </a:moveTo>
                <a:lnTo>
                  <a:pt x="619125" y="0"/>
                </a:lnTo>
                <a:cubicBezTo>
                  <a:pt x="680457" y="0"/>
                  <a:pt x="730250" y="49793"/>
                  <a:pt x="730250" y="111125"/>
                </a:cubicBezTo>
                <a:lnTo>
                  <a:pt x="730250" y="111125"/>
                </a:lnTo>
                <a:cubicBezTo>
                  <a:pt x="730250" y="172457"/>
                  <a:pt x="680457" y="222250"/>
                  <a:pt x="6191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46" name="Text 44"/>
          <p:cNvSpPr/>
          <p:nvPr/>
        </p:nvSpPr>
        <p:spPr>
          <a:xfrm>
            <a:off x="7339211" y="2839720"/>
            <a:ext cx="785813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team spirit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136062" y="2839720"/>
            <a:ext cx="984250" cy="222250"/>
          </a:xfrm>
          <a:custGeom>
            <a:avLst/>
            <a:gdLst/>
            <a:ahLst/>
            <a:cxnLst/>
            <a:rect l="l" t="t" r="r" b="b"/>
            <a:pathLst>
              <a:path w="984250" h="222250">
                <a:moveTo>
                  <a:pt x="111125" y="0"/>
                </a:moveTo>
                <a:lnTo>
                  <a:pt x="873125" y="0"/>
                </a:lnTo>
                <a:cubicBezTo>
                  <a:pt x="934457" y="0"/>
                  <a:pt x="984250" y="49793"/>
                  <a:pt x="984250" y="111125"/>
                </a:cubicBezTo>
                <a:lnTo>
                  <a:pt x="984250" y="111125"/>
                </a:lnTo>
                <a:cubicBezTo>
                  <a:pt x="984250" y="172457"/>
                  <a:pt x="934457" y="222250"/>
                  <a:pt x="8731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48" name="Text 46"/>
          <p:cNvSpPr/>
          <p:nvPr/>
        </p:nvSpPr>
        <p:spPr>
          <a:xfrm>
            <a:off x="8136062" y="2839720"/>
            <a:ext cx="1039812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shared purpose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34125" y="3252470"/>
            <a:ext cx="5381625" cy="793750"/>
          </a:xfrm>
          <a:custGeom>
            <a:avLst/>
            <a:gdLst/>
            <a:ahLst/>
            <a:cxnLst/>
            <a:rect l="l" t="t" r="r" b="b"/>
            <a:pathLst>
              <a:path w="5381625" h="79375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730250"/>
                </a:lnTo>
                <a:cubicBezTo>
                  <a:pt x="5381625" y="765297"/>
                  <a:pt x="5353172" y="793750"/>
                  <a:pt x="5318125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6429375" y="3347720"/>
            <a:ext cx="5254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实用短语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29375" y="3601720"/>
            <a:ext cx="5246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</a:t>
            </a:r>
            <a:r>
              <a:rPr lang="en-US" sz="875" b="1" dirty="0">
                <a:solidFill>
                  <a:srgbClr val="2D374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in an official capacity</a:t>
            </a:r>
            <a:r>
              <a:rPr lang="en-US" sz="875" dirty="0">
                <a:solidFill>
                  <a:srgbClr val="2D374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以正式身份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29375" y="3792220"/>
            <a:ext cx="5246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</a:t>
            </a:r>
            <a:r>
              <a:rPr lang="en-US" sz="875" b="1" dirty="0">
                <a:solidFill>
                  <a:srgbClr val="2D374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the core of team spirit</a:t>
            </a:r>
            <a:r>
              <a:rPr lang="en-US" sz="875" dirty="0">
                <a:solidFill>
                  <a:srgbClr val="2D374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团队精神的核心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34125" y="4141470"/>
            <a:ext cx="5381625" cy="603250"/>
          </a:xfrm>
          <a:custGeom>
            <a:avLst/>
            <a:gdLst/>
            <a:ahLst/>
            <a:cxnLst/>
            <a:rect l="l" t="t" r="r" b="b"/>
            <a:pathLst>
              <a:path w="5381625" h="603250">
                <a:moveTo>
                  <a:pt x="63498" y="0"/>
                </a:moveTo>
                <a:lnTo>
                  <a:pt x="5318127" y="0"/>
                </a:lnTo>
                <a:cubicBezTo>
                  <a:pt x="5353196" y="0"/>
                  <a:pt x="5381625" y="28429"/>
                  <a:pt x="5381625" y="63498"/>
                </a:cubicBezTo>
                <a:lnTo>
                  <a:pt x="5381625" y="539752"/>
                </a:lnTo>
                <a:cubicBezTo>
                  <a:pt x="5381625" y="574821"/>
                  <a:pt x="5353196" y="603250"/>
                  <a:pt x="5318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6429375" y="4236720"/>
            <a:ext cx="5254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答题思路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29375" y="4490720"/>
            <a:ext cx="5246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诚实说明情况，但立即转向对</a:t>
            </a:r>
            <a:r>
              <a:rPr lang="en-US" sz="875" b="1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团队精神的理解</a:t>
            </a:r>
            <a:r>
              <a:rPr lang="en-US" sz="87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或相关的非正式经历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42063" y="4839970"/>
            <a:ext cx="5373688" cy="1103313"/>
          </a:xfrm>
          <a:custGeom>
            <a:avLst/>
            <a:gdLst/>
            <a:ahLst/>
            <a:cxnLst/>
            <a:rect l="l" t="t" r="r" b="b"/>
            <a:pathLst>
              <a:path w="5373688" h="1103313">
                <a:moveTo>
                  <a:pt x="15875" y="0"/>
                </a:moveTo>
                <a:lnTo>
                  <a:pt x="5310192" y="0"/>
                </a:lnTo>
                <a:cubicBezTo>
                  <a:pt x="5345260" y="0"/>
                  <a:pt x="5373688" y="28428"/>
                  <a:pt x="5373688" y="63496"/>
                </a:cubicBezTo>
                <a:lnTo>
                  <a:pt x="5373688" y="1039817"/>
                </a:lnTo>
                <a:cubicBezTo>
                  <a:pt x="5373688" y="1074885"/>
                  <a:pt x="5345260" y="1103312"/>
                  <a:pt x="5310192" y="1103313"/>
                </a:cubicBezTo>
                <a:lnTo>
                  <a:pt x="15875" y="1103313"/>
                </a:lnTo>
                <a:cubicBezTo>
                  <a:pt x="7113" y="1103313"/>
                  <a:pt x="0" y="1096199"/>
                  <a:pt x="0" y="1087438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6342063" y="4839970"/>
            <a:ext cx="15875" cy="1103313"/>
          </a:xfrm>
          <a:custGeom>
            <a:avLst/>
            <a:gdLst/>
            <a:ahLst/>
            <a:cxnLst/>
            <a:rect l="l" t="t" r="r" b="b"/>
            <a:pathLst>
              <a:path w="15875" h="1103313">
                <a:moveTo>
                  <a:pt x="15875" y="0"/>
                </a:moveTo>
                <a:lnTo>
                  <a:pt x="15875" y="0"/>
                </a:lnTo>
                <a:lnTo>
                  <a:pt x="15875" y="1103313"/>
                </a:lnTo>
                <a:lnTo>
                  <a:pt x="15875" y="1103313"/>
                </a:lnTo>
                <a:cubicBezTo>
                  <a:pt x="7113" y="1103313"/>
                  <a:pt x="0" y="1096199"/>
                  <a:pt x="0" y="1087438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58" name="Text 56"/>
          <p:cNvSpPr/>
          <p:nvPr/>
        </p:nvSpPr>
        <p:spPr>
          <a:xfrm>
            <a:off x="6445250" y="4935220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高分答案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445250" y="5125720"/>
            <a:ext cx="5230813" cy="7223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"Not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in an official capacity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, no. But I regularly play in a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weekly pickup football game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with friends. Even there, you experience the core of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team spirit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—relying on each other, communicating, and sharing the joy of a good play. That sense of </a:t>
            </a:r>
            <a:r>
              <a:rPr lang="en-US" sz="875" b="1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shared purpose</a:t>
            </a:r>
            <a:r>
              <a:rPr lang="en-US" sz="875" dirty="0">
                <a:solidFill>
                  <a:srgbClr val="2D3748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is what I imagine a real team feels like."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33375" y="6596063"/>
            <a:ext cx="11541125" cy="857250"/>
          </a:xfrm>
          <a:custGeom>
            <a:avLst/>
            <a:gdLst/>
            <a:ahLst/>
            <a:cxnLst/>
            <a:rect l="l" t="t" r="r" b="b"/>
            <a:pathLst>
              <a:path w="11541125" h="857250">
                <a:moveTo>
                  <a:pt x="31750" y="0"/>
                </a:moveTo>
                <a:lnTo>
                  <a:pt x="11477628" y="0"/>
                </a:lnTo>
                <a:cubicBezTo>
                  <a:pt x="11512697" y="0"/>
                  <a:pt x="11541125" y="28428"/>
                  <a:pt x="11541125" y="63497"/>
                </a:cubicBezTo>
                <a:lnTo>
                  <a:pt x="11541125" y="793753"/>
                </a:lnTo>
                <a:cubicBezTo>
                  <a:pt x="11541125" y="828822"/>
                  <a:pt x="11512697" y="857250"/>
                  <a:pt x="11477628" y="857250"/>
                </a:cubicBezTo>
                <a:lnTo>
                  <a:pt x="31750" y="857250"/>
                </a:lnTo>
                <a:cubicBezTo>
                  <a:pt x="14215" y="857250"/>
                  <a:pt x="0" y="843035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61" name="Shape 59"/>
          <p:cNvSpPr/>
          <p:nvPr/>
        </p:nvSpPr>
        <p:spPr>
          <a:xfrm>
            <a:off x="470535" y="5834063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750" y="0"/>
                </a:moveTo>
                <a:lnTo>
                  <a:pt x="31750" y="0"/>
                </a:lnTo>
                <a:lnTo>
                  <a:pt x="31750" y="857250"/>
                </a:lnTo>
                <a:lnTo>
                  <a:pt x="31750" y="857250"/>
                </a:lnTo>
                <a:cubicBezTo>
                  <a:pt x="14227" y="857250"/>
                  <a:pt x="0" y="843023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62" name="Shape 60"/>
          <p:cNvSpPr/>
          <p:nvPr/>
        </p:nvSpPr>
        <p:spPr>
          <a:xfrm>
            <a:off x="633254" y="59928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63" name="Text 61"/>
          <p:cNvSpPr/>
          <p:nvPr/>
        </p:nvSpPr>
        <p:spPr>
          <a:xfrm>
            <a:off x="907098" y="5961063"/>
            <a:ext cx="7294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学生常见问题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07098" y="6215063"/>
            <a:ext cx="3611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D374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有经历版：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07098" y="6405563"/>
            <a:ext cx="3611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只谈运动"Yes, I played basketball. I like it." → </a:t>
            </a:r>
            <a:r>
              <a:rPr lang="en-US" sz="875" b="1" dirty="0">
                <a:solidFill>
                  <a:srgbClr val="00A63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务必谈论"软技能"或"感受"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4586501" y="6215063"/>
            <a:ext cx="3611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D3748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无经历版：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4586501" y="6405563"/>
            <a:ext cx="3611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简单否定"No."并结束 → </a:t>
            </a:r>
            <a:r>
              <a:rPr lang="en-US" sz="875" b="1" dirty="0">
                <a:solidFill>
                  <a:srgbClr val="00A63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将话题延伸到相关体验或积极看法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304" y="331304"/>
            <a:ext cx="11587370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kern="0" spc="91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TEACHING INSIGHTS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1304" y="563217"/>
            <a:ext cx="11678478" cy="331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学生常见问题汇总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1304" y="993913"/>
            <a:ext cx="795130" cy="33130"/>
          </a:xfrm>
          <a:custGeom>
            <a:avLst/>
            <a:gdLst/>
            <a:ahLst/>
            <a:cxnLst/>
            <a:rect l="l" t="t" r="r" b="b"/>
            <a:pathLst>
              <a:path w="795130" h="33130">
                <a:moveTo>
                  <a:pt x="0" y="0"/>
                </a:moveTo>
                <a:lnTo>
                  <a:pt x="795130" y="0"/>
                </a:lnTo>
                <a:lnTo>
                  <a:pt x="795130" y="33130"/>
                </a:lnTo>
                <a:lnTo>
                  <a:pt x="0" y="33130"/>
                </a:lnTo>
                <a:lnTo>
                  <a:pt x="0" y="0"/>
                </a:lnTo>
                <a:close/>
              </a:path>
            </a:pathLst>
          </a:custGeom>
          <a:solidFill>
            <a:srgbClr val="C4A87D"/>
          </a:solidFill>
        </p:spPr>
      </p:sp>
      <p:sp>
        <p:nvSpPr>
          <p:cNvPr id="5" name="Shape 3"/>
          <p:cNvSpPr/>
          <p:nvPr/>
        </p:nvSpPr>
        <p:spPr>
          <a:xfrm>
            <a:off x="347870" y="1159565"/>
            <a:ext cx="3735457" cy="2186609"/>
          </a:xfrm>
          <a:custGeom>
            <a:avLst/>
            <a:gdLst/>
            <a:ahLst/>
            <a:cxnLst/>
            <a:rect l="l" t="t" r="r" b="b"/>
            <a:pathLst>
              <a:path w="3735457" h="2186609">
                <a:moveTo>
                  <a:pt x="33130" y="0"/>
                </a:moveTo>
                <a:lnTo>
                  <a:pt x="3669202" y="0"/>
                </a:lnTo>
                <a:cubicBezTo>
                  <a:pt x="3705793" y="0"/>
                  <a:pt x="3735457" y="29663"/>
                  <a:pt x="3735457" y="66254"/>
                </a:cubicBezTo>
                <a:lnTo>
                  <a:pt x="3735457" y="2120354"/>
                </a:lnTo>
                <a:cubicBezTo>
                  <a:pt x="3735457" y="2156946"/>
                  <a:pt x="3705793" y="2186609"/>
                  <a:pt x="3669202" y="2186609"/>
                </a:cubicBezTo>
                <a:lnTo>
                  <a:pt x="33130" y="2186609"/>
                </a:lnTo>
                <a:cubicBezTo>
                  <a:pt x="14833" y="2186609"/>
                  <a:pt x="0" y="2171776"/>
                  <a:pt x="0" y="2153478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848" dist="828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870" y="1159565"/>
            <a:ext cx="33130" cy="2186609"/>
          </a:xfrm>
          <a:custGeom>
            <a:avLst/>
            <a:gdLst/>
            <a:ahLst/>
            <a:cxnLst/>
            <a:rect l="l" t="t" r="r" b="b"/>
            <a:pathLst>
              <a:path w="33130" h="2186609">
                <a:moveTo>
                  <a:pt x="33130" y="0"/>
                </a:moveTo>
                <a:lnTo>
                  <a:pt x="33130" y="0"/>
                </a:lnTo>
                <a:lnTo>
                  <a:pt x="33130" y="2186609"/>
                </a:lnTo>
                <a:lnTo>
                  <a:pt x="33130" y="2186609"/>
                </a:lnTo>
                <a:cubicBezTo>
                  <a:pt x="14833" y="2186609"/>
                  <a:pt x="0" y="2171776"/>
                  <a:pt x="0" y="2153478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7" name="Shape 5"/>
          <p:cNvSpPr/>
          <p:nvPr/>
        </p:nvSpPr>
        <p:spPr>
          <a:xfrm>
            <a:off x="530087" y="1325217"/>
            <a:ext cx="397565" cy="397565"/>
          </a:xfrm>
          <a:custGeom>
            <a:avLst/>
            <a:gdLst/>
            <a:ahLst/>
            <a:cxnLst/>
            <a:rect l="l" t="t" r="r" b="b"/>
            <a:pathLst>
              <a:path w="397565" h="397565">
                <a:moveTo>
                  <a:pt x="198783" y="0"/>
                </a:moveTo>
                <a:lnTo>
                  <a:pt x="198783" y="0"/>
                </a:lnTo>
                <a:cubicBezTo>
                  <a:pt x="308494" y="0"/>
                  <a:pt x="397565" y="89072"/>
                  <a:pt x="397565" y="198783"/>
                </a:cubicBezTo>
                <a:lnTo>
                  <a:pt x="397565" y="198783"/>
                </a:lnTo>
                <a:cubicBezTo>
                  <a:pt x="397565" y="308494"/>
                  <a:pt x="308494" y="397565"/>
                  <a:pt x="198783" y="397565"/>
                </a:cubicBezTo>
                <a:lnTo>
                  <a:pt x="198783" y="397565"/>
                </a:lnTo>
                <a:cubicBezTo>
                  <a:pt x="89072" y="397565"/>
                  <a:pt x="0" y="308494"/>
                  <a:pt x="0" y="198783"/>
                </a:cubicBezTo>
                <a:lnTo>
                  <a:pt x="0" y="198783"/>
                </a:lnTo>
                <a:cubicBezTo>
                  <a:pt x="0" y="89072"/>
                  <a:pt x="89072" y="0"/>
                  <a:pt x="198783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8" name="Text 6"/>
          <p:cNvSpPr/>
          <p:nvPr/>
        </p:nvSpPr>
        <p:spPr>
          <a:xfrm>
            <a:off x="488674" y="1325217"/>
            <a:ext cx="480391" cy="397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7043" y="1408043"/>
            <a:ext cx="1076739" cy="2319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回答过于简单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0087" y="1822174"/>
            <a:ext cx="3387587" cy="563217"/>
          </a:xfrm>
          <a:custGeom>
            <a:avLst/>
            <a:gdLst/>
            <a:ahLst/>
            <a:cxnLst/>
            <a:rect l="l" t="t" r="r" b="b"/>
            <a:pathLst>
              <a:path w="3387587" h="563217">
                <a:moveTo>
                  <a:pt x="66263" y="0"/>
                </a:moveTo>
                <a:lnTo>
                  <a:pt x="3321324" y="0"/>
                </a:lnTo>
                <a:cubicBezTo>
                  <a:pt x="3357920" y="0"/>
                  <a:pt x="3387587" y="29667"/>
                  <a:pt x="3387587" y="66263"/>
                </a:cubicBezTo>
                <a:lnTo>
                  <a:pt x="3387587" y="496955"/>
                </a:lnTo>
                <a:cubicBezTo>
                  <a:pt x="3387587" y="533551"/>
                  <a:pt x="3357920" y="563217"/>
                  <a:pt x="3321324" y="563217"/>
                </a:cubicBezTo>
                <a:lnTo>
                  <a:pt x="66263" y="563217"/>
                </a:lnTo>
                <a:cubicBezTo>
                  <a:pt x="29667" y="563217"/>
                  <a:pt x="0" y="533551"/>
                  <a:pt x="0" y="496955"/>
                </a:cubicBezTo>
                <a:lnTo>
                  <a:pt x="0" y="66263"/>
                </a:lnTo>
                <a:cubicBezTo>
                  <a:pt x="0" y="29691"/>
                  <a:pt x="29691" y="0"/>
                  <a:pt x="66263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11" name="Text 9"/>
          <p:cNvSpPr/>
          <p:nvPr/>
        </p:nvSpPr>
        <p:spPr>
          <a:xfrm>
            <a:off x="629478" y="1921565"/>
            <a:ext cx="3246783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典型表现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9478" y="2120348"/>
            <a:ext cx="3246783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"Last month." / "I rest at home." / "Yes, I do."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8370" y="2451652"/>
            <a:ext cx="3379304" cy="563217"/>
          </a:xfrm>
          <a:custGeom>
            <a:avLst/>
            <a:gdLst/>
            <a:ahLst/>
            <a:cxnLst/>
            <a:rect l="l" t="t" r="r" b="b"/>
            <a:pathLst>
              <a:path w="3379304" h="563217">
                <a:moveTo>
                  <a:pt x="16565" y="0"/>
                </a:moveTo>
                <a:lnTo>
                  <a:pt x="3313042" y="0"/>
                </a:lnTo>
                <a:cubicBezTo>
                  <a:pt x="3349638" y="0"/>
                  <a:pt x="3379304" y="29667"/>
                  <a:pt x="3379304" y="66263"/>
                </a:cubicBezTo>
                <a:lnTo>
                  <a:pt x="3379304" y="496955"/>
                </a:lnTo>
                <a:cubicBezTo>
                  <a:pt x="3379304" y="533551"/>
                  <a:pt x="3349638" y="563217"/>
                  <a:pt x="3313042" y="563217"/>
                </a:cubicBezTo>
                <a:lnTo>
                  <a:pt x="16565" y="563217"/>
                </a:lnTo>
                <a:cubicBezTo>
                  <a:pt x="7417" y="563217"/>
                  <a:pt x="0" y="555801"/>
                  <a:pt x="0" y="546652"/>
                </a:cubicBezTo>
                <a:lnTo>
                  <a:pt x="0" y="16565"/>
                </a:lnTo>
                <a:cubicBezTo>
                  <a:pt x="0" y="7417"/>
                  <a:pt x="7417" y="0"/>
                  <a:pt x="16565" y="0"/>
                </a:cubicBezTo>
                <a:close/>
              </a:path>
            </a:pathLst>
          </a:custGeom>
          <a:solidFill>
            <a:srgbClr val="F0FDF4"/>
          </a:solidFill>
        </p:spPr>
      </p:sp>
      <p:sp>
        <p:nvSpPr>
          <p:cNvPr id="14" name="Shape 12"/>
          <p:cNvSpPr/>
          <p:nvPr/>
        </p:nvSpPr>
        <p:spPr>
          <a:xfrm>
            <a:off x="538370" y="2451652"/>
            <a:ext cx="16565" cy="563217"/>
          </a:xfrm>
          <a:custGeom>
            <a:avLst/>
            <a:gdLst/>
            <a:ahLst/>
            <a:cxnLst/>
            <a:rect l="l" t="t" r="r" b="b"/>
            <a:pathLst>
              <a:path w="16565" h="563217">
                <a:moveTo>
                  <a:pt x="16565" y="0"/>
                </a:moveTo>
                <a:lnTo>
                  <a:pt x="16565" y="0"/>
                </a:lnTo>
                <a:lnTo>
                  <a:pt x="16565" y="563217"/>
                </a:lnTo>
                <a:lnTo>
                  <a:pt x="16565" y="563217"/>
                </a:lnTo>
                <a:cubicBezTo>
                  <a:pt x="7417" y="563217"/>
                  <a:pt x="0" y="555801"/>
                  <a:pt x="0" y="546652"/>
                </a:cubicBezTo>
                <a:lnTo>
                  <a:pt x="0" y="16565"/>
                </a:lnTo>
                <a:cubicBezTo>
                  <a:pt x="0" y="7417"/>
                  <a:pt x="7417" y="0"/>
                  <a:pt x="16565" y="0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15" name="Text 13"/>
          <p:cNvSpPr/>
          <p:nvPr/>
        </p:nvSpPr>
        <p:spPr>
          <a:xfrm>
            <a:off x="646043" y="2551043"/>
            <a:ext cx="3230217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00A63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✓ 改进方向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6043" y="2749826"/>
            <a:ext cx="3230217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补充细节、背景、原因或感受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35131" y="1159565"/>
            <a:ext cx="3735457" cy="2186609"/>
          </a:xfrm>
          <a:custGeom>
            <a:avLst/>
            <a:gdLst/>
            <a:ahLst/>
            <a:cxnLst/>
            <a:rect l="l" t="t" r="r" b="b"/>
            <a:pathLst>
              <a:path w="3735457" h="2186609">
                <a:moveTo>
                  <a:pt x="33130" y="0"/>
                </a:moveTo>
                <a:lnTo>
                  <a:pt x="3669202" y="0"/>
                </a:lnTo>
                <a:cubicBezTo>
                  <a:pt x="3705793" y="0"/>
                  <a:pt x="3735457" y="29663"/>
                  <a:pt x="3735457" y="66254"/>
                </a:cubicBezTo>
                <a:lnTo>
                  <a:pt x="3735457" y="2120354"/>
                </a:lnTo>
                <a:cubicBezTo>
                  <a:pt x="3735457" y="2156946"/>
                  <a:pt x="3705793" y="2186609"/>
                  <a:pt x="3669202" y="2186609"/>
                </a:cubicBezTo>
                <a:lnTo>
                  <a:pt x="33130" y="2186609"/>
                </a:lnTo>
                <a:cubicBezTo>
                  <a:pt x="14833" y="2186609"/>
                  <a:pt x="0" y="2171776"/>
                  <a:pt x="0" y="2153478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848" dist="828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35131" y="1159565"/>
            <a:ext cx="33130" cy="2186609"/>
          </a:xfrm>
          <a:custGeom>
            <a:avLst/>
            <a:gdLst/>
            <a:ahLst/>
            <a:cxnLst/>
            <a:rect l="l" t="t" r="r" b="b"/>
            <a:pathLst>
              <a:path w="33130" h="2186609">
                <a:moveTo>
                  <a:pt x="33130" y="0"/>
                </a:moveTo>
                <a:lnTo>
                  <a:pt x="33130" y="0"/>
                </a:lnTo>
                <a:lnTo>
                  <a:pt x="33130" y="2186609"/>
                </a:lnTo>
                <a:lnTo>
                  <a:pt x="33130" y="2186609"/>
                </a:lnTo>
                <a:cubicBezTo>
                  <a:pt x="14833" y="2186609"/>
                  <a:pt x="0" y="2171776"/>
                  <a:pt x="0" y="2153478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9" name="Shape 17"/>
          <p:cNvSpPr/>
          <p:nvPr/>
        </p:nvSpPr>
        <p:spPr>
          <a:xfrm>
            <a:off x="4417348" y="1325217"/>
            <a:ext cx="397565" cy="397565"/>
          </a:xfrm>
          <a:custGeom>
            <a:avLst/>
            <a:gdLst/>
            <a:ahLst/>
            <a:cxnLst/>
            <a:rect l="l" t="t" r="r" b="b"/>
            <a:pathLst>
              <a:path w="397565" h="397565">
                <a:moveTo>
                  <a:pt x="198783" y="0"/>
                </a:moveTo>
                <a:lnTo>
                  <a:pt x="198783" y="0"/>
                </a:lnTo>
                <a:cubicBezTo>
                  <a:pt x="308494" y="0"/>
                  <a:pt x="397565" y="89072"/>
                  <a:pt x="397565" y="198783"/>
                </a:cubicBezTo>
                <a:lnTo>
                  <a:pt x="397565" y="198783"/>
                </a:lnTo>
                <a:cubicBezTo>
                  <a:pt x="397565" y="308494"/>
                  <a:pt x="308494" y="397565"/>
                  <a:pt x="198783" y="397565"/>
                </a:cubicBezTo>
                <a:lnTo>
                  <a:pt x="198783" y="397565"/>
                </a:lnTo>
                <a:cubicBezTo>
                  <a:pt x="89072" y="397565"/>
                  <a:pt x="0" y="308494"/>
                  <a:pt x="0" y="198783"/>
                </a:cubicBezTo>
                <a:lnTo>
                  <a:pt x="0" y="198783"/>
                </a:lnTo>
                <a:cubicBezTo>
                  <a:pt x="0" y="89072"/>
                  <a:pt x="89072" y="0"/>
                  <a:pt x="198783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20" name="Text 18"/>
          <p:cNvSpPr/>
          <p:nvPr/>
        </p:nvSpPr>
        <p:spPr>
          <a:xfrm>
            <a:off x="4375935" y="1325217"/>
            <a:ext cx="480391" cy="397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14305" y="1408043"/>
            <a:ext cx="1076739" cy="2319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时态使用错误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17348" y="1822174"/>
            <a:ext cx="3387587" cy="728870"/>
          </a:xfrm>
          <a:custGeom>
            <a:avLst/>
            <a:gdLst/>
            <a:ahLst/>
            <a:cxnLst/>
            <a:rect l="l" t="t" r="r" b="b"/>
            <a:pathLst>
              <a:path w="3387587" h="728870">
                <a:moveTo>
                  <a:pt x="66262" y="0"/>
                </a:moveTo>
                <a:lnTo>
                  <a:pt x="3321325" y="0"/>
                </a:lnTo>
                <a:cubicBezTo>
                  <a:pt x="3357921" y="0"/>
                  <a:pt x="3387587" y="29666"/>
                  <a:pt x="3387587" y="66262"/>
                </a:cubicBezTo>
                <a:lnTo>
                  <a:pt x="3387587" y="662608"/>
                </a:lnTo>
                <a:cubicBezTo>
                  <a:pt x="3387587" y="699203"/>
                  <a:pt x="3357921" y="728870"/>
                  <a:pt x="3321325" y="728870"/>
                </a:cubicBezTo>
                <a:lnTo>
                  <a:pt x="66262" y="728870"/>
                </a:lnTo>
                <a:cubicBezTo>
                  <a:pt x="29691" y="728870"/>
                  <a:pt x="0" y="699179"/>
                  <a:pt x="0" y="662608"/>
                </a:cubicBezTo>
                <a:lnTo>
                  <a:pt x="0" y="66262"/>
                </a:lnTo>
                <a:cubicBezTo>
                  <a:pt x="0" y="29691"/>
                  <a:pt x="29691" y="0"/>
                  <a:pt x="66262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23" name="Text 21"/>
          <p:cNvSpPr/>
          <p:nvPr/>
        </p:nvSpPr>
        <p:spPr>
          <a:xfrm>
            <a:off x="4516739" y="1921565"/>
            <a:ext cx="3246783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典型表现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16739" y="2120348"/>
            <a:ext cx="3246783" cy="331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"I have days off last Spring Festival." / "I will go shopping." (虚拟语气)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25631" y="2617304"/>
            <a:ext cx="3379304" cy="563217"/>
          </a:xfrm>
          <a:custGeom>
            <a:avLst/>
            <a:gdLst/>
            <a:ahLst/>
            <a:cxnLst/>
            <a:rect l="l" t="t" r="r" b="b"/>
            <a:pathLst>
              <a:path w="3379304" h="563217">
                <a:moveTo>
                  <a:pt x="16565" y="0"/>
                </a:moveTo>
                <a:lnTo>
                  <a:pt x="3313042" y="0"/>
                </a:lnTo>
                <a:cubicBezTo>
                  <a:pt x="3349638" y="0"/>
                  <a:pt x="3379304" y="29667"/>
                  <a:pt x="3379304" y="66263"/>
                </a:cubicBezTo>
                <a:lnTo>
                  <a:pt x="3379304" y="496955"/>
                </a:lnTo>
                <a:cubicBezTo>
                  <a:pt x="3379304" y="533551"/>
                  <a:pt x="3349638" y="563217"/>
                  <a:pt x="3313042" y="563217"/>
                </a:cubicBezTo>
                <a:lnTo>
                  <a:pt x="16565" y="563217"/>
                </a:lnTo>
                <a:cubicBezTo>
                  <a:pt x="7417" y="563217"/>
                  <a:pt x="0" y="555801"/>
                  <a:pt x="0" y="546652"/>
                </a:cubicBezTo>
                <a:lnTo>
                  <a:pt x="0" y="16565"/>
                </a:lnTo>
                <a:cubicBezTo>
                  <a:pt x="0" y="7417"/>
                  <a:pt x="7417" y="0"/>
                  <a:pt x="16565" y="0"/>
                </a:cubicBezTo>
                <a:close/>
              </a:path>
            </a:pathLst>
          </a:custGeom>
          <a:solidFill>
            <a:srgbClr val="F0FDF4"/>
          </a:solidFill>
        </p:spPr>
      </p:sp>
      <p:sp>
        <p:nvSpPr>
          <p:cNvPr id="26" name="Shape 24"/>
          <p:cNvSpPr/>
          <p:nvPr/>
        </p:nvSpPr>
        <p:spPr>
          <a:xfrm>
            <a:off x="4425631" y="2617304"/>
            <a:ext cx="16565" cy="563217"/>
          </a:xfrm>
          <a:custGeom>
            <a:avLst/>
            <a:gdLst/>
            <a:ahLst/>
            <a:cxnLst/>
            <a:rect l="l" t="t" r="r" b="b"/>
            <a:pathLst>
              <a:path w="16565" h="563217">
                <a:moveTo>
                  <a:pt x="16565" y="0"/>
                </a:moveTo>
                <a:lnTo>
                  <a:pt x="16565" y="0"/>
                </a:lnTo>
                <a:lnTo>
                  <a:pt x="16565" y="563217"/>
                </a:lnTo>
                <a:lnTo>
                  <a:pt x="16565" y="563217"/>
                </a:lnTo>
                <a:cubicBezTo>
                  <a:pt x="7417" y="563217"/>
                  <a:pt x="0" y="555801"/>
                  <a:pt x="0" y="546652"/>
                </a:cubicBezTo>
                <a:lnTo>
                  <a:pt x="0" y="16565"/>
                </a:lnTo>
                <a:cubicBezTo>
                  <a:pt x="0" y="7417"/>
                  <a:pt x="7417" y="0"/>
                  <a:pt x="16565" y="0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27" name="Text 25"/>
          <p:cNvSpPr/>
          <p:nvPr/>
        </p:nvSpPr>
        <p:spPr>
          <a:xfrm>
            <a:off x="4533305" y="2716696"/>
            <a:ext cx="3230217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00A63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✓ 改进方向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33305" y="2915478"/>
            <a:ext cx="3230217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强化时态意识：过去时/现在时/虚拟语气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22392" y="1159565"/>
            <a:ext cx="3735457" cy="2186609"/>
          </a:xfrm>
          <a:custGeom>
            <a:avLst/>
            <a:gdLst/>
            <a:ahLst/>
            <a:cxnLst/>
            <a:rect l="l" t="t" r="r" b="b"/>
            <a:pathLst>
              <a:path w="3735457" h="2186609">
                <a:moveTo>
                  <a:pt x="33130" y="0"/>
                </a:moveTo>
                <a:lnTo>
                  <a:pt x="3669202" y="0"/>
                </a:lnTo>
                <a:cubicBezTo>
                  <a:pt x="3705793" y="0"/>
                  <a:pt x="3735457" y="29663"/>
                  <a:pt x="3735457" y="66254"/>
                </a:cubicBezTo>
                <a:lnTo>
                  <a:pt x="3735457" y="2120354"/>
                </a:lnTo>
                <a:cubicBezTo>
                  <a:pt x="3735457" y="2156946"/>
                  <a:pt x="3705793" y="2186609"/>
                  <a:pt x="3669202" y="2186609"/>
                </a:cubicBezTo>
                <a:lnTo>
                  <a:pt x="33130" y="2186609"/>
                </a:lnTo>
                <a:cubicBezTo>
                  <a:pt x="14833" y="2186609"/>
                  <a:pt x="0" y="2171776"/>
                  <a:pt x="0" y="2153478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848" dist="828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22392" y="1159565"/>
            <a:ext cx="33130" cy="2186609"/>
          </a:xfrm>
          <a:custGeom>
            <a:avLst/>
            <a:gdLst/>
            <a:ahLst/>
            <a:cxnLst/>
            <a:rect l="l" t="t" r="r" b="b"/>
            <a:pathLst>
              <a:path w="33130" h="2186609">
                <a:moveTo>
                  <a:pt x="33130" y="0"/>
                </a:moveTo>
                <a:lnTo>
                  <a:pt x="33130" y="0"/>
                </a:lnTo>
                <a:lnTo>
                  <a:pt x="33130" y="2186609"/>
                </a:lnTo>
                <a:lnTo>
                  <a:pt x="33130" y="2186609"/>
                </a:lnTo>
                <a:cubicBezTo>
                  <a:pt x="14833" y="2186609"/>
                  <a:pt x="0" y="2171776"/>
                  <a:pt x="0" y="2153478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31" name="Shape 29"/>
          <p:cNvSpPr/>
          <p:nvPr/>
        </p:nvSpPr>
        <p:spPr>
          <a:xfrm>
            <a:off x="8304609" y="1325217"/>
            <a:ext cx="397565" cy="397565"/>
          </a:xfrm>
          <a:custGeom>
            <a:avLst/>
            <a:gdLst/>
            <a:ahLst/>
            <a:cxnLst/>
            <a:rect l="l" t="t" r="r" b="b"/>
            <a:pathLst>
              <a:path w="397565" h="397565">
                <a:moveTo>
                  <a:pt x="198783" y="0"/>
                </a:moveTo>
                <a:lnTo>
                  <a:pt x="198783" y="0"/>
                </a:lnTo>
                <a:cubicBezTo>
                  <a:pt x="308494" y="0"/>
                  <a:pt x="397565" y="89072"/>
                  <a:pt x="397565" y="198783"/>
                </a:cubicBezTo>
                <a:lnTo>
                  <a:pt x="397565" y="198783"/>
                </a:lnTo>
                <a:cubicBezTo>
                  <a:pt x="397565" y="308494"/>
                  <a:pt x="308494" y="397565"/>
                  <a:pt x="198783" y="397565"/>
                </a:cubicBezTo>
                <a:lnTo>
                  <a:pt x="198783" y="397565"/>
                </a:lnTo>
                <a:cubicBezTo>
                  <a:pt x="89072" y="397565"/>
                  <a:pt x="0" y="308494"/>
                  <a:pt x="0" y="198783"/>
                </a:cubicBezTo>
                <a:lnTo>
                  <a:pt x="0" y="198783"/>
                </a:lnTo>
                <a:cubicBezTo>
                  <a:pt x="0" y="89072"/>
                  <a:pt x="89072" y="0"/>
                  <a:pt x="198783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32" name="Text 30"/>
          <p:cNvSpPr/>
          <p:nvPr/>
        </p:nvSpPr>
        <p:spPr>
          <a:xfrm>
            <a:off x="8263196" y="1325217"/>
            <a:ext cx="480391" cy="397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01566" y="1408043"/>
            <a:ext cx="911087" cy="2319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绝对化表达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04609" y="1822174"/>
            <a:ext cx="3387587" cy="563217"/>
          </a:xfrm>
          <a:custGeom>
            <a:avLst/>
            <a:gdLst/>
            <a:ahLst/>
            <a:cxnLst/>
            <a:rect l="l" t="t" r="r" b="b"/>
            <a:pathLst>
              <a:path w="3387587" h="563217">
                <a:moveTo>
                  <a:pt x="66263" y="0"/>
                </a:moveTo>
                <a:lnTo>
                  <a:pt x="3321324" y="0"/>
                </a:lnTo>
                <a:cubicBezTo>
                  <a:pt x="3357920" y="0"/>
                  <a:pt x="3387587" y="29667"/>
                  <a:pt x="3387587" y="66263"/>
                </a:cubicBezTo>
                <a:lnTo>
                  <a:pt x="3387587" y="496955"/>
                </a:lnTo>
                <a:cubicBezTo>
                  <a:pt x="3387587" y="533551"/>
                  <a:pt x="3357920" y="563217"/>
                  <a:pt x="3321324" y="563217"/>
                </a:cubicBezTo>
                <a:lnTo>
                  <a:pt x="66263" y="563217"/>
                </a:lnTo>
                <a:cubicBezTo>
                  <a:pt x="29667" y="563217"/>
                  <a:pt x="0" y="533551"/>
                  <a:pt x="0" y="496955"/>
                </a:cubicBezTo>
                <a:lnTo>
                  <a:pt x="0" y="66263"/>
                </a:lnTo>
                <a:cubicBezTo>
                  <a:pt x="0" y="29691"/>
                  <a:pt x="29691" y="0"/>
                  <a:pt x="66263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35" name="Text 33"/>
          <p:cNvSpPr/>
          <p:nvPr/>
        </p:nvSpPr>
        <p:spPr>
          <a:xfrm>
            <a:off x="8404001" y="1921565"/>
            <a:ext cx="3246783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典型表现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04001" y="2120348"/>
            <a:ext cx="3246783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"I always stay with my parents." / "I never walk."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12892" y="2451652"/>
            <a:ext cx="3379304" cy="563217"/>
          </a:xfrm>
          <a:custGeom>
            <a:avLst/>
            <a:gdLst/>
            <a:ahLst/>
            <a:cxnLst/>
            <a:rect l="l" t="t" r="r" b="b"/>
            <a:pathLst>
              <a:path w="3379304" h="563217">
                <a:moveTo>
                  <a:pt x="16565" y="0"/>
                </a:moveTo>
                <a:lnTo>
                  <a:pt x="3313042" y="0"/>
                </a:lnTo>
                <a:cubicBezTo>
                  <a:pt x="3349638" y="0"/>
                  <a:pt x="3379304" y="29667"/>
                  <a:pt x="3379304" y="66263"/>
                </a:cubicBezTo>
                <a:lnTo>
                  <a:pt x="3379304" y="496955"/>
                </a:lnTo>
                <a:cubicBezTo>
                  <a:pt x="3379304" y="533551"/>
                  <a:pt x="3349638" y="563217"/>
                  <a:pt x="3313042" y="563217"/>
                </a:cubicBezTo>
                <a:lnTo>
                  <a:pt x="16565" y="563217"/>
                </a:lnTo>
                <a:cubicBezTo>
                  <a:pt x="7417" y="563217"/>
                  <a:pt x="0" y="555801"/>
                  <a:pt x="0" y="546652"/>
                </a:cubicBezTo>
                <a:lnTo>
                  <a:pt x="0" y="16565"/>
                </a:lnTo>
                <a:cubicBezTo>
                  <a:pt x="0" y="7417"/>
                  <a:pt x="7417" y="0"/>
                  <a:pt x="16565" y="0"/>
                </a:cubicBezTo>
                <a:close/>
              </a:path>
            </a:pathLst>
          </a:custGeom>
          <a:solidFill>
            <a:srgbClr val="F0FDF4"/>
          </a:solidFill>
        </p:spPr>
      </p:sp>
      <p:sp>
        <p:nvSpPr>
          <p:cNvPr id="38" name="Shape 36"/>
          <p:cNvSpPr/>
          <p:nvPr/>
        </p:nvSpPr>
        <p:spPr>
          <a:xfrm>
            <a:off x="8312892" y="2451652"/>
            <a:ext cx="16565" cy="563217"/>
          </a:xfrm>
          <a:custGeom>
            <a:avLst/>
            <a:gdLst/>
            <a:ahLst/>
            <a:cxnLst/>
            <a:rect l="l" t="t" r="r" b="b"/>
            <a:pathLst>
              <a:path w="16565" h="563217">
                <a:moveTo>
                  <a:pt x="16565" y="0"/>
                </a:moveTo>
                <a:lnTo>
                  <a:pt x="16565" y="0"/>
                </a:lnTo>
                <a:lnTo>
                  <a:pt x="16565" y="563217"/>
                </a:lnTo>
                <a:lnTo>
                  <a:pt x="16565" y="563217"/>
                </a:lnTo>
                <a:cubicBezTo>
                  <a:pt x="7417" y="563217"/>
                  <a:pt x="0" y="555801"/>
                  <a:pt x="0" y="546652"/>
                </a:cubicBezTo>
                <a:lnTo>
                  <a:pt x="0" y="16565"/>
                </a:lnTo>
                <a:cubicBezTo>
                  <a:pt x="0" y="7417"/>
                  <a:pt x="7417" y="0"/>
                  <a:pt x="16565" y="0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39" name="Text 37"/>
          <p:cNvSpPr/>
          <p:nvPr/>
        </p:nvSpPr>
        <p:spPr>
          <a:xfrm>
            <a:off x="8420566" y="2551043"/>
            <a:ext cx="3230217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00A63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✓ 改进方向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20566" y="2749826"/>
            <a:ext cx="3230217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使用"It depends"、"no hard and fast rule"等灵活表达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47870" y="3478696"/>
            <a:ext cx="3735457" cy="2020957"/>
          </a:xfrm>
          <a:custGeom>
            <a:avLst/>
            <a:gdLst/>
            <a:ahLst/>
            <a:cxnLst/>
            <a:rect l="l" t="t" r="r" b="b"/>
            <a:pathLst>
              <a:path w="3735457" h="2020957">
                <a:moveTo>
                  <a:pt x="33130" y="0"/>
                </a:moveTo>
                <a:lnTo>
                  <a:pt x="3669189" y="0"/>
                </a:lnTo>
                <a:cubicBezTo>
                  <a:pt x="3705763" y="0"/>
                  <a:pt x="3735457" y="29693"/>
                  <a:pt x="3735457" y="66267"/>
                </a:cubicBezTo>
                <a:lnTo>
                  <a:pt x="3735457" y="1954689"/>
                </a:lnTo>
                <a:cubicBezTo>
                  <a:pt x="3735457" y="1991263"/>
                  <a:pt x="3705763" y="2020957"/>
                  <a:pt x="3669189" y="2020957"/>
                </a:cubicBezTo>
                <a:lnTo>
                  <a:pt x="33130" y="2020957"/>
                </a:lnTo>
                <a:cubicBezTo>
                  <a:pt x="14833" y="2020957"/>
                  <a:pt x="0" y="2006124"/>
                  <a:pt x="0" y="1987826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848" dist="828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47870" y="3478696"/>
            <a:ext cx="33130" cy="2020957"/>
          </a:xfrm>
          <a:custGeom>
            <a:avLst/>
            <a:gdLst/>
            <a:ahLst/>
            <a:cxnLst/>
            <a:rect l="l" t="t" r="r" b="b"/>
            <a:pathLst>
              <a:path w="33130" h="2020957">
                <a:moveTo>
                  <a:pt x="33130" y="0"/>
                </a:moveTo>
                <a:lnTo>
                  <a:pt x="33130" y="0"/>
                </a:lnTo>
                <a:lnTo>
                  <a:pt x="33130" y="2020957"/>
                </a:lnTo>
                <a:lnTo>
                  <a:pt x="33130" y="2020957"/>
                </a:lnTo>
                <a:cubicBezTo>
                  <a:pt x="14833" y="2020957"/>
                  <a:pt x="0" y="2006124"/>
                  <a:pt x="0" y="1987826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43" name="Shape 41"/>
          <p:cNvSpPr/>
          <p:nvPr/>
        </p:nvSpPr>
        <p:spPr>
          <a:xfrm>
            <a:off x="530087" y="3644348"/>
            <a:ext cx="397565" cy="397565"/>
          </a:xfrm>
          <a:custGeom>
            <a:avLst/>
            <a:gdLst/>
            <a:ahLst/>
            <a:cxnLst/>
            <a:rect l="l" t="t" r="r" b="b"/>
            <a:pathLst>
              <a:path w="397565" h="397565">
                <a:moveTo>
                  <a:pt x="198783" y="0"/>
                </a:moveTo>
                <a:lnTo>
                  <a:pt x="198783" y="0"/>
                </a:lnTo>
                <a:cubicBezTo>
                  <a:pt x="308494" y="0"/>
                  <a:pt x="397565" y="89072"/>
                  <a:pt x="397565" y="198783"/>
                </a:cubicBezTo>
                <a:lnTo>
                  <a:pt x="397565" y="198783"/>
                </a:lnTo>
                <a:cubicBezTo>
                  <a:pt x="397565" y="308494"/>
                  <a:pt x="308494" y="397565"/>
                  <a:pt x="198783" y="397565"/>
                </a:cubicBezTo>
                <a:lnTo>
                  <a:pt x="198783" y="397565"/>
                </a:lnTo>
                <a:cubicBezTo>
                  <a:pt x="89072" y="397565"/>
                  <a:pt x="0" y="308494"/>
                  <a:pt x="0" y="198783"/>
                </a:cubicBezTo>
                <a:lnTo>
                  <a:pt x="0" y="198783"/>
                </a:lnTo>
                <a:cubicBezTo>
                  <a:pt x="0" y="89072"/>
                  <a:pt x="89072" y="0"/>
                  <a:pt x="198783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44" name="Text 42"/>
          <p:cNvSpPr/>
          <p:nvPr/>
        </p:nvSpPr>
        <p:spPr>
          <a:xfrm>
            <a:off x="488674" y="3644348"/>
            <a:ext cx="480391" cy="397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27043" y="3727174"/>
            <a:ext cx="1076739" cy="2319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缺乏具体细节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30087" y="4141304"/>
            <a:ext cx="3387587" cy="563217"/>
          </a:xfrm>
          <a:custGeom>
            <a:avLst/>
            <a:gdLst/>
            <a:ahLst/>
            <a:cxnLst/>
            <a:rect l="l" t="t" r="r" b="b"/>
            <a:pathLst>
              <a:path w="3387587" h="563217">
                <a:moveTo>
                  <a:pt x="66263" y="0"/>
                </a:moveTo>
                <a:lnTo>
                  <a:pt x="3321324" y="0"/>
                </a:lnTo>
                <a:cubicBezTo>
                  <a:pt x="3357920" y="0"/>
                  <a:pt x="3387587" y="29667"/>
                  <a:pt x="3387587" y="66263"/>
                </a:cubicBezTo>
                <a:lnTo>
                  <a:pt x="3387587" y="496955"/>
                </a:lnTo>
                <a:cubicBezTo>
                  <a:pt x="3387587" y="533551"/>
                  <a:pt x="3357920" y="563217"/>
                  <a:pt x="3321324" y="563217"/>
                </a:cubicBezTo>
                <a:lnTo>
                  <a:pt x="66263" y="563217"/>
                </a:lnTo>
                <a:cubicBezTo>
                  <a:pt x="29667" y="563217"/>
                  <a:pt x="0" y="533551"/>
                  <a:pt x="0" y="496955"/>
                </a:cubicBezTo>
                <a:lnTo>
                  <a:pt x="0" y="66263"/>
                </a:lnTo>
                <a:cubicBezTo>
                  <a:pt x="0" y="29691"/>
                  <a:pt x="29691" y="0"/>
                  <a:pt x="66263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47" name="Text 45"/>
          <p:cNvSpPr/>
          <p:nvPr/>
        </p:nvSpPr>
        <p:spPr>
          <a:xfrm>
            <a:off x="629478" y="4240696"/>
            <a:ext cx="3246783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典型表现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9478" y="4439478"/>
            <a:ext cx="3246783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"A beautiful place." / "I would play." / "Nowhere special."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38370" y="4770783"/>
            <a:ext cx="3379304" cy="563217"/>
          </a:xfrm>
          <a:custGeom>
            <a:avLst/>
            <a:gdLst/>
            <a:ahLst/>
            <a:cxnLst/>
            <a:rect l="l" t="t" r="r" b="b"/>
            <a:pathLst>
              <a:path w="3379304" h="563217">
                <a:moveTo>
                  <a:pt x="16565" y="0"/>
                </a:moveTo>
                <a:lnTo>
                  <a:pt x="3313042" y="0"/>
                </a:lnTo>
                <a:cubicBezTo>
                  <a:pt x="3349638" y="0"/>
                  <a:pt x="3379304" y="29667"/>
                  <a:pt x="3379304" y="66263"/>
                </a:cubicBezTo>
                <a:lnTo>
                  <a:pt x="3379304" y="496955"/>
                </a:lnTo>
                <a:cubicBezTo>
                  <a:pt x="3379304" y="533551"/>
                  <a:pt x="3349638" y="563217"/>
                  <a:pt x="3313042" y="563217"/>
                </a:cubicBezTo>
                <a:lnTo>
                  <a:pt x="16565" y="563217"/>
                </a:lnTo>
                <a:cubicBezTo>
                  <a:pt x="7417" y="563217"/>
                  <a:pt x="0" y="555801"/>
                  <a:pt x="0" y="546652"/>
                </a:cubicBezTo>
                <a:lnTo>
                  <a:pt x="0" y="16565"/>
                </a:lnTo>
                <a:cubicBezTo>
                  <a:pt x="0" y="7417"/>
                  <a:pt x="7417" y="0"/>
                  <a:pt x="16565" y="0"/>
                </a:cubicBezTo>
                <a:close/>
              </a:path>
            </a:pathLst>
          </a:custGeom>
          <a:solidFill>
            <a:srgbClr val="F0FDF4"/>
          </a:solidFill>
        </p:spPr>
      </p:sp>
      <p:sp>
        <p:nvSpPr>
          <p:cNvPr id="50" name="Shape 48"/>
          <p:cNvSpPr/>
          <p:nvPr/>
        </p:nvSpPr>
        <p:spPr>
          <a:xfrm>
            <a:off x="538370" y="4770783"/>
            <a:ext cx="16565" cy="563217"/>
          </a:xfrm>
          <a:custGeom>
            <a:avLst/>
            <a:gdLst/>
            <a:ahLst/>
            <a:cxnLst/>
            <a:rect l="l" t="t" r="r" b="b"/>
            <a:pathLst>
              <a:path w="16565" h="563217">
                <a:moveTo>
                  <a:pt x="16565" y="0"/>
                </a:moveTo>
                <a:lnTo>
                  <a:pt x="16565" y="0"/>
                </a:lnTo>
                <a:lnTo>
                  <a:pt x="16565" y="563217"/>
                </a:lnTo>
                <a:lnTo>
                  <a:pt x="16565" y="563217"/>
                </a:lnTo>
                <a:cubicBezTo>
                  <a:pt x="7417" y="563217"/>
                  <a:pt x="0" y="555801"/>
                  <a:pt x="0" y="546652"/>
                </a:cubicBezTo>
                <a:lnTo>
                  <a:pt x="0" y="16565"/>
                </a:lnTo>
                <a:cubicBezTo>
                  <a:pt x="0" y="7417"/>
                  <a:pt x="7417" y="0"/>
                  <a:pt x="16565" y="0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51" name="Text 49"/>
          <p:cNvSpPr/>
          <p:nvPr/>
        </p:nvSpPr>
        <p:spPr>
          <a:xfrm>
            <a:off x="646043" y="4870174"/>
            <a:ext cx="3230217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00A63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✓ 改进方向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6043" y="5068957"/>
            <a:ext cx="3230217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描绘画面感：时间、地点、天气、感受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235131" y="3478696"/>
            <a:ext cx="3735457" cy="2020957"/>
          </a:xfrm>
          <a:custGeom>
            <a:avLst/>
            <a:gdLst/>
            <a:ahLst/>
            <a:cxnLst/>
            <a:rect l="l" t="t" r="r" b="b"/>
            <a:pathLst>
              <a:path w="3735457" h="2020957">
                <a:moveTo>
                  <a:pt x="33130" y="0"/>
                </a:moveTo>
                <a:lnTo>
                  <a:pt x="3669189" y="0"/>
                </a:lnTo>
                <a:cubicBezTo>
                  <a:pt x="3705763" y="0"/>
                  <a:pt x="3735457" y="29693"/>
                  <a:pt x="3735457" y="66267"/>
                </a:cubicBezTo>
                <a:lnTo>
                  <a:pt x="3735457" y="1954689"/>
                </a:lnTo>
                <a:cubicBezTo>
                  <a:pt x="3735457" y="1991263"/>
                  <a:pt x="3705763" y="2020957"/>
                  <a:pt x="3669189" y="2020957"/>
                </a:cubicBezTo>
                <a:lnTo>
                  <a:pt x="33130" y="2020957"/>
                </a:lnTo>
                <a:cubicBezTo>
                  <a:pt x="14833" y="2020957"/>
                  <a:pt x="0" y="2006124"/>
                  <a:pt x="0" y="1987826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848" dist="828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235131" y="3478696"/>
            <a:ext cx="33130" cy="2020957"/>
          </a:xfrm>
          <a:custGeom>
            <a:avLst/>
            <a:gdLst/>
            <a:ahLst/>
            <a:cxnLst/>
            <a:rect l="l" t="t" r="r" b="b"/>
            <a:pathLst>
              <a:path w="33130" h="2020957">
                <a:moveTo>
                  <a:pt x="33130" y="0"/>
                </a:moveTo>
                <a:lnTo>
                  <a:pt x="33130" y="0"/>
                </a:lnTo>
                <a:lnTo>
                  <a:pt x="33130" y="2020957"/>
                </a:lnTo>
                <a:lnTo>
                  <a:pt x="33130" y="2020957"/>
                </a:lnTo>
                <a:cubicBezTo>
                  <a:pt x="14833" y="2020957"/>
                  <a:pt x="0" y="2006124"/>
                  <a:pt x="0" y="1987826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55" name="Shape 53"/>
          <p:cNvSpPr/>
          <p:nvPr/>
        </p:nvSpPr>
        <p:spPr>
          <a:xfrm>
            <a:off x="4417348" y="3644348"/>
            <a:ext cx="397565" cy="397565"/>
          </a:xfrm>
          <a:custGeom>
            <a:avLst/>
            <a:gdLst/>
            <a:ahLst/>
            <a:cxnLst/>
            <a:rect l="l" t="t" r="r" b="b"/>
            <a:pathLst>
              <a:path w="397565" h="397565">
                <a:moveTo>
                  <a:pt x="198783" y="0"/>
                </a:moveTo>
                <a:lnTo>
                  <a:pt x="198783" y="0"/>
                </a:lnTo>
                <a:cubicBezTo>
                  <a:pt x="308494" y="0"/>
                  <a:pt x="397565" y="89072"/>
                  <a:pt x="397565" y="198783"/>
                </a:cubicBezTo>
                <a:lnTo>
                  <a:pt x="397565" y="198783"/>
                </a:lnTo>
                <a:cubicBezTo>
                  <a:pt x="397565" y="308494"/>
                  <a:pt x="308494" y="397565"/>
                  <a:pt x="198783" y="397565"/>
                </a:cubicBezTo>
                <a:lnTo>
                  <a:pt x="198783" y="397565"/>
                </a:lnTo>
                <a:cubicBezTo>
                  <a:pt x="89072" y="397565"/>
                  <a:pt x="0" y="308494"/>
                  <a:pt x="0" y="198783"/>
                </a:cubicBezTo>
                <a:lnTo>
                  <a:pt x="0" y="198783"/>
                </a:lnTo>
                <a:cubicBezTo>
                  <a:pt x="0" y="89072"/>
                  <a:pt x="89072" y="0"/>
                  <a:pt x="198783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56" name="Text 54"/>
          <p:cNvSpPr/>
          <p:nvPr/>
        </p:nvSpPr>
        <p:spPr>
          <a:xfrm>
            <a:off x="4375935" y="3644348"/>
            <a:ext cx="480391" cy="397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914305" y="3727174"/>
            <a:ext cx="1076739" cy="2319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流水账式列举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417348" y="4141304"/>
            <a:ext cx="3387587" cy="563217"/>
          </a:xfrm>
          <a:custGeom>
            <a:avLst/>
            <a:gdLst/>
            <a:ahLst/>
            <a:cxnLst/>
            <a:rect l="l" t="t" r="r" b="b"/>
            <a:pathLst>
              <a:path w="3387587" h="563217">
                <a:moveTo>
                  <a:pt x="66263" y="0"/>
                </a:moveTo>
                <a:lnTo>
                  <a:pt x="3321324" y="0"/>
                </a:lnTo>
                <a:cubicBezTo>
                  <a:pt x="3357920" y="0"/>
                  <a:pt x="3387587" y="29667"/>
                  <a:pt x="3387587" y="66263"/>
                </a:cubicBezTo>
                <a:lnTo>
                  <a:pt x="3387587" y="496955"/>
                </a:lnTo>
                <a:cubicBezTo>
                  <a:pt x="3387587" y="533551"/>
                  <a:pt x="3357920" y="563217"/>
                  <a:pt x="3321324" y="563217"/>
                </a:cubicBezTo>
                <a:lnTo>
                  <a:pt x="66263" y="563217"/>
                </a:lnTo>
                <a:cubicBezTo>
                  <a:pt x="29667" y="563217"/>
                  <a:pt x="0" y="533551"/>
                  <a:pt x="0" y="496955"/>
                </a:cubicBezTo>
                <a:lnTo>
                  <a:pt x="0" y="66263"/>
                </a:lnTo>
                <a:cubicBezTo>
                  <a:pt x="0" y="29691"/>
                  <a:pt x="29691" y="0"/>
                  <a:pt x="66263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59" name="Text 57"/>
          <p:cNvSpPr/>
          <p:nvPr/>
        </p:nvSpPr>
        <p:spPr>
          <a:xfrm>
            <a:off x="4516739" y="4240696"/>
            <a:ext cx="3246783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典型表现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516739" y="4439478"/>
            <a:ext cx="3246783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"I get up, wash my face, eat breakfast, go to work."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425631" y="4770783"/>
            <a:ext cx="3379304" cy="563217"/>
          </a:xfrm>
          <a:custGeom>
            <a:avLst/>
            <a:gdLst/>
            <a:ahLst/>
            <a:cxnLst/>
            <a:rect l="l" t="t" r="r" b="b"/>
            <a:pathLst>
              <a:path w="3379304" h="563217">
                <a:moveTo>
                  <a:pt x="16565" y="0"/>
                </a:moveTo>
                <a:lnTo>
                  <a:pt x="3313042" y="0"/>
                </a:lnTo>
                <a:cubicBezTo>
                  <a:pt x="3349638" y="0"/>
                  <a:pt x="3379304" y="29667"/>
                  <a:pt x="3379304" y="66263"/>
                </a:cubicBezTo>
                <a:lnTo>
                  <a:pt x="3379304" y="496955"/>
                </a:lnTo>
                <a:cubicBezTo>
                  <a:pt x="3379304" y="533551"/>
                  <a:pt x="3349638" y="563217"/>
                  <a:pt x="3313042" y="563217"/>
                </a:cubicBezTo>
                <a:lnTo>
                  <a:pt x="16565" y="563217"/>
                </a:lnTo>
                <a:cubicBezTo>
                  <a:pt x="7417" y="563217"/>
                  <a:pt x="0" y="555801"/>
                  <a:pt x="0" y="546652"/>
                </a:cubicBezTo>
                <a:lnTo>
                  <a:pt x="0" y="16565"/>
                </a:lnTo>
                <a:cubicBezTo>
                  <a:pt x="0" y="7417"/>
                  <a:pt x="7417" y="0"/>
                  <a:pt x="16565" y="0"/>
                </a:cubicBezTo>
                <a:close/>
              </a:path>
            </a:pathLst>
          </a:custGeom>
          <a:solidFill>
            <a:srgbClr val="F0FDF4"/>
          </a:solidFill>
        </p:spPr>
      </p:sp>
      <p:sp>
        <p:nvSpPr>
          <p:cNvPr id="62" name="Shape 60"/>
          <p:cNvSpPr/>
          <p:nvPr/>
        </p:nvSpPr>
        <p:spPr>
          <a:xfrm>
            <a:off x="4425631" y="4770783"/>
            <a:ext cx="16565" cy="563217"/>
          </a:xfrm>
          <a:custGeom>
            <a:avLst/>
            <a:gdLst/>
            <a:ahLst/>
            <a:cxnLst/>
            <a:rect l="l" t="t" r="r" b="b"/>
            <a:pathLst>
              <a:path w="16565" h="563217">
                <a:moveTo>
                  <a:pt x="16565" y="0"/>
                </a:moveTo>
                <a:lnTo>
                  <a:pt x="16565" y="0"/>
                </a:lnTo>
                <a:lnTo>
                  <a:pt x="16565" y="563217"/>
                </a:lnTo>
                <a:lnTo>
                  <a:pt x="16565" y="563217"/>
                </a:lnTo>
                <a:cubicBezTo>
                  <a:pt x="7417" y="563217"/>
                  <a:pt x="0" y="555801"/>
                  <a:pt x="0" y="546652"/>
                </a:cubicBezTo>
                <a:lnTo>
                  <a:pt x="0" y="16565"/>
                </a:lnTo>
                <a:cubicBezTo>
                  <a:pt x="0" y="7417"/>
                  <a:pt x="7417" y="0"/>
                  <a:pt x="16565" y="0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63" name="Text 61"/>
          <p:cNvSpPr/>
          <p:nvPr/>
        </p:nvSpPr>
        <p:spPr>
          <a:xfrm>
            <a:off x="4533305" y="4870174"/>
            <a:ext cx="3230217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00A63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✓ 改进方向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533305" y="5068957"/>
            <a:ext cx="3230217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选择1-2个核心环节，解释其作用或意义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122392" y="3478696"/>
            <a:ext cx="3735457" cy="2020957"/>
          </a:xfrm>
          <a:custGeom>
            <a:avLst/>
            <a:gdLst/>
            <a:ahLst/>
            <a:cxnLst/>
            <a:rect l="l" t="t" r="r" b="b"/>
            <a:pathLst>
              <a:path w="3735457" h="2020957">
                <a:moveTo>
                  <a:pt x="33130" y="0"/>
                </a:moveTo>
                <a:lnTo>
                  <a:pt x="3669189" y="0"/>
                </a:lnTo>
                <a:cubicBezTo>
                  <a:pt x="3705763" y="0"/>
                  <a:pt x="3735457" y="29693"/>
                  <a:pt x="3735457" y="66267"/>
                </a:cubicBezTo>
                <a:lnTo>
                  <a:pt x="3735457" y="1954689"/>
                </a:lnTo>
                <a:cubicBezTo>
                  <a:pt x="3735457" y="1991263"/>
                  <a:pt x="3705763" y="2020957"/>
                  <a:pt x="3669189" y="2020957"/>
                </a:cubicBezTo>
                <a:lnTo>
                  <a:pt x="33130" y="2020957"/>
                </a:lnTo>
                <a:cubicBezTo>
                  <a:pt x="14833" y="2020957"/>
                  <a:pt x="0" y="2006124"/>
                  <a:pt x="0" y="1987826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848" dist="828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8122392" y="3478696"/>
            <a:ext cx="33130" cy="2020957"/>
          </a:xfrm>
          <a:custGeom>
            <a:avLst/>
            <a:gdLst/>
            <a:ahLst/>
            <a:cxnLst/>
            <a:rect l="l" t="t" r="r" b="b"/>
            <a:pathLst>
              <a:path w="33130" h="2020957">
                <a:moveTo>
                  <a:pt x="33130" y="0"/>
                </a:moveTo>
                <a:lnTo>
                  <a:pt x="33130" y="0"/>
                </a:lnTo>
                <a:lnTo>
                  <a:pt x="33130" y="2020957"/>
                </a:lnTo>
                <a:lnTo>
                  <a:pt x="33130" y="2020957"/>
                </a:lnTo>
                <a:cubicBezTo>
                  <a:pt x="14833" y="2020957"/>
                  <a:pt x="0" y="2006124"/>
                  <a:pt x="0" y="1987826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67" name="Shape 65"/>
          <p:cNvSpPr/>
          <p:nvPr/>
        </p:nvSpPr>
        <p:spPr>
          <a:xfrm>
            <a:off x="8304609" y="3644348"/>
            <a:ext cx="397565" cy="397565"/>
          </a:xfrm>
          <a:custGeom>
            <a:avLst/>
            <a:gdLst/>
            <a:ahLst/>
            <a:cxnLst/>
            <a:rect l="l" t="t" r="r" b="b"/>
            <a:pathLst>
              <a:path w="397565" h="397565">
                <a:moveTo>
                  <a:pt x="198783" y="0"/>
                </a:moveTo>
                <a:lnTo>
                  <a:pt x="198783" y="0"/>
                </a:lnTo>
                <a:cubicBezTo>
                  <a:pt x="308494" y="0"/>
                  <a:pt x="397565" y="89072"/>
                  <a:pt x="397565" y="198783"/>
                </a:cubicBezTo>
                <a:lnTo>
                  <a:pt x="397565" y="198783"/>
                </a:lnTo>
                <a:cubicBezTo>
                  <a:pt x="397565" y="308494"/>
                  <a:pt x="308494" y="397565"/>
                  <a:pt x="198783" y="397565"/>
                </a:cubicBezTo>
                <a:lnTo>
                  <a:pt x="198783" y="397565"/>
                </a:lnTo>
                <a:cubicBezTo>
                  <a:pt x="89072" y="397565"/>
                  <a:pt x="0" y="308494"/>
                  <a:pt x="0" y="198783"/>
                </a:cubicBezTo>
                <a:lnTo>
                  <a:pt x="0" y="198783"/>
                </a:lnTo>
                <a:cubicBezTo>
                  <a:pt x="0" y="89072"/>
                  <a:pt x="89072" y="0"/>
                  <a:pt x="198783" y="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68" name="Text 66"/>
          <p:cNvSpPr/>
          <p:nvPr/>
        </p:nvSpPr>
        <p:spPr>
          <a:xfrm>
            <a:off x="8263196" y="3644348"/>
            <a:ext cx="480391" cy="397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6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801566" y="3727174"/>
            <a:ext cx="1490870" cy="2319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原因单一/中式思维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304609" y="4141304"/>
            <a:ext cx="3387587" cy="563217"/>
          </a:xfrm>
          <a:custGeom>
            <a:avLst/>
            <a:gdLst/>
            <a:ahLst/>
            <a:cxnLst/>
            <a:rect l="l" t="t" r="r" b="b"/>
            <a:pathLst>
              <a:path w="3387587" h="563217">
                <a:moveTo>
                  <a:pt x="66263" y="0"/>
                </a:moveTo>
                <a:lnTo>
                  <a:pt x="3321324" y="0"/>
                </a:lnTo>
                <a:cubicBezTo>
                  <a:pt x="3357920" y="0"/>
                  <a:pt x="3387587" y="29667"/>
                  <a:pt x="3387587" y="66263"/>
                </a:cubicBezTo>
                <a:lnTo>
                  <a:pt x="3387587" y="496955"/>
                </a:lnTo>
                <a:cubicBezTo>
                  <a:pt x="3387587" y="533551"/>
                  <a:pt x="3357920" y="563217"/>
                  <a:pt x="3321324" y="563217"/>
                </a:cubicBezTo>
                <a:lnTo>
                  <a:pt x="66263" y="563217"/>
                </a:lnTo>
                <a:cubicBezTo>
                  <a:pt x="29667" y="563217"/>
                  <a:pt x="0" y="533551"/>
                  <a:pt x="0" y="496955"/>
                </a:cubicBezTo>
                <a:lnTo>
                  <a:pt x="0" y="66263"/>
                </a:lnTo>
                <a:cubicBezTo>
                  <a:pt x="0" y="29691"/>
                  <a:pt x="29691" y="0"/>
                  <a:pt x="66263" y="0"/>
                </a:cubicBezTo>
                <a:close/>
              </a:path>
            </a:pathLst>
          </a:custGeom>
          <a:solidFill>
            <a:srgbClr val="FEF2F2"/>
          </a:solidFill>
        </p:spPr>
      </p:sp>
      <p:sp>
        <p:nvSpPr>
          <p:cNvPr id="71" name="Text 69"/>
          <p:cNvSpPr/>
          <p:nvPr/>
        </p:nvSpPr>
        <p:spPr>
          <a:xfrm>
            <a:off x="8404001" y="4240696"/>
            <a:ext cx="3246783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典型表现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404001" y="4439478"/>
            <a:ext cx="3246783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"Because it's beautiful." / "Because it's good for health."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312892" y="4770783"/>
            <a:ext cx="3379304" cy="563217"/>
          </a:xfrm>
          <a:custGeom>
            <a:avLst/>
            <a:gdLst/>
            <a:ahLst/>
            <a:cxnLst/>
            <a:rect l="l" t="t" r="r" b="b"/>
            <a:pathLst>
              <a:path w="3379304" h="563217">
                <a:moveTo>
                  <a:pt x="16565" y="0"/>
                </a:moveTo>
                <a:lnTo>
                  <a:pt x="3313042" y="0"/>
                </a:lnTo>
                <a:cubicBezTo>
                  <a:pt x="3349638" y="0"/>
                  <a:pt x="3379304" y="29667"/>
                  <a:pt x="3379304" y="66263"/>
                </a:cubicBezTo>
                <a:lnTo>
                  <a:pt x="3379304" y="496955"/>
                </a:lnTo>
                <a:cubicBezTo>
                  <a:pt x="3379304" y="533551"/>
                  <a:pt x="3349638" y="563217"/>
                  <a:pt x="3313042" y="563217"/>
                </a:cubicBezTo>
                <a:lnTo>
                  <a:pt x="16565" y="563217"/>
                </a:lnTo>
                <a:cubicBezTo>
                  <a:pt x="7417" y="563217"/>
                  <a:pt x="0" y="555801"/>
                  <a:pt x="0" y="546652"/>
                </a:cubicBezTo>
                <a:lnTo>
                  <a:pt x="0" y="16565"/>
                </a:lnTo>
                <a:cubicBezTo>
                  <a:pt x="0" y="7417"/>
                  <a:pt x="7417" y="0"/>
                  <a:pt x="16565" y="0"/>
                </a:cubicBezTo>
                <a:close/>
              </a:path>
            </a:pathLst>
          </a:custGeom>
          <a:solidFill>
            <a:srgbClr val="F0FDF4"/>
          </a:solidFill>
        </p:spPr>
      </p:sp>
      <p:sp>
        <p:nvSpPr>
          <p:cNvPr id="74" name="Shape 72"/>
          <p:cNvSpPr/>
          <p:nvPr/>
        </p:nvSpPr>
        <p:spPr>
          <a:xfrm>
            <a:off x="8312892" y="4770783"/>
            <a:ext cx="16565" cy="563217"/>
          </a:xfrm>
          <a:custGeom>
            <a:avLst/>
            <a:gdLst/>
            <a:ahLst/>
            <a:cxnLst/>
            <a:rect l="l" t="t" r="r" b="b"/>
            <a:pathLst>
              <a:path w="16565" h="563217">
                <a:moveTo>
                  <a:pt x="16565" y="0"/>
                </a:moveTo>
                <a:lnTo>
                  <a:pt x="16565" y="0"/>
                </a:lnTo>
                <a:lnTo>
                  <a:pt x="16565" y="563217"/>
                </a:lnTo>
                <a:lnTo>
                  <a:pt x="16565" y="563217"/>
                </a:lnTo>
                <a:cubicBezTo>
                  <a:pt x="7417" y="563217"/>
                  <a:pt x="0" y="555801"/>
                  <a:pt x="0" y="546652"/>
                </a:cubicBezTo>
                <a:lnTo>
                  <a:pt x="0" y="16565"/>
                </a:lnTo>
                <a:cubicBezTo>
                  <a:pt x="0" y="7417"/>
                  <a:pt x="7417" y="0"/>
                  <a:pt x="16565" y="0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75" name="Text 73"/>
          <p:cNvSpPr/>
          <p:nvPr/>
        </p:nvSpPr>
        <p:spPr>
          <a:xfrm>
            <a:off x="8420566" y="4870174"/>
            <a:ext cx="3230217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00A63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✓ 改进方向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420566" y="5068957"/>
            <a:ext cx="3230217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多角度分析：感官/心理/社交/个人成长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331304" y="5632174"/>
            <a:ext cx="11529391" cy="728870"/>
          </a:xfrm>
          <a:custGeom>
            <a:avLst/>
            <a:gdLst/>
            <a:ahLst/>
            <a:cxnLst/>
            <a:rect l="l" t="t" r="r" b="b"/>
            <a:pathLst>
              <a:path w="11529391" h="728870">
                <a:moveTo>
                  <a:pt x="66262" y="0"/>
                </a:moveTo>
                <a:lnTo>
                  <a:pt x="11463130" y="0"/>
                </a:lnTo>
                <a:cubicBezTo>
                  <a:pt x="11499725" y="0"/>
                  <a:pt x="11529391" y="29666"/>
                  <a:pt x="11529391" y="66262"/>
                </a:cubicBezTo>
                <a:lnTo>
                  <a:pt x="11529391" y="662608"/>
                </a:lnTo>
                <a:cubicBezTo>
                  <a:pt x="11529391" y="699203"/>
                  <a:pt x="11499725" y="728870"/>
                  <a:pt x="11463130" y="728870"/>
                </a:cubicBezTo>
                <a:lnTo>
                  <a:pt x="66262" y="728870"/>
                </a:lnTo>
                <a:cubicBezTo>
                  <a:pt x="29691" y="728870"/>
                  <a:pt x="0" y="699179"/>
                  <a:pt x="0" y="662608"/>
                </a:cubicBezTo>
                <a:lnTo>
                  <a:pt x="0" y="66262"/>
                </a:lnTo>
                <a:cubicBezTo>
                  <a:pt x="0" y="29691"/>
                  <a:pt x="29691" y="0"/>
                  <a:pt x="66262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78" name="Shape 76"/>
          <p:cNvSpPr/>
          <p:nvPr/>
        </p:nvSpPr>
        <p:spPr>
          <a:xfrm>
            <a:off x="528016" y="5872370"/>
            <a:ext cx="186359" cy="248478"/>
          </a:xfrm>
          <a:custGeom>
            <a:avLst/>
            <a:gdLst/>
            <a:ahLst/>
            <a:cxnLst/>
            <a:rect l="l" t="t" r="r" b="b"/>
            <a:pathLst>
              <a:path w="186359" h="248478">
                <a:moveTo>
                  <a:pt x="142147" y="186359"/>
                </a:moveTo>
                <a:cubicBezTo>
                  <a:pt x="145690" y="175536"/>
                  <a:pt x="152775" y="165733"/>
                  <a:pt x="160783" y="157289"/>
                </a:cubicBezTo>
                <a:cubicBezTo>
                  <a:pt x="176653" y="140594"/>
                  <a:pt x="186359" y="118027"/>
                  <a:pt x="186359" y="93179"/>
                </a:cubicBezTo>
                <a:cubicBezTo>
                  <a:pt x="186359" y="41737"/>
                  <a:pt x="144622" y="0"/>
                  <a:pt x="93179" y="0"/>
                </a:cubicBezTo>
                <a:cubicBezTo>
                  <a:pt x="41737" y="0"/>
                  <a:pt x="0" y="41737"/>
                  <a:pt x="0" y="93179"/>
                </a:cubicBezTo>
                <a:cubicBezTo>
                  <a:pt x="0" y="118027"/>
                  <a:pt x="9706" y="140594"/>
                  <a:pt x="25576" y="157289"/>
                </a:cubicBezTo>
                <a:cubicBezTo>
                  <a:pt x="33583" y="165733"/>
                  <a:pt x="40717" y="175536"/>
                  <a:pt x="44212" y="186359"/>
                </a:cubicBezTo>
                <a:lnTo>
                  <a:pt x="142099" y="186359"/>
                </a:lnTo>
                <a:close/>
                <a:moveTo>
                  <a:pt x="139769" y="209654"/>
                </a:moveTo>
                <a:lnTo>
                  <a:pt x="46590" y="209654"/>
                </a:lnTo>
                <a:lnTo>
                  <a:pt x="46590" y="217418"/>
                </a:lnTo>
                <a:cubicBezTo>
                  <a:pt x="46590" y="238869"/>
                  <a:pt x="63964" y="256243"/>
                  <a:pt x="85414" y="256243"/>
                </a:cubicBezTo>
                <a:lnTo>
                  <a:pt x="100944" y="256243"/>
                </a:lnTo>
                <a:cubicBezTo>
                  <a:pt x="122395" y="256243"/>
                  <a:pt x="139769" y="238869"/>
                  <a:pt x="139769" y="217418"/>
                </a:cubicBezTo>
                <a:lnTo>
                  <a:pt x="139769" y="209654"/>
                </a:lnTo>
                <a:close/>
                <a:moveTo>
                  <a:pt x="89297" y="54355"/>
                </a:moveTo>
                <a:cubicBezTo>
                  <a:pt x="69982" y="54355"/>
                  <a:pt x="54355" y="69982"/>
                  <a:pt x="54355" y="89297"/>
                </a:cubicBezTo>
                <a:cubicBezTo>
                  <a:pt x="54355" y="95751"/>
                  <a:pt x="49162" y="100944"/>
                  <a:pt x="42707" y="100944"/>
                </a:cubicBezTo>
                <a:cubicBezTo>
                  <a:pt x="36253" y="100944"/>
                  <a:pt x="31060" y="95751"/>
                  <a:pt x="31060" y="89297"/>
                </a:cubicBezTo>
                <a:cubicBezTo>
                  <a:pt x="31060" y="57121"/>
                  <a:pt x="57121" y="31060"/>
                  <a:pt x="89297" y="31060"/>
                </a:cubicBezTo>
                <a:cubicBezTo>
                  <a:pt x="95751" y="31060"/>
                  <a:pt x="100944" y="36253"/>
                  <a:pt x="100944" y="42707"/>
                </a:cubicBezTo>
                <a:cubicBezTo>
                  <a:pt x="100944" y="49162"/>
                  <a:pt x="95751" y="54355"/>
                  <a:pt x="89297" y="54355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79" name="Text 77"/>
          <p:cNvSpPr/>
          <p:nvPr/>
        </p:nvSpPr>
        <p:spPr>
          <a:xfrm>
            <a:off x="906946" y="5764696"/>
            <a:ext cx="5284304" cy="2319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教学要点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06946" y="6029739"/>
            <a:ext cx="5276022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针对每个问题，提前准备</a:t>
            </a:r>
            <a:r>
              <a:rPr lang="en-US" sz="104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改进模板</a:t>
            </a:r>
            <a:r>
              <a:rPr lang="en-US" sz="104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，让学生反复练习从"简单回答"到"丰富表达"的转换过程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304" y="331304"/>
            <a:ext cx="11587370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kern="0" spc="91" dirty="0">
                <a:solidFill>
                  <a:srgbClr val="8AA3A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TEACHING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1304" y="563217"/>
            <a:ext cx="11678478" cy="331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0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教学建议与核心技巧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1304" y="993913"/>
            <a:ext cx="795130" cy="33130"/>
          </a:xfrm>
          <a:custGeom>
            <a:avLst/>
            <a:gdLst/>
            <a:ahLst/>
            <a:cxnLst/>
            <a:rect l="l" t="t" r="r" b="b"/>
            <a:pathLst>
              <a:path w="795130" h="33130">
                <a:moveTo>
                  <a:pt x="0" y="0"/>
                </a:moveTo>
                <a:lnTo>
                  <a:pt x="795130" y="0"/>
                </a:lnTo>
                <a:lnTo>
                  <a:pt x="795130" y="33130"/>
                </a:lnTo>
                <a:lnTo>
                  <a:pt x="0" y="33130"/>
                </a:lnTo>
                <a:lnTo>
                  <a:pt x="0" y="0"/>
                </a:lnTo>
                <a:close/>
              </a:path>
            </a:pathLst>
          </a:custGeom>
          <a:solidFill>
            <a:srgbClr val="C4A87D"/>
          </a:solidFill>
        </p:spPr>
      </p:sp>
      <p:sp>
        <p:nvSpPr>
          <p:cNvPr id="5" name="Shape 3"/>
          <p:cNvSpPr/>
          <p:nvPr/>
        </p:nvSpPr>
        <p:spPr>
          <a:xfrm>
            <a:off x="331304" y="1176130"/>
            <a:ext cx="5698435" cy="1573696"/>
          </a:xfrm>
          <a:custGeom>
            <a:avLst/>
            <a:gdLst/>
            <a:ahLst/>
            <a:cxnLst/>
            <a:rect l="l" t="t" r="r" b="b"/>
            <a:pathLst>
              <a:path w="5698435" h="1573696">
                <a:moveTo>
                  <a:pt x="33130" y="0"/>
                </a:moveTo>
                <a:lnTo>
                  <a:pt x="5665304" y="0"/>
                </a:lnTo>
                <a:cubicBezTo>
                  <a:pt x="5683602" y="0"/>
                  <a:pt x="5698435" y="14833"/>
                  <a:pt x="5698435" y="33130"/>
                </a:cubicBezTo>
                <a:lnTo>
                  <a:pt x="5698435" y="1507427"/>
                </a:lnTo>
                <a:cubicBezTo>
                  <a:pt x="5698435" y="1544026"/>
                  <a:pt x="5668765" y="1573696"/>
                  <a:pt x="5632166" y="1573696"/>
                </a:cubicBezTo>
                <a:lnTo>
                  <a:pt x="66268" y="1573696"/>
                </a:lnTo>
                <a:cubicBezTo>
                  <a:pt x="29669" y="1573696"/>
                  <a:pt x="0" y="1544026"/>
                  <a:pt x="0" y="1507427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848" dist="828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1304" y="1176130"/>
            <a:ext cx="5698435" cy="33130"/>
          </a:xfrm>
          <a:custGeom>
            <a:avLst/>
            <a:gdLst/>
            <a:ahLst/>
            <a:cxnLst/>
            <a:rect l="l" t="t" r="r" b="b"/>
            <a:pathLst>
              <a:path w="5698435" h="33130">
                <a:moveTo>
                  <a:pt x="33130" y="0"/>
                </a:moveTo>
                <a:lnTo>
                  <a:pt x="5665304" y="0"/>
                </a:lnTo>
                <a:cubicBezTo>
                  <a:pt x="5683602" y="0"/>
                  <a:pt x="5698435" y="14833"/>
                  <a:pt x="5698435" y="33130"/>
                </a:cubicBezTo>
                <a:lnTo>
                  <a:pt x="5698435" y="33130"/>
                </a:lnTo>
                <a:lnTo>
                  <a:pt x="0" y="33130"/>
                </a:ln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7" name="Shape 5"/>
          <p:cNvSpPr/>
          <p:nvPr/>
        </p:nvSpPr>
        <p:spPr>
          <a:xfrm>
            <a:off x="463826" y="1325217"/>
            <a:ext cx="397565" cy="397565"/>
          </a:xfrm>
          <a:custGeom>
            <a:avLst/>
            <a:gdLst/>
            <a:ahLst/>
            <a:cxnLst/>
            <a:rect l="l" t="t" r="r" b="b"/>
            <a:pathLst>
              <a:path w="397565" h="397565">
                <a:moveTo>
                  <a:pt x="198783" y="0"/>
                </a:moveTo>
                <a:lnTo>
                  <a:pt x="198783" y="0"/>
                </a:lnTo>
                <a:cubicBezTo>
                  <a:pt x="308494" y="0"/>
                  <a:pt x="397565" y="89072"/>
                  <a:pt x="397565" y="198783"/>
                </a:cubicBezTo>
                <a:lnTo>
                  <a:pt x="397565" y="198783"/>
                </a:lnTo>
                <a:cubicBezTo>
                  <a:pt x="397565" y="308494"/>
                  <a:pt x="308494" y="397565"/>
                  <a:pt x="198783" y="397565"/>
                </a:cubicBezTo>
                <a:lnTo>
                  <a:pt x="198783" y="397565"/>
                </a:lnTo>
                <a:cubicBezTo>
                  <a:pt x="89072" y="397565"/>
                  <a:pt x="0" y="308494"/>
                  <a:pt x="0" y="198783"/>
                </a:cubicBezTo>
                <a:lnTo>
                  <a:pt x="0" y="198783"/>
                </a:lnTo>
                <a:cubicBezTo>
                  <a:pt x="0" y="89072"/>
                  <a:pt x="89072" y="0"/>
                  <a:pt x="198783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8" name="Text 6"/>
          <p:cNvSpPr/>
          <p:nvPr/>
        </p:nvSpPr>
        <p:spPr>
          <a:xfrm>
            <a:off x="422413" y="1325217"/>
            <a:ext cx="480391" cy="397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3913" y="1325217"/>
            <a:ext cx="4986130" cy="2319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强调"It depends"结构的灵活运用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3913" y="1623391"/>
            <a:ext cx="4969565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这是雅思口语中</a:t>
            </a:r>
            <a:r>
              <a:rPr lang="en-US" sz="1045" b="1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避免绝对化</a:t>
            </a:r>
            <a:r>
              <a:rPr lang="en-US" sz="104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的黄金句式，适用于几乎所有话题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3913" y="1888435"/>
            <a:ext cx="4903304" cy="728870"/>
          </a:xfrm>
          <a:custGeom>
            <a:avLst/>
            <a:gdLst/>
            <a:ahLst/>
            <a:cxnLst/>
            <a:rect l="l" t="t" r="r" b="b"/>
            <a:pathLst>
              <a:path w="4903304" h="728870">
                <a:moveTo>
                  <a:pt x="66262" y="0"/>
                </a:moveTo>
                <a:lnTo>
                  <a:pt x="4837043" y="0"/>
                </a:lnTo>
                <a:cubicBezTo>
                  <a:pt x="4873638" y="0"/>
                  <a:pt x="4903304" y="29666"/>
                  <a:pt x="4903304" y="66262"/>
                </a:cubicBezTo>
                <a:lnTo>
                  <a:pt x="4903304" y="662608"/>
                </a:lnTo>
                <a:cubicBezTo>
                  <a:pt x="4903304" y="699203"/>
                  <a:pt x="4873638" y="728870"/>
                  <a:pt x="4837043" y="728870"/>
                </a:cubicBezTo>
                <a:lnTo>
                  <a:pt x="66262" y="728870"/>
                </a:lnTo>
                <a:cubicBezTo>
                  <a:pt x="29691" y="728870"/>
                  <a:pt x="0" y="699179"/>
                  <a:pt x="0" y="662608"/>
                </a:cubicBezTo>
                <a:lnTo>
                  <a:pt x="0" y="66262"/>
                </a:lnTo>
                <a:cubicBezTo>
                  <a:pt x="0" y="29691"/>
                  <a:pt x="29691" y="0"/>
                  <a:pt x="66262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1093304" y="1987826"/>
            <a:ext cx="4762500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教学示例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3304" y="2186609"/>
            <a:ext cx="4762500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"It really depends on my energy level and the weather."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3304" y="2352261"/>
            <a:ext cx="4762500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"There's no hard and fast rule—it varies depending on the plan."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1304" y="2865783"/>
            <a:ext cx="5698435" cy="1772478"/>
          </a:xfrm>
          <a:custGeom>
            <a:avLst/>
            <a:gdLst/>
            <a:ahLst/>
            <a:cxnLst/>
            <a:rect l="l" t="t" r="r" b="b"/>
            <a:pathLst>
              <a:path w="5698435" h="1772478">
                <a:moveTo>
                  <a:pt x="33130" y="0"/>
                </a:moveTo>
                <a:lnTo>
                  <a:pt x="5665304" y="0"/>
                </a:lnTo>
                <a:cubicBezTo>
                  <a:pt x="5683602" y="0"/>
                  <a:pt x="5698435" y="14833"/>
                  <a:pt x="5698435" y="33130"/>
                </a:cubicBezTo>
                <a:lnTo>
                  <a:pt x="5698435" y="1706223"/>
                </a:lnTo>
                <a:cubicBezTo>
                  <a:pt x="5698435" y="1742815"/>
                  <a:pt x="5668771" y="1772478"/>
                  <a:pt x="5632180" y="1772478"/>
                </a:cubicBezTo>
                <a:lnTo>
                  <a:pt x="66255" y="1772478"/>
                </a:lnTo>
                <a:cubicBezTo>
                  <a:pt x="29663" y="1772478"/>
                  <a:pt x="0" y="1742815"/>
                  <a:pt x="0" y="1706223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848" dist="828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1304" y="2865783"/>
            <a:ext cx="5698435" cy="33130"/>
          </a:xfrm>
          <a:custGeom>
            <a:avLst/>
            <a:gdLst/>
            <a:ahLst/>
            <a:cxnLst/>
            <a:rect l="l" t="t" r="r" b="b"/>
            <a:pathLst>
              <a:path w="5698435" h="33130">
                <a:moveTo>
                  <a:pt x="33130" y="0"/>
                </a:moveTo>
                <a:lnTo>
                  <a:pt x="5665304" y="0"/>
                </a:lnTo>
                <a:cubicBezTo>
                  <a:pt x="5683602" y="0"/>
                  <a:pt x="5698435" y="14833"/>
                  <a:pt x="5698435" y="33130"/>
                </a:cubicBezTo>
                <a:lnTo>
                  <a:pt x="5698435" y="33130"/>
                </a:lnTo>
                <a:lnTo>
                  <a:pt x="0" y="33130"/>
                </a:ln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17" name="Shape 15"/>
          <p:cNvSpPr/>
          <p:nvPr/>
        </p:nvSpPr>
        <p:spPr>
          <a:xfrm>
            <a:off x="463826" y="3014870"/>
            <a:ext cx="397565" cy="397565"/>
          </a:xfrm>
          <a:custGeom>
            <a:avLst/>
            <a:gdLst/>
            <a:ahLst/>
            <a:cxnLst/>
            <a:rect l="l" t="t" r="r" b="b"/>
            <a:pathLst>
              <a:path w="397565" h="397565">
                <a:moveTo>
                  <a:pt x="198783" y="0"/>
                </a:moveTo>
                <a:lnTo>
                  <a:pt x="198783" y="0"/>
                </a:lnTo>
                <a:cubicBezTo>
                  <a:pt x="308494" y="0"/>
                  <a:pt x="397565" y="89072"/>
                  <a:pt x="397565" y="198783"/>
                </a:cubicBezTo>
                <a:lnTo>
                  <a:pt x="397565" y="198783"/>
                </a:lnTo>
                <a:cubicBezTo>
                  <a:pt x="397565" y="308494"/>
                  <a:pt x="308494" y="397565"/>
                  <a:pt x="198783" y="397565"/>
                </a:cubicBezTo>
                <a:lnTo>
                  <a:pt x="198783" y="397565"/>
                </a:lnTo>
                <a:cubicBezTo>
                  <a:pt x="89072" y="397565"/>
                  <a:pt x="0" y="308494"/>
                  <a:pt x="0" y="198783"/>
                </a:cubicBezTo>
                <a:lnTo>
                  <a:pt x="0" y="198783"/>
                </a:lnTo>
                <a:cubicBezTo>
                  <a:pt x="0" y="89072"/>
                  <a:pt x="89072" y="0"/>
                  <a:pt x="198783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18" name="Text 16"/>
          <p:cNvSpPr/>
          <p:nvPr/>
        </p:nvSpPr>
        <p:spPr>
          <a:xfrm>
            <a:off x="422413" y="3014870"/>
            <a:ext cx="480391" cy="397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3913" y="3014870"/>
            <a:ext cx="4986130" cy="2319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训练学生用具体细节支撑观点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3913" y="3313043"/>
            <a:ext cx="4969565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从抽象到具体，从笼统到画面感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93913" y="3578087"/>
            <a:ext cx="4903304" cy="927652"/>
          </a:xfrm>
          <a:custGeom>
            <a:avLst/>
            <a:gdLst/>
            <a:ahLst/>
            <a:cxnLst/>
            <a:rect l="l" t="t" r="r" b="b"/>
            <a:pathLst>
              <a:path w="4903304" h="927652">
                <a:moveTo>
                  <a:pt x="66262" y="0"/>
                </a:moveTo>
                <a:lnTo>
                  <a:pt x="4837042" y="0"/>
                </a:lnTo>
                <a:cubicBezTo>
                  <a:pt x="4873638" y="0"/>
                  <a:pt x="4903304" y="29667"/>
                  <a:pt x="4903304" y="66262"/>
                </a:cubicBezTo>
                <a:lnTo>
                  <a:pt x="4903304" y="861390"/>
                </a:lnTo>
                <a:cubicBezTo>
                  <a:pt x="4903304" y="897986"/>
                  <a:pt x="4873638" y="927652"/>
                  <a:pt x="4837042" y="927652"/>
                </a:cubicBezTo>
                <a:lnTo>
                  <a:pt x="66262" y="927652"/>
                </a:lnTo>
                <a:cubicBezTo>
                  <a:pt x="29667" y="927652"/>
                  <a:pt x="0" y="897986"/>
                  <a:pt x="0" y="861390"/>
                </a:cubicBezTo>
                <a:lnTo>
                  <a:pt x="0" y="66262"/>
                </a:lnTo>
                <a:cubicBezTo>
                  <a:pt x="0" y="29691"/>
                  <a:pt x="29691" y="0"/>
                  <a:pt x="66262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1093304" y="3677478"/>
            <a:ext cx="4762500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对比练习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3304" y="3876261"/>
            <a:ext cx="4762500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E700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❌ "I like walking in parks."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3304" y="4075043"/>
            <a:ext cx="4762500" cy="331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00A63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✓ "I love walking in parks because the greenery is soothing, and it provides open space for my mind to wander."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1304" y="4754217"/>
            <a:ext cx="5698435" cy="1772478"/>
          </a:xfrm>
          <a:custGeom>
            <a:avLst/>
            <a:gdLst/>
            <a:ahLst/>
            <a:cxnLst/>
            <a:rect l="l" t="t" r="r" b="b"/>
            <a:pathLst>
              <a:path w="5698435" h="1772478">
                <a:moveTo>
                  <a:pt x="33130" y="0"/>
                </a:moveTo>
                <a:lnTo>
                  <a:pt x="5665304" y="0"/>
                </a:lnTo>
                <a:cubicBezTo>
                  <a:pt x="5683602" y="0"/>
                  <a:pt x="5698435" y="14833"/>
                  <a:pt x="5698435" y="33130"/>
                </a:cubicBezTo>
                <a:lnTo>
                  <a:pt x="5698435" y="1706223"/>
                </a:lnTo>
                <a:cubicBezTo>
                  <a:pt x="5698435" y="1742815"/>
                  <a:pt x="5668771" y="1772478"/>
                  <a:pt x="5632180" y="1772478"/>
                </a:cubicBezTo>
                <a:lnTo>
                  <a:pt x="66255" y="1772478"/>
                </a:lnTo>
                <a:cubicBezTo>
                  <a:pt x="29663" y="1772478"/>
                  <a:pt x="0" y="1742815"/>
                  <a:pt x="0" y="1706223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848" dist="828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304" y="4754217"/>
            <a:ext cx="5698435" cy="33130"/>
          </a:xfrm>
          <a:custGeom>
            <a:avLst/>
            <a:gdLst/>
            <a:ahLst/>
            <a:cxnLst/>
            <a:rect l="l" t="t" r="r" b="b"/>
            <a:pathLst>
              <a:path w="5698435" h="33130">
                <a:moveTo>
                  <a:pt x="33130" y="0"/>
                </a:moveTo>
                <a:lnTo>
                  <a:pt x="5665304" y="0"/>
                </a:lnTo>
                <a:cubicBezTo>
                  <a:pt x="5683602" y="0"/>
                  <a:pt x="5698435" y="14833"/>
                  <a:pt x="5698435" y="33130"/>
                </a:cubicBezTo>
                <a:lnTo>
                  <a:pt x="5698435" y="33130"/>
                </a:lnTo>
                <a:lnTo>
                  <a:pt x="0" y="33130"/>
                </a:ln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27" name="Shape 25"/>
          <p:cNvSpPr/>
          <p:nvPr/>
        </p:nvSpPr>
        <p:spPr>
          <a:xfrm>
            <a:off x="463826" y="4903304"/>
            <a:ext cx="397565" cy="397565"/>
          </a:xfrm>
          <a:custGeom>
            <a:avLst/>
            <a:gdLst/>
            <a:ahLst/>
            <a:cxnLst/>
            <a:rect l="l" t="t" r="r" b="b"/>
            <a:pathLst>
              <a:path w="397565" h="397565">
                <a:moveTo>
                  <a:pt x="198783" y="0"/>
                </a:moveTo>
                <a:lnTo>
                  <a:pt x="198783" y="0"/>
                </a:lnTo>
                <a:cubicBezTo>
                  <a:pt x="308494" y="0"/>
                  <a:pt x="397565" y="89072"/>
                  <a:pt x="397565" y="198783"/>
                </a:cubicBezTo>
                <a:lnTo>
                  <a:pt x="397565" y="198783"/>
                </a:lnTo>
                <a:cubicBezTo>
                  <a:pt x="397565" y="308494"/>
                  <a:pt x="308494" y="397565"/>
                  <a:pt x="198783" y="397565"/>
                </a:cubicBezTo>
                <a:lnTo>
                  <a:pt x="198783" y="397565"/>
                </a:lnTo>
                <a:cubicBezTo>
                  <a:pt x="89072" y="397565"/>
                  <a:pt x="0" y="308494"/>
                  <a:pt x="0" y="198783"/>
                </a:cubicBezTo>
                <a:lnTo>
                  <a:pt x="0" y="198783"/>
                </a:lnTo>
                <a:cubicBezTo>
                  <a:pt x="0" y="89072"/>
                  <a:pt x="89072" y="0"/>
                  <a:pt x="198783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28" name="Text 26"/>
          <p:cNvSpPr/>
          <p:nvPr/>
        </p:nvSpPr>
        <p:spPr>
          <a:xfrm>
            <a:off x="422413" y="4903304"/>
            <a:ext cx="480391" cy="397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3913" y="4903304"/>
            <a:ext cx="4986130" cy="2319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教授多角度分析技巧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3913" y="5201478"/>
            <a:ext cx="4969565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培养学生从多个维度思考问题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93913" y="5466522"/>
            <a:ext cx="2418522" cy="430696"/>
          </a:xfrm>
          <a:custGeom>
            <a:avLst/>
            <a:gdLst/>
            <a:ahLst/>
            <a:cxnLst/>
            <a:rect l="l" t="t" r="r" b="b"/>
            <a:pathLst>
              <a:path w="2418522" h="430696">
                <a:moveTo>
                  <a:pt x="33129" y="0"/>
                </a:moveTo>
                <a:lnTo>
                  <a:pt x="2385393" y="0"/>
                </a:lnTo>
                <a:cubicBezTo>
                  <a:pt x="2403689" y="0"/>
                  <a:pt x="2418522" y="14832"/>
                  <a:pt x="2418522" y="33129"/>
                </a:cubicBezTo>
                <a:lnTo>
                  <a:pt x="2418522" y="397567"/>
                </a:lnTo>
                <a:cubicBezTo>
                  <a:pt x="2418522" y="415863"/>
                  <a:pt x="2403689" y="430696"/>
                  <a:pt x="2385393" y="430696"/>
                </a:cubicBezTo>
                <a:lnTo>
                  <a:pt x="33129" y="430696"/>
                </a:lnTo>
                <a:cubicBezTo>
                  <a:pt x="14845" y="430696"/>
                  <a:pt x="0" y="415851"/>
                  <a:pt x="0" y="397567"/>
                </a:cubicBezTo>
                <a:lnTo>
                  <a:pt x="0" y="33129"/>
                </a:lnTo>
                <a:cubicBezTo>
                  <a:pt x="0" y="14845"/>
                  <a:pt x="14845" y="0"/>
                  <a:pt x="33129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1031185" y="5532783"/>
            <a:ext cx="2343978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5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感官层面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35326" y="5698435"/>
            <a:ext cx="2335696" cy="1325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视觉/听觉/触觉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478696" y="5466522"/>
            <a:ext cx="2418522" cy="430696"/>
          </a:xfrm>
          <a:custGeom>
            <a:avLst/>
            <a:gdLst/>
            <a:ahLst/>
            <a:cxnLst/>
            <a:rect l="l" t="t" r="r" b="b"/>
            <a:pathLst>
              <a:path w="2418522" h="430696">
                <a:moveTo>
                  <a:pt x="33129" y="0"/>
                </a:moveTo>
                <a:lnTo>
                  <a:pt x="2385393" y="0"/>
                </a:lnTo>
                <a:cubicBezTo>
                  <a:pt x="2403689" y="0"/>
                  <a:pt x="2418522" y="14832"/>
                  <a:pt x="2418522" y="33129"/>
                </a:cubicBezTo>
                <a:lnTo>
                  <a:pt x="2418522" y="397567"/>
                </a:lnTo>
                <a:cubicBezTo>
                  <a:pt x="2418522" y="415863"/>
                  <a:pt x="2403689" y="430696"/>
                  <a:pt x="2385393" y="430696"/>
                </a:cubicBezTo>
                <a:lnTo>
                  <a:pt x="33129" y="430696"/>
                </a:lnTo>
                <a:cubicBezTo>
                  <a:pt x="14845" y="430696"/>
                  <a:pt x="0" y="415851"/>
                  <a:pt x="0" y="397567"/>
                </a:cubicBezTo>
                <a:lnTo>
                  <a:pt x="0" y="33129"/>
                </a:lnTo>
                <a:cubicBezTo>
                  <a:pt x="0" y="14845"/>
                  <a:pt x="14845" y="0"/>
                  <a:pt x="33129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3515967" y="5532783"/>
            <a:ext cx="2343978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5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心理层面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520109" y="5698435"/>
            <a:ext cx="2335696" cy="1325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情绪/压力/放松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93913" y="5963478"/>
            <a:ext cx="2418522" cy="430696"/>
          </a:xfrm>
          <a:custGeom>
            <a:avLst/>
            <a:gdLst/>
            <a:ahLst/>
            <a:cxnLst/>
            <a:rect l="l" t="t" r="r" b="b"/>
            <a:pathLst>
              <a:path w="2418522" h="430696">
                <a:moveTo>
                  <a:pt x="33129" y="0"/>
                </a:moveTo>
                <a:lnTo>
                  <a:pt x="2385393" y="0"/>
                </a:lnTo>
                <a:cubicBezTo>
                  <a:pt x="2403689" y="0"/>
                  <a:pt x="2418522" y="14832"/>
                  <a:pt x="2418522" y="33129"/>
                </a:cubicBezTo>
                <a:lnTo>
                  <a:pt x="2418522" y="397567"/>
                </a:lnTo>
                <a:cubicBezTo>
                  <a:pt x="2418522" y="415863"/>
                  <a:pt x="2403689" y="430696"/>
                  <a:pt x="2385393" y="430696"/>
                </a:cubicBezTo>
                <a:lnTo>
                  <a:pt x="33129" y="430696"/>
                </a:lnTo>
                <a:cubicBezTo>
                  <a:pt x="14845" y="430696"/>
                  <a:pt x="0" y="415851"/>
                  <a:pt x="0" y="397567"/>
                </a:cubicBezTo>
                <a:lnTo>
                  <a:pt x="0" y="33129"/>
                </a:lnTo>
                <a:cubicBezTo>
                  <a:pt x="0" y="14845"/>
                  <a:pt x="14845" y="0"/>
                  <a:pt x="33129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1031185" y="6029739"/>
            <a:ext cx="2343978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5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社交层面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35326" y="6195391"/>
            <a:ext cx="2335696" cy="1325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陪伴/交流/关系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478696" y="5963478"/>
            <a:ext cx="2418522" cy="430696"/>
          </a:xfrm>
          <a:custGeom>
            <a:avLst/>
            <a:gdLst/>
            <a:ahLst/>
            <a:cxnLst/>
            <a:rect l="l" t="t" r="r" b="b"/>
            <a:pathLst>
              <a:path w="2418522" h="430696">
                <a:moveTo>
                  <a:pt x="33129" y="0"/>
                </a:moveTo>
                <a:lnTo>
                  <a:pt x="2385393" y="0"/>
                </a:lnTo>
                <a:cubicBezTo>
                  <a:pt x="2403689" y="0"/>
                  <a:pt x="2418522" y="14832"/>
                  <a:pt x="2418522" y="33129"/>
                </a:cubicBezTo>
                <a:lnTo>
                  <a:pt x="2418522" y="397567"/>
                </a:lnTo>
                <a:cubicBezTo>
                  <a:pt x="2418522" y="415863"/>
                  <a:pt x="2403689" y="430696"/>
                  <a:pt x="2385393" y="430696"/>
                </a:cubicBezTo>
                <a:lnTo>
                  <a:pt x="33129" y="430696"/>
                </a:lnTo>
                <a:cubicBezTo>
                  <a:pt x="14845" y="430696"/>
                  <a:pt x="0" y="415851"/>
                  <a:pt x="0" y="397567"/>
                </a:cubicBezTo>
                <a:lnTo>
                  <a:pt x="0" y="33129"/>
                </a:lnTo>
                <a:cubicBezTo>
                  <a:pt x="0" y="14845"/>
                  <a:pt x="14845" y="0"/>
                  <a:pt x="33129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3515967" y="6029739"/>
            <a:ext cx="2343978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5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成长层面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520109" y="6195391"/>
            <a:ext cx="2335696" cy="1325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技能/经验/教训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62261" y="1176130"/>
            <a:ext cx="5698435" cy="1971261"/>
          </a:xfrm>
          <a:custGeom>
            <a:avLst/>
            <a:gdLst/>
            <a:ahLst/>
            <a:cxnLst/>
            <a:rect l="l" t="t" r="r" b="b"/>
            <a:pathLst>
              <a:path w="5698435" h="1971261">
                <a:moveTo>
                  <a:pt x="33130" y="0"/>
                </a:moveTo>
                <a:lnTo>
                  <a:pt x="5665304" y="0"/>
                </a:lnTo>
                <a:cubicBezTo>
                  <a:pt x="5683602" y="0"/>
                  <a:pt x="5698435" y="14833"/>
                  <a:pt x="5698435" y="33130"/>
                </a:cubicBezTo>
                <a:lnTo>
                  <a:pt x="5698435" y="1905007"/>
                </a:lnTo>
                <a:cubicBezTo>
                  <a:pt x="5698435" y="1941598"/>
                  <a:pt x="5668772" y="1971261"/>
                  <a:pt x="5632181" y="1971261"/>
                </a:cubicBezTo>
                <a:lnTo>
                  <a:pt x="66254" y="1971261"/>
                </a:lnTo>
                <a:cubicBezTo>
                  <a:pt x="29663" y="1971261"/>
                  <a:pt x="0" y="1941598"/>
                  <a:pt x="0" y="1905007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848" dist="828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62261" y="1176130"/>
            <a:ext cx="5698435" cy="33130"/>
          </a:xfrm>
          <a:custGeom>
            <a:avLst/>
            <a:gdLst/>
            <a:ahLst/>
            <a:cxnLst/>
            <a:rect l="l" t="t" r="r" b="b"/>
            <a:pathLst>
              <a:path w="5698435" h="33130">
                <a:moveTo>
                  <a:pt x="33130" y="0"/>
                </a:moveTo>
                <a:lnTo>
                  <a:pt x="5665304" y="0"/>
                </a:lnTo>
                <a:cubicBezTo>
                  <a:pt x="5683602" y="0"/>
                  <a:pt x="5698435" y="14833"/>
                  <a:pt x="5698435" y="33130"/>
                </a:cubicBezTo>
                <a:lnTo>
                  <a:pt x="5698435" y="33130"/>
                </a:lnTo>
                <a:lnTo>
                  <a:pt x="0" y="33130"/>
                </a:ln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45" name="Shape 43"/>
          <p:cNvSpPr/>
          <p:nvPr/>
        </p:nvSpPr>
        <p:spPr>
          <a:xfrm>
            <a:off x="6294783" y="1325217"/>
            <a:ext cx="397565" cy="397565"/>
          </a:xfrm>
          <a:custGeom>
            <a:avLst/>
            <a:gdLst/>
            <a:ahLst/>
            <a:cxnLst/>
            <a:rect l="l" t="t" r="r" b="b"/>
            <a:pathLst>
              <a:path w="397565" h="397565">
                <a:moveTo>
                  <a:pt x="198783" y="0"/>
                </a:moveTo>
                <a:lnTo>
                  <a:pt x="198783" y="0"/>
                </a:lnTo>
                <a:cubicBezTo>
                  <a:pt x="308494" y="0"/>
                  <a:pt x="397565" y="89072"/>
                  <a:pt x="397565" y="198783"/>
                </a:cubicBezTo>
                <a:lnTo>
                  <a:pt x="397565" y="198783"/>
                </a:lnTo>
                <a:cubicBezTo>
                  <a:pt x="397565" y="308494"/>
                  <a:pt x="308494" y="397565"/>
                  <a:pt x="198783" y="397565"/>
                </a:cubicBezTo>
                <a:lnTo>
                  <a:pt x="198783" y="397565"/>
                </a:lnTo>
                <a:cubicBezTo>
                  <a:pt x="89072" y="397565"/>
                  <a:pt x="0" y="308494"/>
                  <a:pt x="0" y="198783"/>
                </a:cubicBezTo>
                <a:lnTo>
                  <a:pt x="0" y="198783"/>
                </a:lnTo>
                <a:cubicBezTo>
                  <a:pt x="0" y="89072"/>
                  <a:pt x="89072" y="0"/>
                  <a:pt x="198783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46" name="Text 44"/>
          <p:cNvSpPr/>
          <p:nvPr/>
        </p:nvSpPr>
        <p:spPr>
          <a:xfrm>
            <a:off x="6253370" y="1325217"/>
            <a:ext cx="480391" cy="397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24870" y="1325217"/>
            <a:ext cx="4986130" cy="2319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强化时态意识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24870" y="1623391"/>
            <a:ext cx="4969565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日常生活类话题涉及时态转换，需要重点训练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824870" y="1888435"/>
            <a:ext cx="4903304" cy="331304"/>
          </a:xfrm>
          <a:custGeom>
            <a:avLst/>
            <a:gdLst/>
            <a:ahLst/>
            <a:cxnLst/>
            <a:rect l="l" t="t" r="r" b="b"/>
            <a:pathLst>
              <a:path w="4903304" h="331304">
                <a:moveTo>
                  <a:pt x="66261" y="0"/>
                </a:moveTo>
                <a:lnTo>
                  <a:pt x="4837043" y="0"/>
                </a:lnTo>
                <a:cubicBezTo>
                  <a:pt x="4873638" y="0"/>
                  <a:pt x="4903304" y="29666"/>
                  <a:pt x="4903304" y="66261"/>
                </a:cubicBezTo>
                <a:lnTo>
                  <a:pt x="4903304" y="265043"/>
                </a:lnTo>
                <a:cubicBezTo>
                  <a:pt x="4903304" y="301638"/>
                  <a:pt x="4873638" y="331304"/>
                  <a:pt x="4837043" y="331304"/>
                </a:cubicBezTo>
                <a:lnTo>
                  <a:pt x="66261" y="331304"/>
                </a:lnTo>
                <a:cubicBezTo>
                  <a:pt x="29666" y="331304"/>
                  <a:pt x="0" y="301638"/>
                  <a:pt x="0" y="265043"/>
                </a:cubicBezTo>
                <a:lnTo>
                  <a:pt x="0" y="66261"/>
                </a:lnTo>
                <a:cubicBezTo>
                  <a:pt x="0" y="29666"/>
                  <a:pt x="29666" y="0"/>
                  <a:pt x="66261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6891130" y="1954696"/>
            <a:ext cx="430696" cy="198783"/>
          </a:xfrm>
          <a:custGeom>
            <a:avLst/>
            <a:gdLst/>
            <a:ahLst/>
            <a:cxnLst/>
            <a:rect l="l" t="t" r="r" b="b"/>
            <a:pathLst>
              <a:path w="430696" h="198783">
                <a:moveTo>
                  <a:pt x="33131" y="0"/>
                </a:moveTo>
                <a:lnTo>
                  <a:pt x="397565" y="0"/>
                </a:lnTo>
                <a:cubicBezTo>
                  <a:pt x="415862" y="0"/>
                  <a:pt x="430696" y="14833"/>
                  <a:pt x="430696" y="33131"/>
                </a:cubicBezTo>
                <a:lnTo>
                  <a:pt x="430696" y="165652"/>
                </a:lnTo>
                <a:cubicBezTo>
                  <a:pt x="430696" y="183949"/>
                  <a:pt x="415862" y="198783"/>
                  <a:pt x="397565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2C5F5D"/>
          </a:solidFill>
        </p:spPr>
      </p:sp>
      <p:sp>
        <p:nvSpPr>
          <p:cNvPr id="51" name="Text 49"/>
          <p:cNvSpPr/>
          <p:nvPr/>
        </p:nvSpPr>
        <p:spPr>
          <a:xfrm>
            <a:off x="6891130" y="1954696"/>
            <a:ext cx="480391" cy="198783"/>
          </a:xfrm>
          <a:prstGeom prst="rect">
            <a:avLst/>
          </a:prstGeom>
          <a:noFill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过去时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388087" y="1971261"/>
            <a:ext cx="1905000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When I was little... / The last time...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824870" y="2286000"/>
            <a:ext cx="4903304" cy="331304"/>
          </a:xfrm>
          <a:custGeom>
            <a:avLst/>
            <a:gdLst/>
            <a:ahLst/>
            <a:cxnLst/>
            <a:rect l="l" t="t" r="r" b="b"/>
            <a:pathLst>
              <a:path w="4903304" h="331304">
                <a:moveTo>
                  <a:pt x="66261" y="0"/>
                </a:moveTo>
                <a:lnTo>
                  <a:pt x="4837043" y="0"/>
                </a:lnTo>
                <a:cubicBezTo>
                  <a:pt x="4873638" y="0"/>
                  <a:pt x="4903304" y="29666"/>
                  <a:pt x="4903304" y="66261"/>
                </a:cubicBezTo>
                <a:lnTo>
                  <a:pt x="4903304" y="265043"/>
                </a:lnTo>
                <a:cubicBezTo>
                  <a:pt x="4903304" y="301638"/>
                  <a:pt x="4873638" y="331304"/>
                  <a:pt x="4837043" y="331304"/>
                </a:cubicBezTo>
                <a:lnTo>
                  <a:pt x="66261" y="331304"/>
                </a:lnTo>
                <a:cubicBezTo>
                  <a:pt x="29666" y="331304"/>
                  <a:pt x="0" y="301638"/>
                  <a:pt x="0" y="265043"/>
                </a:cubicBezTo>
                <a:lnTo>
                  <a:pt x="0" y="66261"/>
                </a:lnTo>
                <a:cubicBezTo>
                  <a:pt x="0" y="29666"/>
                  <a:pt x="29666" y="0"/>
                  <a:pt x="66261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6891130" y="2352261"/>
            <a:ext cx="430696" cy="198783"/>
          </a:xfrm>
          <a:custGeom>
            <a:avLst/>
            <a:gdLst/>
            <a:ahLst/>
            <a:cxnLst/>
            <a:rect l="l" t="t" r="r" b="b"/>
            <a:pathLst>
              <a:path w="430696" h="198783">
                <a:moveTo>
                  <a:pt x="33131" y="0"/>
                </a:moveTo>
                <a:lnTo>
                  <a:pt x="397565" y="0"/>
                </a:lnTo>
                <a:cubicBezTo>
                  <a:pt x="415862" y="0"/>
                  <a:pt x="430696" y="14833"/>
                  <a:pt x="430696" y="33131"/>
                </a:cubicBezTo>
                <a:lnTo>
                  <a:pt x="430696" y="165652"/>
                </a:lnTo>
                <a:cubicBezTo>
                  <a:pt x="430696" y="183949"/>
                  <a:pt x="415862" y="198783"/>
                  <a:pt x="397565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55" name="Text 53"/>
          <p:cNvSpPr/>
          <p:nvPr/>
        </p:nvSpPr>
        <p:spPr>
          <a:xfrm>
            <a:off x="6891130" y="2352261"/>
            <a:ext cx="480391" cy="198783"/>
          </a:xfrm>
          <a:prstGeom prst="rect">
            <a:avLst/>
          </a:prstGeom>
          <a:noFill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现在时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388087" y="2368826"/>
            <a:ext cx="1366630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 usually... / These days...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824870" y="2683565"/>
            <a:ext cx="4903304" cy="331304"/>
          </a:xfrm>
          <a:custGeom>
            <a:avLst/>
            <a:gdLst/>
            <a:ahLst/>
            <a:cxnLst/>
            <a:rect l="l" t="t" r="r" b="b"/>
            <a:pathLst>
              <a:path w="4903304" h="331304">
                <a:moveTo>
                  <a:pt x="66261" y="0"/>
                </a:moveTo>
                <a:lnTo>
                  <a:pt x="4837043" y="0"/>
                </a:lnTo>
                <a:cubicBezTo>
                  <a:pt x="4873638" y="0"/>
                  <a:pt x="4903304" y="29666"/>
                  <a:pt x="4903304" y="66261"/>
                </a:cubicBezTo>
                <a:lnTo>
                  <a:pt x="4903304" y="265043"/>
                </a:lnTo>
                <a:cubicBezTo>
                  <a:pt x="4903304" y="301638"/>
                  <a:pt x="4873638" y="331304"/>
                  <a:pt x="4837043" y="331304"/>
                </a:cubicBezTo>
                <a:lnTo>
                  <a:pt x="66261" y="331304"/>
                </a:lnTo>
                <a:cubicBezTo>
                  <a:pt x="29666" y="331304"/>
                  <a:pt x="0" y="301638"/>
                  <a:pt x="0" y="265043"/>
                </a:cubicBezTo>
                <a:lnTo>
                  <a:pt x="0" y="66261"/>
                </a:lnTo>
                <a:cubicBezTo>
                  <a:pt x="0" y="29666"/>
                  <a:pt x="29666" y="0"/>
                  <a:pt x="66261" y="0"/>
                </a:cubicBezTo>
                <a:close/>
              </a:path>
            </a:pathLst>
          </a:custGeom>
          <a:solidFill>
            <a:srgbClr val="2C5F5D">
              <a:alpha val="5098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6891130" y="2749826"/>
            <a:ext cx="530087" cy="198783"/>
          </a:xfrm>
          <a:custGeom>
            <a:avLst/>
            <a:gdLst/>
            <a:ahLst/>
            <a:cxnLst/>
            <a:rect l="l" t="t" r="r" b="b"/>
            <a:pathLst>
              <a:path w="530087" h="198783">
                <a:moveTo>
                  <a:pt x="33131" y="0"/>
                </a:moveTo>
                <a:lnTo>
                  <a:pt x="496956" y="0"/>
                </a:lnTo>
                <a:cubicBezTo>
                  <a:pt x="515254" y="0"/>
                  <a:pt x="530087" y="14833"/>
                  <a:pt x="530087" y="33131"/>
                </a:cubicBezTo>
                <a:lnTo>
                  <a:pt x="530087" y="165652"/>
                </a:lnTo>
                <a:cubicBezTo>
                  <a:pt x="530087" y="183949"/>
                  <a:pt x="515254" y="198783"/>
                  <a:pt x="496956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59" name="Text 57"/>
          <p:cNvSpPr/>
          <p:nvPr/>
        </p:nvSpPr>
        <p:spPr>
          <a:xfrm>
            <a:off x="6891130" y="2749826"/>
            <a:ext cx="579783" cy="198783"/>
          </a:xfrm>
          <a:prstGeom prst="rect">
            <a:avLst/>
          </a:prstGeom>
          <a:noFill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虚拟语气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487478" y="2766391"/>
            <a:ext cx="1085022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If I had... / I would...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62261" y="3263348"/>
            <a:ext cx="5698435" cy="1772478"/>
          </a:xfrm>
          <a:custGeom>
            <a:avLst/>
            <a:gdLst/>
            <a:ahLst/>
            <a:cxnLst/>
            <a:rect l="l" t="t" r="r" b="b"/>
            <a:pathLst>
              <a:path w="5698435" h="1772478">
                <a:moveTo>
                  <a:pt x="33130" y="0"/>
                </a:moveTo>
                <a:lnTo>
                  <a:pt x="5665304" y="0"/>
                </a:lnTo>
                <a:cubicBezTo>
                  <a:pt x="5683602" y="0"/>
                  <a:pt x="5698435" y="14833"/>
                  <a:pt x="5698435" y="33130"/>
                </a:cubicBezTo>
                <a:lnTo>
                  <a:pt x="5698435" y="1706223"/>
                </a:lnTo>
                <a:cubicBezTo>
                  <a:pt x="5698435" y="1742815"/>
                  <a:pt x="5668771" y="1772478"/>
                  <a:pt x="5632180" y="1772478"/>
                </a:cubicBezTo>
                <a:lnTo>
                  <a:pt x="66255" y="1772478"/>
                </a:lnTo>
                <a:cubicBezTo>
                  <a:pt x="29663" y="1772478"/>
                  <a:pt x="0" y="1742815"/>
                  <a:pt x="0" y="1706223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848" dist="828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62261" y="3263348"/>
            <a:ext cx="5698435" cy="33130"/>
          </a:xfrm>
          <a:custGeom>
            <a:avLst/>
            <a:gdLst/>
            <a:ahLst/>
            <a:cxnLst/>
            <a:rect l="l" t="t" r="r" b="b"/>
            <a:pathLst>
              <a:path w="5698435" h="33130">
                <a:moveTo>
                  <a:pt x="33130" y="0"/>
                </a:moveTo>
                <a:lnTo>
                  <a:pt x="5665304" y="0"/>
                </a:lnTo>
                <a:cubicBezTo>
                  <a:pt x="5683602" y="0"/>
                  <a:pt x="5698435" y="14833"/>
                  <a:pt x="5698435" y="33130"/>
                </a:cubicBezTo>
                <a:lnTo>
                  <a:pt x="5698435" y="33130"/>
                </a:lnTo>
                <a:lnTo>
                  <a:pt x="0" y="33130"/>
                </a:ln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63" name="Shape 61"/>
          <p:cNvSpPr/>
          <p:nvPr/>
        </p:nvSpPr>
        <p:spPr>
          <a:xfrm>
            <a:off x="6294783" y="3412435"/>
            <a:ext cx="397565" cy="397565"/>
          </a:xfrm>
          <a:custGeom>
            <a:avLst/>
            <a:gdLst/>
            <a:ahLst/>
            <a:cxnLst/>
            <a:rect l="l" t="t" r="r" b="b"/>
            <a:pathLst>
              <a:path w="397565" h="397565">
                <a:moveTo>
                  <a:pt x="198783" y="0"/>
                </a:moveTo>
                <a:lnTo>
                  <a:pt x="198783" y="0"/>
                </a:lnTo>
                <a:cubicBezTo>
                  <a:pt x="308494" y="0"/>
                  <a:pt x="397565" y="89072"/>
                  <a:pt x="397565" y="198783"/>
                </a:cubicBezTo>
                <a:lnTo>
                  <a:pt x="397565" y="198783"/>
                </a:lnTo>
                <a:cubicBezTo>
                  <a:pt x="397565" y="308494"/>
                  <a:pt x="308494" y="397565"/>
                  <a:pt x="198783" y="397565"/>
                </a:cubicBezTo>
                <a:lnTo>
                  <a:pt x="198783" y="397565"/>
                </a:lnTo>
                <a:cubicBezTo>
                  <a:pt x="89072" y="397565"/>
                  <a:pt x="0" y="308494"/>
                  <a:pt x="0" y="198783"/>
                </a:cubicBezTo>
                <a:lnTo>
                  <a:pt x="0" y="198783"/>
                </a:lnTo>
                <a:cubicBezTo>
                  <a:pt x="0" y="89072"/>
                  <a:pt x="89072" y="0"/>
                  <a:pt x="198783" y="0"/>
                </a:cubicBezTo>
                <a:close/>
              </a:path>
            </a:pathLst>
          </a:custGeom>
          <a:solidFill>
            <a:srgbClr val="8AA3A1"/>
          </a:solidFill>
        </p:spPr>
      </p:sp>
      <p:sp>
        <p:nvSpPr>
          <p:cNvPr id="64" name="Text 62"/>
          <p:cNvSpPr/>
          <p:nvPr/>
        </p:nvSpPr>
        <p:spPr>
          <a:xfrm>
            <a:off x="6253370" y="3412435"/>
            <a:ext cx="480391" cy="397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824870" y="3412435"/>
            <a:ext cx="4986130" cy="2319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鼓励学生描绘画面感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824870" y="3710609"/>
            <a:ext cx="4969565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用感官细节让回答更生动、更有说服力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824870" y="3975652"/>
            <a:ext cx="4903304" cy="927652"/>
          </a:xfrm>
          <a:custGeom>
            <a:avLst/>
            <a:gdLst/>
            <a:ahLst/>
            <a:cxnLst/>
            <a:rect l="l" t="t" r="r" b="b"/>
            <a:pathLst>
              <a:path w="4903304" h="927652">
                <a:moveTo>
                  <a:pt x="66262" y="0"/>
                </a:moveTo>
                <a:lnTo>
                  <a:pt x="4837042" y="0"/>
                </a:lnTo>
                <a:cubicBezTo>
                  <a:pt x="4873638" y="0"/>
                  <a:pt x="4903304" y="29667"/>
                  <a:pt x="4903304" y="66262"/>
                </a:cubicBezTo>
                <a:lnTo>
                  <a:pt x="4903304" y="861390"/>
                </a:lnTo>
                <a:cubicBezTo>
                  <a:pt x="4903304" y="897986"/>
                  <a:pt x="4873638" y="927652"/>
                  <a:pt x="4837042" y="927652"/>
                </a:cubicBezTo>
                <a:lnTo>
                  <a:pt x="66262" y="927652"/>
                </a:lnTo>
                <a:cubicBezTo>
                  <a:pt x="29667" y="927652"/>
                  <a:pt x="0" y="897986"/>
                  <a:pt x="0" y="861390"/>
                </a:cubicBezTo>
                <a:lnTo>
                  <a:pt x="0" y="66262"/>
                </a:lnTo>
                <a:cubicBezTo>
                  <a:pt x="0" y="29691"/>
                  <a:pt x="29691" y="0"/>
                  <a:pt x="66262" y="0"/>
                </a:cubicBezTo>
                <a:close/>
              </a:path>
            </a:pathLst>
          </a:custGeom>
          <a:solidFill>
            <a:srgbClr val="8AA3A1">
              <a:alpha val="5098"/>
            </a:srgbClr>
          </a:solidFill>
        </p:spPr>
      </p:sp>
      <p:sp>
        <p:nvSpPr>
          <p:cNvPr id="68" name="Text 66"/>
          <p:cNvSpPr/>
          <p:nvPr/>
        </p:nvSpPr>
        <p:spPr>
          <a:xfrm>
            <a:off x="6924261" y="4075043"/>
            <a:ext cx="4762500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画面构建公式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924261" y="4273826"/>
            <a:ext cx="4762500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时间</a:t>
            </a: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+ </a:t>
            </a:r>
            <a:r>
              <a:rPr lang="en-US" sz="915" b="1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地点</a:t>
            </a: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+ </a:t>
            </a:r>
            <a:r>
              <a:rPr lang="en-US" sz="915" b="1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天气/环境</a:t>
            </a:r>
            <a:r>
              <a:rPr lang="en-US" sz="91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+ </a:t>
            </a:r>
            <a:r>
              <a:rPr lang="en-US" sz="915" b="1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感受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924261" y="4472609"/>
            <a:ext cx="4762500" cy="331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"Just yesterday evening, I took a leisurely walk along the riverbank. The weather was crisp and cool..."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162261" y="5151783"/>
            <a:ext cx="5698435" cy="1275522"/>
          </a:xfrm>
          <a:custGeom>
            <a:avLst/>
            <a:gdLst/>
            <a:ahLst/>
            <a:cxnLst/>
            <a:rect l="l" t="t" r="r" b="b"/>
            <a:pathLst>
              <a:path w="5698435" h="1275522">
                <a:moveTo>
                  <a:pt x="33130" y="0"/>
                </a:moveTo>
                <a:lnTo>
                  <a:pt x="5665304" y="0"/>
                </a:lnTo>
                <a:cubicBezTo>
                  <a:pt x="5683602" y="0"/>
                  <a:pt x="5698435" y="14833"/>
                  <a:pt x="5698435" y="33130"/>
                </a:cubicBezTo>
                <a:lnTo>
                  <a:pt x="5698435" y="1209258"/>
                </a:lnTo>
                <a:cubicBezTo>
                  <a:pt x="5698435" y="1245855"/>
                  <a:pt x="5668768" y="1275522"/>
                  <a:pt x="5632171" y="1275522"/>
                </a:cubicBezTo>
                <a:lnTo>
                  <a:pt x="66263" y="1275522"/>
                </a:lnTo>
                <a:cubicBezTo>
                  <a:pt x="29667" y="1275522"/>
                  <a:pt x="0" y="1245855"/>
                  <a:pt x="0" y="1209258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848" dist="828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162261" y="5151783"/>
            <a:ext cx="5698435" cy="33130"/>
          </a:xfrm>
          <a:custGeom>
            <a:avLst/>
            <a:gdLst/>
            <a:ahLst/>
            <a:cxnLst/>
            <a:rect l="l" t="t" r="r" b="b"/>
            <a:pathLst>
              <a:path w="5698435" h="33130">
                <a:moveTo>
                  <a:pt x="33130" y="0"/>
                </a:moveTo>
                <a:lnTo>
                  <a:pt x="5665304" y="0"/>
                </a:lnTo>
                <a:cubicBezTo>
                  <a:pt x="5683602" y="0"/>
                  <a:pt x="5698435" y="14833"/>
                  <a:pt x="5698435" y="33130"/>
                </a:cubicBezTo>
                <a:lnTo>
                  <a:pt x="5698435" y="33130"/>
                </a:lnTo>
                <a:lnTo>
                  <a:pt x="0" y="33130"/>
                </a:ln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73" name="Shape 71"/>
          <p:cNvSpPr/>
          <p:nvPr/>
        </p:nvSpPr>
        <p:spPr>
          <a:xfrm>
            <a:off x="6294783" y="5300870"/>
            <a:ext cx="397565" cy="397565"/>
          </a:xfrm>
          <a:custGeom>
            <a:avLst/>
            <a:gdLst/>
            <a:ahLst/>
            <a:cxnLst/>
            <a:rect l="l" t="t" r="r" b="b"/>
            <a:pathLst>
              <a:path w="397565" h="397565">
                <a:moveTo>
                  <a:pt x="198783" y="0"/>
                </a:moveTo>
                <a:lnTo>
                  <a:pt x="198783" y="0"/>
                </a:lnTo>
                <a:cubicBezTo>
                  <a:pt x="308494" y="0"/>
                  <a:pt x="397565" y="89072"/>
                  <a:pt x="397565" y="198783"/>
                </a:cubicBezTo>
                <a:lnTo>
                  <a:pt x="397565" y="198783"/>
                </a:lnTo>
                <a:cubicBezTo>
                  <a:pt x="397565" y="308494"/>
                  <a:pt x="308494" y="397565"/>
                  <a:pt x="198783" y="397565"/>
                </a:cubicBezTo>
                <a:lnTo>
                  <a:pt x="198783" y="397565"/>
                </a:lnTo>
                <a:cubicBezTo>
                  <a:pt x="89072" y="397565"/>
                  <a:pt x="0" y="308494"/>
                  <a:pt x="0" y="198783"/>
                </a:cubicBezTo>
                <a:lnTo>
                  <a:pt x="0" y="198783"/>
                </a:lnTo>
                <a:cubicBezTo>
                  <a:pt x="0" y="89072"/>
                  <a:pt x="89072" y="0"/>
                  <a:pt x="198783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74" name="Text 72"/>
          <p:cNvSpPr/>
          <p:nvPr/>
        </p:nvSpPr>
        <p:spPr>
          <a:xfrm>
            <a:off x="6253370" y="5300870"/>
            <a:ext cx="480391" cy="397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6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824870" y="5300870"/>
            <a:ext cx="4986130" cy="2319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5" b="1" dirty="0">
                <a:solidFill>
                  <a:srgbClr val="2C5F5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对比结构的运用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824870" y="5599043"/>
            <a:ext cx="4969565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2D3748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通过对比突出变化和差异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824870" y="5864087"/>
            <a:ext cx="2418522" cy="430696"/>
          </a:xfrm>
          <a:custGeom>
            <a:avLst/>
            <a:gdLst/>
            <a:ahLst/>
            <a:cxnLst/>
            <a:rect l="l" t="t" r="r" b="b"/>
            <a:pathLst>
              <a:path w="2418522" h="430696">
                <a:moveTo>
                  <a:pt x="33129" y="0"/>
                </a:moveTo>
                <a:lnTo>
                  <a:pt x="2385393" y="0"/>
                </a:lnTo>
                <a:cubicBezTo>
                  <a:pt x="2403689" y="0"/>
                  <a:pt x="2418522" y="14832"/>
                  <a:pt x="2418522" y="33129"/>
                </a:cubicBezTo>
                <a:lnTo>
                  <a:pt x="2418522" y="397567"/>
                </a:lnTo>
                <a:cubicBezTo>
                  <a:pt x="2418522" y="415863"/>
                  <a:pt x="2403689" y="430696"/>
                  <a:pt x="2385393" y="430696"/>
                </a:cubicBezTo>
                <a:lnTo>
                  <a:pt x="33129" y="430696"/>
                </a:lnTo>
                <a:cubicBezTo>
                  <a:pt x="14845" y="430696"/>
                  <a:pt x="0" y="415851"/>
                  <a:pt x="0" y="397567"/>
                </a:cubicBezTo>
                <a:lnTo>
                  <a:pt x="0" y="33129"/>
                </a:lnTo>
                <a:cubicBezTo>
                  <a:pt x="0" y="14845"/>
                  <a:pt x="14845" y="0"/>
                  <a:pt x="33129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78" name="Text 76"/>
          <p:cNvSpPr/>
          <p:nvPr/>
        </p:nvSpPr>
        <p:spPr>
          <a:xfrm>
            <a:off x="6862141" y="5930348"/>
            <a:ext cx="2343978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5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过去 vs 现在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866283" y="6096000"/>
            <a:ext cx="2335696" cy="1325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night and day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309652" y="5864087"/>
            <a:ext cx="2418522" cy="430696"/>
          </a:xfrm>
          <a:custGeom>
            <a:avLst/>
            <a:gdLst/>
            <a:ahLst/>
            <a:cxnLst/>
            <a:rect l="l" t="t" r="r" b="b"/>
            <a:pathLst>
              <a:path w="2418522" h="430696">
                <a:moveTo>
                  <a:pt x="33129" y="0"/>
                </a:moveTo>
                <a:lnTo>
                  <a:pt x="2385393" y="0"/>
                </a:lnTo>
                <a:cubicBezTo>
                  <a:pt x="2403689" y="0"/>
                  <a:pt x="2418522" y="14832"/>
                  <a:pt x="2418522" y="33129"/>
                </a:cubicBezTo>
                <a:lnTo>
                  <a:pt x="2418522" y="397567"/>
                </a:lnTo>
                <a:cubicBezTo>
                  <a:pt x="2418522" y="415863"/>
                  <a:pt x="2403689" y="430696"/>
                  <a:pt x="2385393" y="430696"/>
                </a:cubicBezTo>
                <a:lnTo>
                  <a:pt x="33129" y="430696"/>
                </a:lnTo>
                <a:cubicBezTo>
                  <a:pt x="14845" y="430696"/>
                  <a:pt x="0" y="415851"/>
                  <a:pt x="0" y="397567"/>
                </a:cubicBezTo>
                <a:lnTo>
                  <a:pt x="0" y="33129"/>
                </a:lnTo>
                <a:cubicBezTo>
                  <a:pt x="0" y="14845"/>
                  <a:pt x="14845" y="0"/>
                  <a:pt x="33129" y="0"/>
                </a:cubicBezTo>
                <a:close/>
              </a:path>
            </a:pathLst>
          </a:custGeom>
          <a:solidFill>
            <a:srgbClr val="C4A87D">
              <a:alpha val="10196"/>
            </a:srgbClr>
          </a:solidFill>
        </p:spPr>
      </p:sp>
      <p:sp>
        <p:nvSpPr>
          <p:cNvPr id="81" name="Text 79"/>
          <p:cNvSpPr/>
          <p:nvPr/>
        </p:nvSpPr>
        <p:spPr>
          <a:xfrm>
            <a:off x="9346924" y="5930348"/>
            <a:ext cx="2343978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5" b="1" dirty="0">
                <a:solidFill>
                  <a:srgbClr val="2C5F5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工作日 vs 周末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9351065" y="6096000"/>
            <a:ext cx="2335696" cy="1325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2D3748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efficient vs leisurely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usnews.com/1c5c4d5047e13b863f109a9017a1606afcf218eb.jpg"/>
          <p:cNvPicPr>
            <a:picLocks noChangeAspect="1"/>
          </p:cNvPicPr>
          <p:nvPr/>
        </p:nvPicPr>
        <p:blipFill>
          <a:blip r:embed="rId1">
            <a:alphaModFix amt="25000"/>
          </a:blip>
          <a:srcRect t="7143" b="7143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5F5D">
                  <a:alpha val="95000"/>
                </a:srgbClr>
              </a:gs>
              <a:gs pos="50000">
                <a:srgbClr val="2C5F5D">
                  <a:alpha val="90000"/>
                </a:srgbClr>
              </a:gs>
              <a:gs pos="100000">
                <a:srgbClr val="8AA3A1">
                  <a:alpha val="8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638800" y="2286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C4A87D"/>
          </a:solidFill>
        </p:spPr>
      </p:sp>
      <p:sp>
        <p:nvSpPr>
          <p:cNvPr id="5" name="Shape 2"/>
          <p:cNvSpPr/>
          <p:nvPr/>
        </p:nvSpPr>
        <p:spPr>
          <a:xfrm>
            <a:off x="5838825" y="457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42863" y="174843"/>
                </a:moveTo>
                <a:lnTo>
                  <a:pt x="229672" y="251728"/>
                </a:lnTo>
                <a:cubicBezTo>
                  <a:pt x="238423" y="255300"/>
                  <a:pt x="247710" y="257175"/>
                  <a:pt x="257175" y="257175"/>
                </a:cubicBezTo>
                <a:cubicBezTo>
                  <a:pt x="266640" y="257175"/>
                  <a:pt x="275927" y="255300"/>
                  <a:pt x="284678" y="251728"/>
                </a:cubicBezTo>
                <a:lnTo>
                  <a:pt x="501134" y="162610"/>
                </a:lnTo>
                <a:cubicBezTo>
                  <a:pt x="509171" y="159306"/>
                  <a:pt x="514350" y="151537"/>
                  <a:pt x="514350" y="142875"/>
                </a:cubicBezTo>
                <a:cubicBezTo>
                  <a:pt x="514350" y="134213"/>
                  <a:pt x="509171" y="126444"/>
                  <a:pt x="501134" y="123140"/>
                </a:cubicBezTo>
                <a:lnTo>
                  <a:pt x="284678" y="34022"/>
                </a:lnTo>
                <a:cubicBezTo>
                  <a:pt x="275927" y="30450"/>
                  <a:pt x="266640" y="28575"/>
                  <a:pt x="257175" y="28575"/>
                </a:cubicBezTo>
                <a:cubicBezTo>
                  <a:pt x="247710" y="28575"/>
                  <a:pt x="238423" y="30450"/>
                  <a:pt x="229672" y="34022"/>
                </a:cubicBezTo>
                <a:lnTo>
                  <a:pt x="13216" y="123140"/>
                </a:lnTo>
                <a:cubicBezTo>
                  <a:pt x="5179" y="126444"/>
                  <a:pt x="0" y="134213"/>
                  <a:pt x="0" y="142875"/>
                </a:cubicBezTo>
                <a:lnTo>
                  <a:pt x="0" y="407194"/>
                </a:lnTo>
                <a:cubicBezTo>
                  <a:pt x="0" y="419070"/>
                  <a:pt x="9555" y="428625"/>
                  <a:pt x="21431" y="428625"/>
                </a:cubicBezTo>
                <a:cubicBezTo>
                  <a:pt x="33308" y="428625"/>
                  <a:pt x="42863" y="419070"/>
                  <a:pt x="42863" y="407194"/>
                </a:cubicBezTo>
                <a:lnTo>
                  <a:pt x="42863" y="174843"/>
                </a:lnTo>
                <a:close/>
                <a:moveTo>
                  <a:pt x="85725" y="238869"/>
                </a:moveTo>
                <a:lnTo>
                  <a:pt x="85725" y="342900"/>
                </a:lnTo>
                <a:cubicBezTo>
                  <a:pt x="85725" y="390227"/>
                  <a:pt x="162520" y="428625"/>
                  <a:pt x="257175" y="428625"/>
                </a:cubicBezTo>
                <a:cubicBezTo>
                  <a:pt x="351830" y="428625"/>
                  <a:pt x="428625" y="390227"/>
                  <a:pt x="428625" y="342900"/>
                </a:cubicBezTo>
                <a:lnTo>
                  <a:pt x="428625" y="238780"/>
                </a:lnTo>
                <a:lnTo>
                  <a:pt x="301020" y="291376"/>
                </a:lnTo>
                <a:cubicBezTo>
                  <a:pt x="287089" y="297091"/>
                  <a:pt x="272266" y="300037"/>
                  <a:pt x="257175" y="300037"/>
                </a:cubicBezTo>
                <a:cubicBezTo>
                  <a:pt x="242084" y="300037"/>
                  <a:pt x="227261" y="297091"/>
                  <a:pt x="213330" y="291376"/>
                </a:cubicBezTo>
                <a:lnTo>
                  <a:pt x="85725" y="238780"/>
                </a:lnTo>
                <a:close/>
              </a:path>
            </a:pathLst>
          </a:custGeom>
          <a:solidFill>
            <a:srgbClr val="F7FAFC"/>
          </a:solidFill>
        </p:spPr>
      </p:sp>
      <p:sp>
        <p:nvSpPr>
          <p:cNvPr id="6" name="Text 3"/>
          <p:cNvSpPr/>
          <p:nvPr/>
        </p:nvSpPr>
        <p:spPr>
          <a:xfrm>
            <a:off x="4810125" y="1371600"/>
            <a:ext cx="2571750" cy="142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教学相长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7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精进不息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952750" y="3333750"/>
            <a:ext cx="62865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7FAFC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雅思口语考试不仅考察语言能力，更考察</a:t>
            </a:r>
            <a:r>
              <a:rPr lang="en-US" sz="1800" b="1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思维深度</a:t>
            </a:r>
            <a:r>
              <a:rPr lang="en-US" sz="1800" dirty="0">
                <a:solidFill>
                  <a:srgbClr val="F7FAFC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和</a:t>
            </a:r>
            <a:r>
              <a:rPr lang="en-US" sz="1800" b="1" dirty="0">
                <a:solidFill>
                  <a:srgbClr val="C4A87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表达技巧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962275" y="3933825"/>
            <a:ext cx="626745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7FAFC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通过系统化的教学，帮助学生从</a:t>
            </a:r>
            <a:r>
              <a:rPr lang="en-US" sz="1500" dirty="0">
                <a:solidFill>
                  <a:srgbClr val="F7FAFC">
                    <a:alpha val="80000"/>
                  </a:srgbClr>
                </a:solidFill>
                <a:highlight>
                  <a:srgbClr val="C4A87D">
                    <a:alpha val="3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简单回答 </a:t>
            </a:r>
            <a:r>
              <a:rPr lang="en-US" sz="1500" dirty="0">
                <a:solidFill>
                  <a:srgbClr val="F7FAFC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走向</a:t>
            </a:r>
            <a:r>
              <a:rPr lang="en-US" sz="1500" dirty="0">
                <a:solidFill>
                  <a:srgbClr val="F7FAFC">
                    <a:alpha val="80000"/>
                  </a:srgbClr>
                </a:solidFill>
                <a:highlight>
                  <a:srgbClr val="C4A87D">
                    <a:alpha val="3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丰富表达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7FAFC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从</a:t>
            </a:r>
            <a:r>
              <a:rPr lang="en-US" sz="1500" dirty="0">
                <a:solidFill>
                  <a:srgbClr val="F7FAFC">
                    <a:alpha val="80000"/>
                  </a:srgbClr>
                </a:solidFill>
                <a:highlight>
                  <a:srgbClr val="C4A87D">
                    <a:alpha val="3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机械背诵 </a:t>
            </a:r>
            <a:r>
              <a:rPr lang="en-US" sz="1500" dirty="0">
                <a:solidFill>
                  <a:srgbClr val="F7FAFC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走向</a:t>
            </a:r>
            <a:r>
              <a:rPr lang="en-US" sz="1500" dirty="0">
                <a:solidFill>
                  <a:srgbClr val="F7FAFC">
                    <a:alpha val="80000"/>
                  </a:srgbClr>
                </a:solidFill>
                <a:highlight>
                  <a:srgbClr val="C4A87D">
                    <a:alpha val="3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自然交流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128963" y="4938713"/>
            <a:ext cx="1304925" cy="1076325"/>
          </a:xfrm>
          <a:custGeom>
            <a:avLst/>
            <a:gdLst/>
            <a:ahLst/>
            <a:cxnLst/>
            <a:rect l="l" t="t" r="r" b="b"/>
            <a:pathLst>
              <a:path w="1304925" h="1076325">
                <a:moveTo>
                  <a:pt x="76204" y="0"/>
                </a:moveTo>
                <a:lnTo>
                  <a:pt x="1228721" y="0"/>
                </a:lnTo>
                <a:cubicBezTo>
                  <a:pt x="1270807" y="0"/>
                  <a:pt x="1304925" y="34118"/>
                  <a:pt x="1304925" y="76204"/>
                </a:cubicBezTo>
                <a:lnTo>
                  <a:pt x="1304925" y="1000121"/>
                </a:lnTo>
                <a:cubicBezTo>
                  <a:pt x="1304925" y="1042207"/>
                  <a:pt x="1270807" y="1076325"/>
                  <a:pt x="1228721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7FAFC">
              <a:alpha val="10196"/>
            </a:srgbClr>
          </a:solidFill>
          <a:ln w="12700">
            <a:solidFill>
              <a:srgbClr val="F7FAFC">
                <a:alpha val="2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38500" y="5133975"/>
            <a:ext cx="10858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4A87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286125" y="5591175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日常生活话题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672013" y="4938713"/>
            <a:ext cx="1304925" cy="1076325"/>
          </a:xfrm>
          <a:custGeom>
            <a:avLst/>
            <a:gdLst/>
            <a:ahLst/>
            <a:cxnLst/>
            <a:rect l="l" t="t" r="r" b="b"/>
            <a:pathLst>
              <a:path w="1304925" h="1076325">
                <a:moveTo>
                  <a:pt x="76204" y="0"/>
                </a:moveTo>
                <a:lnTo>
                  <a:pt x="1228721" y="0"/>
                </a:lnTo>
                <a:cubicBezTo>
                  <a:pt x="1270807" y="0"/>
                  <a:pt x="1304925" y="34118"/>
                  <a:pt x="1304925" y="76204"/>
                </a:cubicBezTo>
                <a:lnTo>
                  <a:pt x="1304925" y="1000121"/>
                </a:lnTo>
                <a:cubicBezTo>
                  <a:pt x="1304925" y="1042207"/>
                  <a:pt x="1270807" y="1076325"/>
                  <a:pt x="1228721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7FAFC">
              <a:alpha val="10196"/>
            </a:srgbClr>
          </a:solidFill>
          <a:ln w="12700">
            <a:solidFill>
              <a:srgbClr val="F7FAFC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81550" y="5133975"/>
            <a:ext cx="10858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4A87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15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29175" y="5591175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核心小题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15063" y="4938713"/>
            <a:ext cx="1304925" cy="1076325"/>
          </a:xfrm>
          <a:custGeom>
            <a:avLst/>
            <a:gdLst/>
            <a:ahLst/>
            <a:cxnLst/>
            <a:rect l="l" t="t" r="r" b="b"/>
            <a:pathLst>
              <a:path w="1304925" h="1076325">
                <a:moveTo>
                  <a:pt x="76204" y="0"/>
                </a:moveTo>
                <a:lnTo>
                  <a:pt x="1228721" y="0"/>
                </a:lnTo>
                <a:cubicBezTo>
                  <a:pt x="1270807" y="0"/>
                  <a:pt x="1304925" y="34118"/>
                  <a:pt x="1304925" y="76204"/>
                </a:cubicBezTo>
                <a:lnTo>
                  <a:pt x="1304925" y="1000121"/>
                </a:lnTo>
                <a:cubicBezTo>
                  <a:pt x="1304925" y="1042207"/>
                  <a:pt x="1270807" y="1076325"/>
                  <a:pt x="1228721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7FAFC">
              <a:alpha val="10196"/>
            </a:srgbClr>
          </a:solidFill>
          <a:ln w="12700">
            <a:solidFill>
              <a:srgbClr val="F7FAFC">
                <a:alpha val="2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24600" y="5133975"/>
            <a:ext cx="10858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4A87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50+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72225" y="5591175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高频词汇短语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58113" y="4938713"/>
            <a:ext cx="1304925" cy="1076325"/>
          </a:xfrm>
          <a:custGeom>
            <a:avLst/>
            <a:gdLst/>
            <a:ahLst/>
            <a:cxnLst/>
            <a:rect l="l" t="t" r="r" b="b"/>
            <a:pathLst>
              <a:path w="1304925" h="1076325">
                <a:moveTo>
                  <a:pt x="76204" y="0"/>
                </a:moveTo>
                <a:lnTo>
                  <a:pt x="1228721" y="0"/>
                </a:lnTo>
                <a:cubicBezTo>
                  <a:pt x="1270807" y="0"/>
                  <a:pt x="1304925" y="34118"/>
                  <a:pt x="1304925" y="76204"/>
                </a:cubicBezTo>
                <a:lnTo>
                  <a:pt x="1304925" y="1000121"/>
                </a:lnTo>
                <a:cubicBezTo>
                  <a:pt x="1304925" y="1042207"/>
                  <a:pt x="1270807" y="1076325"/>
                  <a:pt x="1228721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7FAFC">
              <a:alpha val="10196"/>
            </a:srgbClr>
          </a:solidFill>
          <a:ln w="12700">
            <a:solidFill>
              <a:srgbClr val="F7FAFC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67650" y="5133975"/>
            <a:ext cx="10858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4A87D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∞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915275" y="5591175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提升空间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549229" y="6400800"/>
            <a:ext cx="3095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雅思口语教学计划 | 日常生活类话题完整方案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9843</Words>
  <Application>WPS 演示</Application>
  <PresentationFormat>On-screen Show (16:9)</PresentationFormat>
  <Paragraphs>961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宋体</vt:lpstr>
      <vt:lpstr>Wingdings</vt:lpstr>
      <vt:lpstr>MiSans</vt:lpstr>
      <vt:lpstr>MiSans</vt:lpstr>
      <vt:lpstr>Alimama ShuHeiTi</vt:lpstr>
      <vt:lpstr>Segoe Print</vt:lpstr>
      <vt:lpstr>Alimama ShuHeiTi</vt:lpstr>
      <vt:lpstr>Alimama ShuHeiTi</vt:lpstr>
      <vt:lpstr>思源宋体</vt:lpstr>
      <vt:lpstr>思源宋体</vt:lpstr>
      <vt:lpstr>思源宋体</vt:lpstr>
      <vt:lpstr>Calibri</vt:lpstr>
      <vt:lpstr>微软雅黑</vt:lpstr>
      <vt:lpstr>Arial Unicode MS</vt:lpstr>
      <vt:lpstr>等线</vt:lpstr>
      <vt:lpstr>MingLiU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雅思口语教学计划</dc:title>
  <dc:creator>Kimi</dc:creator>
  <dc:subject>雅思口语教学计划</dc:subject>
  <cp:lastModifiedBy>任欢</cp:lastModifiedBy>
  <cp:revision>5</cp:revision>
  <dcterms:created xsi:type="dcterms:W3CDTF">2026-02-03T01:12:00Z</dcterms:created>
  <dcterms:modified xsi:type="dcterms:W3CDTF">2026-02-03T01:48:54Z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{"Label":"雅思口语教学计划","ContentProducer":"001191110108MACG2KBH8F10000","ProduceID":"19c1d9bf-ea62-8ff2-8000-0000becc912c","ReservedCode1":"","ContentPropagator":"001191110108MACG2KBH8F20000","PropagateID":"19c1d9bf-ea62-8ff2-8000-0000becc912c","ReservedCode2":""}</vt:lpwstr>
  </property>
  <property fmtid="{D5CDD505-2E9C-101B-9397-08002B2CF9AE}" pid="3" name="KSOProductBuildVer">
    <vt:lpwstr>2052-12.1.0.24657</vt:lpwstr>
  </property>
  <property fmtid="{D5CDD505-2E9C-101B-9397-08002B2CF9AE}" pid="4" name="ICV">
    <vt:lpwstr>6A2520808EA9407CAF4612424D5E18C3_12</vt:lpwstr>
  </property>
</Properties>
</file>